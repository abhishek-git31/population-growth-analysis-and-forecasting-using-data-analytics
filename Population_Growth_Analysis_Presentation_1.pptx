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notesSlides/notesSlide7.xml" ContentType="application/vnd.openxmlformats-officedocument.presentationml.notesSlide+xml"/>
  <Override PartName="/ppt/charts/chart2.xml" ContentType="application/vnd.openxmlformats-officedocument.drawingml.chart+xml"/>
  <Override PartName="/ppt/notesSlides/notesSlide8.xml" ContentType="application/vnd.openxmlformats-officedocument.presentationml.notesSlide+xml"/>
  <Override PartName="/ppt/charts/chart3.xml" ContentType="application/vnd.openxmlformats-officedocument.drawingml.chart+xml"/>
  <Override PartName="/ppt/charts/chart4.xml" ContentType="application/vnd.openxmlformats-officedocument.drawingml.chart+xml"/>
  <Override PartName="/ppt/notesSlides/notesSlide9.xml" ContentType="application/vnd.openxmlformats-officedocument.presentationml.notesSlide+xml"/>
  <Override PartName="/ppt/charts/chart5.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6.xml" ContentType="application/vnd.openxmlformats-officedocument.drawingml.chart+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rts/chart7.xml" ContentType="application/vnd.openxmlformats-officedocument.drawingml.chart+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3" d="100"/>
          <a:sy n="103" d="100"/>
        </p:scale>
        <p:origin x="200" y="6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barChart>
        <c:barDir val="bar"/>
        <c:grouping val="clustered"/>
        <c:varyColors val="0"/>
        <c:ser>
          <c:idx val="0"/>
          <c:order val="0"/>
          <c:tx>
            <c:strRef>
              <c:f>Sheet1!$B$1</c:f>
              <c:strCache>
                <c:ptCount val="1"/>
                <c:pt idx="0">
                  <c:v>Population (Billions)</c:v>
                </c:pt>
              </c:strCache>
            </c:strRef>
          </c:tx>
          <c:spPr>
            <a:solidFill>
              <a:srgbClr val="42637E"/>
            </a:solidFill>
            <a:effectLst/>
          </c:spPr>
          <c:invertIfNegative val="0"/>
          <c:dLbls>
            <c:numFmt formatCode="0.00" sourceLinked="0"/>
            <c:spPr>
              <a:noFill/>
              <a:ln>
                <a:noFill/>
              </a:ln>
              <a:effectLst/>
            </c:spPr>
            <c:txPr>
              <a:bodyPr/>
              <a:lstStyle/>
              <a:p>
                <a:pPr>
                  <a:defRPr sz="900" b="0" i="0" u="none" strike="noStrike">
                    <a:solidFill>
                      <a:srgbClr val="1E293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Sheet1!$A$2:$A$11</c:f>
              <c:strCache>
                <c:ptCount val="10"/>
                <c:pt idx="0">
                  <c:v>Ethiopia</c:v>
                </c:pt>
                <c:pt idx="1">
                  <c:v>Russian Federation</c:v>
                </c:pt>
                <c:pt idx="2">
                  <c:v>Bangladesh</c:v>
                </c:pt>
                <c:pt idx="3">
                  <c:v>Brazil</c:v>
                </c:pt>
                <c:pt idx="4">
                  <c:v>Nigeria</c:v>
                </c:pt>
                <c:pt idx="5">
                  <c:v>Pakistan</c:v>
                </c:pt>
                <c:pt idx="6">
                  <c:v>Indonesia</c:v>
                </c:pt>
                <c:pt idx="7">
                  <c:v>United States</c:v>
                </c:pt>
                <c:pt idx="8">
                  <c:v>China</c:v>
                </c:pt>
                <c:pt idx="9">
                  <c:v>India</c:v>
                </c:pt>
              </c:strCache>
            </c:strRef>
          </c:cat>
          <c:val>
            <c:numRef>
              <c:f>Sheet1!$B$2:$B$11</c:f>
              <c:numCache>
                <c:formatCode>General</c:formatCode>
                <c:ptCount val="10"/>
                <c:pt idx="0">
                  <c:v>0.13205976699999999</c:v>
                </c:pt>
                <c:pt idx="1">
                  <c:v>0.14353385099999999</c:v>
                </c:pt>
                <c:pt idx="2">
                  <c:v>0.173562364</c:v>
                </c:pt>
                <c:pt idx="3">
                  <c:v>0.211998573</c:v>
                </c:pt>
                <c:pt idx="4">
                  <c:v>0.232679478</c:v>
                </c:pt>
                <c:pt idx="5">
                  <c:v>0.25126916399999999</c:v>
                </c:pt>
                <c:pt idx="6">
                  <c:v>0.28348793100000003</c:v>
                </c:pt>
                <c:pt idx="7">
                  <c:v>0.340110988</c:v>
                </c:pt>
                <c:pt idx="8">
                  <c:v>1.4089750000000001</c:v>
                </c:pt>
                <c:pt idx="9">
                  <c:v>1.450935791</c:v>
                </c:pt>
              </c:numCache>
            </c:numRef>
          </c:val>
          <c:extLst>
            <c:ext xmlns:c16="http://schemas.microsoft.com/office/drawing/2014/chart" uri="{C3380CC4-5D6E-409C-BE32-E72D297353CC}">
              <c16:uniqueId val="{00000000-1349-954A-8551-01E5383AB36C}"/>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71808E"/>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71808E"/>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pieChart>
        <c:varyColors val="1"/>
        <c:ser>
          <c:idx val="0"/>
          <c:order val="0"/>
          <c:tx>
            <c:strRef>
              <c:f>Sheet1!$B$1</c:f>
              <c:strCache>
                <c:ptCount val="1"/>
                <c:pt idx="0">
                  <c:v>Share</c:v>
                </c:pt>
              </c:strCache>
            </c:strRef>
          </c:tx>
          <c:spPr>
            <a:solidFill>
              <a:schemeClr val="accent1"/>
            </a:solidFill>
            <a:ln w="9525" cap="flat">
              <a:solidFill>
                <a:srgbClr val="F9F9F9"/>
              </a:solidFill>
              <a:prstDash val="solid"/>
              <a:round/>
            </a:ln>
            <a:effectLst/>
          </c:spPr>
          <c:dPt>
            <c:idx val="0"/>
            <c:bubble3D val="0"/>
            <c:spPr>
              <a:solidFill>
                <a:srgbClr val="42637E"/>
              </a:solidFill>
              <a:effectLst/>
            </c:spPr>
            <c:extLst>
              <c:ext xmlns:c16="http://schemas.microsoft.com/office/drawing/2014/chart" uri="{C3380CC4-5D6E-409C-BE32-E72D297353CC}">
                <c16:uniqueId val="{00000001-C5BC-C243-A4C6-3C3226E3D9AF}"/>
              </c:ext>
            </c:extLst>
          </c:dPt>
          <c:dPt>
            <c:idx val="1"/>
            <c:bubble3D val="0"/>
            <c:spPr>
              <a:solidFill>
                <a:srgbClr val="55606B"/>
              </a:solidFill>
              <a:effectLst/>
            </c:spPr>
            <c:extLst>
              <c:ext xmlns:c16="http://schemas.microsoft.com/office/drawing/2014/chart" uri="{C3380CC4-5D6E-409C-BE32-E72D297353CC}">
                <c16:uniqueId val="{00000003-C5BC-C243-A4C6-3C3226E3D9AF}"/>
              </c:ext>
            </c:extLst>
          </c:dPt>
          <c:dPt>
            <c:idx val="2"/>
            <c:bubble3D val="0"/>
            <c:spPr>
              <a:solidFill>
                <a:srgbClr val="B08D57"/>
              </a:solidFill>
              <a:effectLst/>
            </c:spPr>
            <c:extLst>
              <c:ext xmlns:c16="http://schemas.microsoft.com/office/drawing/2014/chart" uri="{C3380CC4-5D6E-409C-BE32-E72D297353CC}">
                <c16:uniqueId val="{00000005-C5BC-C243-A4C6-3C3226E3D9AF}"/>
              </c:ext>
            </c:extLst>
          </c:dPt>
          <c:dPt>
            <c:idx val="3"/>
            <c:bubble3D val="0"/>
            <c:spPr>
              <a:solidFill>
                <a:srgbClr val="8C97A3"/>
              </a:solidFill>
              <a:effectLst/>
            </c:spPr>
            <c:extLst>
              <c:ext xmlns:c16="http://schemas.microsoft.com/office/drawing/2014/chart" uri="{C3380CC4-5D6E-409C-BE32-E72D297353CC}">
                <c16:uniqueId val="{00000007-C5BC-C243-A4C6-3C3226E3D9AF}"/>
              </c:ext>
            </c:extLst>
          </c:dPt>
          <c:dPt>
            <c:idx val="4"/>
            <c:bubble3D val="0"/>
            <c:spPr>
              <a:solidFill>
                <a:srgbClr val="AEB6BF"/>
              </a:solidFill>
              <a:effectLst/>
            </c:spPr>
            <c:extLst>
              <c:ext xmlns:c16="http://schemas.microsoft.com/office/drawing/2014/chart" uri="{C3380CC4-5D6E-409C-BE32-E72D297353CC}">
                <c16:uniqueId val="{00000009-C5BC-C243-A4C6-3C3226E3D9AF}"/>
              </c:ext>
            </c:extLst>
          </c:dPt>
          <c:dPt>
            <c:idx val="5"/>
            <c:bubble3D val="0"/>
            <c:spPr>
              <a:solidFill>
                <a:srgbClr val="DADEE2"/>
              </a:solidFill>
              <a:effectLst/>
            </c:spPr>
            <c:extLst>
              <c:ext xmlns:c16="http://schemas.microsoft.com/office/drawing/2014/chart" uri="{C3380CC4-5D6E-409C-BE32-E72D297353CC}">
                <c16:uniqueId val="{0000000B-C5BC-C243-A4C6-3C3226E3D9AF}"/>
              </c:ext>
            </c:extLst>
          </c:dPt>
          <c:dLbls>
            <c:dLbl>
              <c:idx val="0"/>
              <c:numFmt formatCode="0.0%" sourceLinked="0"/>
              <c:spPr/>
              <c:txPr>
                <a:bodyPr/>
                <a:lstStyle/>
                <a:p>
                  <a:pPr>
                    <a:defRPr sz="110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C5BC-C243-A4C6-3C3226E3D9AF}"/>
                </c:ext>
              </c:extLst>
            </c:dLbl>
            <c:dLbl>
              <c:idx val="1"/>
              <c:numFmt formatCode="0.0%" sourceLinked="0"/>
              <c:spPr/>
              <c:txPr>
                <a:bodyPr/>
                <a:lstStyle/>
                <a:p>
                  <a:pPr>
                    <a:defRPr sz="110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C5BC-C243-A4C6-3C3226E3D9AF}"/>
                </c:ext>
              </c:extLst>
            </c:dLbl>
            <c:dLbl>
              <c:idx val="2"/>
              <c:numFmt formatCode="0.0%" sourceLinked="0"/>
              <c:spPr/>
              <c:txPr>
                <a:bodyPr/>
                <a:lstStyle/>
                <a:p>
                  <a:pPr>
                    <a:defRPr sz="110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5-C5BC-C243-A4C6-3C3226E3D9AF}"/>
                </c:ext>
              </c:extLst>
            </c:dLbl>
            <c:dLbl>
              <c:idx val="3"/>
              <c:numFmt formatCode="0.0%" sourceLinked="0"/>
              <c:spPr/>
              <c:txPr>
                <a:bodyPr/>
                <a:lstStyle/>
                <a:p>
                  <a:pPr>
                    <a:defRPr sz="110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7-C5BC-C243-A4C6-3C3226E3D9AF}"/>
                </c:ext>
              </c:extLst>
            </c:dLbl>
            <c:dLbl>
              <c:idx val="4"/>
              <c:numFmt formatCode="0.0%" sourceLinked="0"/>
              <c:spPr/>
              <c:txPr>
                <a:bodyPr/>
                <a:lstStyle/>
                <a:p>
                  <a:pPr>
                    <a:defRPr sz="110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9-C5BC-C243-A4C6-3C3226E3D9AF}"/>
                </c:ext>
              </c:extLst>
            </c:dLbl>
            <c:dLbl>
              <c:idx val="5"/>
              <c:numFmt formatCode="0.0%" sourceLinked="0"/>
              <c:spPr/>
              <c:txPr>
                <a:bodyPr/>
                <a:lstStyle/>
                <a:p>
                  <a:pPr>
                    <a:defRPr sz="110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B-C5BC-C243-A4C6-3C3226E3D9AF}"/>
                </c:ext>
              </c:extLst>
            </c:dLbl>
            <c:numFmt formatCode="0.0%" sourceLinked="0"/>
            <c:spPr>
              <a:noFill/>
              <a:ln>
                <a:noFill/>
              </a:ln>
              <a:effectLst/>
            </c:spPr>
            <c:txPr>
              <a:bodyPr/>
              <a:lstStyle/>
              <a:p>
                <a:pPr>
                  <a:defRPr sz="1800" b="0" i="0" u="none" strike="noStrike">
                    <a:solidFill>
                      <a:srgbClr val="000000"/>
                    </a:solidFill>
                    <a:latin typeface="Arial"/>
                  </a:defRPr>
                </a:pPr>
                <a:endParaRPr lang="en-US"/>
              </a:p>
            </c:txPr>
            <c:dLblPos val="ctr"/>
            <c:showLegendKey val="0"/>
            <c:showVal val="0"/>
            <c:showCatName val="1"/>
            <c:showSerName val="0"/>
            <c:showPercent val="1"/>
            <c:showBubbleSize val="0"/>
            <c:showLeaderLines val="0"/>
            <c:extLst>
              <c:ext xmlns:c15="http://schemas.microsoft.com/office/drawing/2012/chart" uri="{CE6537A1-D6FC-4f65-9D91-7224C49458BB}"/>
            </c:extLst>
          </c:dLbls>
          <c:cat>
            <c:strRef>
              <c:f>Sheet1!$A$2:$A$7</c:f>
              <c:strCache>
                <c:ptCount val="6"/>
                <c:pt idx="0">
                  <c:v>India</c:v>
                </c:pt>
                <c:pt idx="1">
                  <c:v>China</c:v>
                </c:pt>
                <c:pt idx="2">
                  <c:v>United States</c:v>
                </c:pt>
                <c:pt idx="3">
                  <c:v>Indonesia</c:v>
                </c:pt>
                <c:pt idx="4">
                  <c:v>Pakistan</c:v>
                </c:pt>
                <c:pt idx="5">
                  <c:v>Rest of World</c:v>
                </c:pt>
              </c:strCache>
            </c:strRef>
          </c:cat>
          <c:val>
            <c:numRef>
              <c:f>Sheet1!$B$2:$B$7</c:f>
              <c:numCache>
                <c:formatCode>General</c:formatCode>
                <c:ptCount val="6"/>
                <c:pt idx="0">
                  <c:v>18.5</c:v>
                </c:pt>
                <c:pt idx="1">
                  <c:v>18</c:v>
                </c:pt>
                <c:pt idx="2">
                  <c:v>4.3</c:v>
                </c:pt>
                <c:pt idx="3">
                  <c:v>3.6</c:v>
                </c:pt>
                <c:pt idx="4">
                  <c:v>3.2</c:v>
                </c:pt>
                <c:pt idx="5">
                  <c:v>52.4</c:v>
                </c:pt>
              </c:numCache>
            </c:numRef>
          </c:val>
          <c:extLst>
            <c:ext xmlns:c16="http://schemas.microsoft.com/office/drawing/2014/chart" uri="{C3380CC4-5D6E-409C-BE32-E72D297353CC}">
              <c16:uniqueId val="{0000000C-C5BC-C243-A4C6-3C3226E3D9AF}"/>
            </c:ext>
          </c:extLst>
        </c:ser>
        <c:dLbls>
          <c:showLegendKey val="0"/>
          <c:showVal val="0"/>
          <c:showCatName val="0"/>
          <c:showSerName val="0"/>
          <c:showPercent val="0"/>
          <c:showBubbleSize val="0"/>
          <c:showLeaderLines val="0"/>
        </c:dLbls>
        <c:firstSliceAng val="0"/>
      </c:pieChart>
      <c:spPr>
        <a:noFill/>
        <a:ln>
          <a:noFill/>
        </a:ln>
        <a:effectLst/>
      </c:spPr>
    </c:plotArea>
    <c:legend>
      <c:legendPos val="r"/>
      <c:overlay val="0"/>
      <c:txPr>
        <a:bodyPr/>
        <a:lstStyle/>
        <a:p>
          <a:pPr>
            <a:defRPr sz="1200">
              <a:solidFill>
                <a:srgbClr val="33414F"/>
              </a:solidFill>
            </a:defRPr>
          </a:pPr>
          <a:endParaRPr lang="en-US"/>
        </a:p>
      </c:txPr>
    </c:legend>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barChart>
        <c:barDir val="bar"/>
        <c:grouping val="clustered"/>
        <c:varyColors val="0"/>
        <c:ser>
          <c:idx val="0"/>
          <c:order val="0"/>
          <c:tx>
            <c:strRef>
              <c:f>Sheet1!$B$1</c:f>
              <c:strCache>
                <c:ptCount val="1"/>
                <c:pt idx="0">
                  <c:v>Avg Growth %</c:v>
                </c:pt>
              </c:strCache>
            </c:strRef>
          </c:tx>
          <c:spPr>
            <a:solidFill>
              <a:srgbClr val="B08D57"/>
            </a:solidFill>
            <a:effectLst/>
          </c:spPr>
          <c:invertIfNegative val="0"/>
          <c:dLbls>
            <c:numFmt formatCode="0.00" sourceLinked="0"/>
            <c:spPr>
              <a:noFill/>
              <a:ln>
                <a:noFill/>
              </a:ln>
              <a:effectLst/>
            </c:spPr>
            <c:txPr>
              <a:bodyPr/>
              <a:lstStyle/>
              <a:p>
                <a:pPr>
                  <a:defRPr sz="900" b="0" i="0" u="none" strike="noStrike">
                    <a:solidFill>
                      <a:srgbClr val="1E293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Sheet1!$A$2:$A$11</c:f>
              <c:strCache>
                <c:ptCount val="10"/>
                <c:pt idx="0">
                  <c:v>Cayman Islands</c:v>
                </c:pt>
                <c:pt idx="1">
                  <c:v>Andorra</c:v>
                </c:pt>
                <c:pt idx="2">
                  <c:v>Bahrain</c:v>
                </c:pt>
                <c:pt idx="3">
                  <c:v>Oman</c:v>
                </c:pt>
                <c:pt idx="4">
                  <c:v>Jordan</c:v>
                </c:pt>
                <c:pt idx="5">
                  <c:v>Djibouti</c:v>
                </c:pt>
                <c:pt idx="6">
                  <c:v>Saudi Arabia</c:v>
                </c:pt>
                <c:pt idx="7">
                  <c:v>Kuwait</c:v>
                </c:pt>
                <c:pt idx="8">
                  <c:v>Qatar</c:v>
                </c:pt>
                <c:pt idx="9">
                  <c:v>United Arab Emirates</c:v>
                </c:pt>
              </c:strCache>
            </c:strRef>
          </c:cat>
          <c:val>
            <c:numRef>
              <c:f>Sheet1!$B$2:$B$11</c:f>
              <c:numCache>
                <c:formatCode>General</c:formatCode>
                <c:ptCount val="10"/>
                <c:pt idx="0">
                  <c:v>3.42</c:v>
                </c:pt>
                <c:pt idx="1">
                  <c:v>3.42</c:v>
                </c:pt>
                <c:pt idx="2">
                  <c:v>3.57</c:v>
                </c:pt>
                <c:pt idx="3">
                  <c:v>3.63</c:v>
                </c:pt>
                <c:pt idx="4">
                  <c:v>4.1100000000000003</c:v>
                </c:pt>
                <c:pt idx="5">
                  <c:v>4.1399999999999997</c:v>
                </c:pt>
                <c:pt idx="6">
                  <c:v>4.22</c:v>
                </c:pt>
                <c:pt idx="7">
                  <c:v>4.51</c:v>
                </c:pt>
                <c:pt idx="8">
                  <c:v>7.09</c:v>
                </c:pt>
                <c:pt idx="9">
                  <c:v>7.13</c:v>
                </c:pt>
              </c:numCache>
            </c:numRef>
          </c:val>
          <c:extLst>
            <c:ext xmlns:c16="http://schemas.microsoft.com/office/drawing/2014/chart" uri="{C3380CC4-5D6E-409C-BE32-E72D297353CC}">
              <c16:uniqueId val="{00000000-F77A-D341-94A0-C2C617698F48}"/>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71808E"/>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71808E"/>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barChart>
        <c:barDir val="bar"/>
        <c:grouping val="clustered"/>
        <c:varyColors val="0"/>
        <c:ser>
          <c:idx val="0"/>
          <c:order val="0"/>
          <c:tx>
            <c:strRef>
              <c:f>Sheet1!$B$1</c:f>
              <c:strCache>
                <c:ptCount val="1"/>
                <c:pt idx="0">
                  <c:v>Avg Growth %</c:v>
                </c:pt>
              </c:strCache>
            </c:strRef>
          </c:tx>
          <c:spPr>
            <a:solidFill>
              <a:srgbClr val="42637E"/>
            </a:solidFill>
            <a:effectLst/>
          </c:spPr>
          <c:invertIfNegative val="0"/>
          <c:dLbls>
            <c:numFmt formatCode="0.00" sourceLinked="0"/>
            <c:spPr>
              <a:noFill/>
              <a:ln>
                <a:noFill/>
              </a:ln>
              <a:effectLst/>
            </c:spPr>
            <c:txPr>
              <a:bodyPr/>
              <a:lstStyle/>
              <a:p>
                <a:pPr>
                  <a:defRPr sz="900" b="0" i="0" u="none" strike="noStrike">
                    <a:solidFill>
                      <a:srgbClr val="1E293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Europe</c:v>
                </c:pt>
                <c:pt idx="1">
                  <c:v>North America</c:v>
                </c:pt>
                <c:pt idx="2">
                  <c:v>South America</c:v>
                </c:pt>
                <c:pt idx="3">
                  <c:v>Oceania</c:v>
                </c:pt>
                <c:pt idx="4">
                  <c:v>Asia</c:v>
                </c:pt>
                <c:pt idx="5">
                  <c:v>Africa</c:v>
                </c:pt>
              </c:strCache>
            </c:strRef>
          </c:cat>
          <c:val>
            <c:numRef>
              <c:f>Sheet1!$B$2:$B$7</c:f>
              <c:numCache>
                <c:formatCode>General</c:formatCode>
                <c:ptCount val="6"/>
                <c:pt idx="0">
                  <c:v>0.52</c:v>
                </c:pt>
                <c:pt idx="1">
                  <c:v>1.46</c:v>
                </c:pt>
                <c:pt idx="2">
                  <c:v>1.54</c:v>
                </c:pt>
                <c:pt idx="3">
                  <c:v>1.63</c:v>
                </c:pt>
                <c:pt idx="4">
                  <c:v>2.33</c:v>
                </c:pt>
                <c:pt idx="5">
                  <c:v>2.46</c:v>
                </c:pt>
              </c:numCache>
            </c:numRef>
          </c:val>
          <c:extLst>
            <c:ext xmlns:c16="http://schemas.microsoft.com/office/drawing/2014/chart" uri="{C3380CC4-5D6E-409C-BE32-E72D297353CC}">
              <c16:uniqueId val="{00000000-06AA-0945-895F-E0D42BA9DF1F}"/>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71808E"/>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71808E"/>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barChart>
        <c:barDir val="bar"/>
        <c:grouping val="clustered"/>
        <c:varyColors val="0"/>
        <c:ser>
          <c:idx val="0"/>
          <c:order val="0"/>
          <c:tx>
            <c:strRef>
              <c:f>Sheet1!$B$1</c:f>
              <c:strCache>
                <c:ptCount val="1"/>
                <c:pt idx="0">
                  <c:v>Avg Growth % (negative years)</c:v>
                </c:pt>
              </c:strCache>
            </c:strRef>
          </c:tx>
          <c:spPr>
            <a:solidFill>
              <a:srgbClr val="A8585B"/>
            </a:solidFill>
            <a:effectLst/>
          </c:spPr>
          <c:invertIfNegative val="0"/>
          <c:dLbls>
            <c:numFmt formatCode="0.0" sourceLinked="0"/>
            <c:spPr>
              <a:noFill/>
              <a:ln>
                <a:noFill/>
              </a:ln>
              <a:effectLst/>
            </c:spPr>
            <c:txPr>
              <a:bodyPr/>
              <a:lstStyle/>
              <a:p>
                <a:pPr>
                  <a:defRPr sz="900" b="0" i="0" u="none" strike="noStrike">
                    <a:solidFill>
                      <a:srgbClr val="1E293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Sheet1!$A$2:$A$16</c:f>
              <c:strCache>
                <c:ptCount val="15"/>
                <c:pt idx="0">
                  <c:v>Trinidad and Tobago</c:v>
                </c:pt>
                <c:pt idx="1">
                  <c:v>Andorra</c:v>
                </c:pt>
                <c:pt idx="2">
                  <c:v>Marshall Islands</c:v>
                </c:pt>
                <c:pt idx="3">
                  <c:v>Bhutan</c:v>
                </c:pt>
                <c:pt idx="4">
                  <c:v>Lebanon</c:v>
                </c:pt>
                <c:pt idx="5">
                  <c:v>South Sudan</c:v>
                </c:pt>
                <c:pt idx="6">
                  <c:v>British Virgin Islands</c:v>
                </c:pt>
                <c:pt idx="7">
                  <c:v>Syrian Arab Republic</c:v>
                </c:pt>
                <c:pt idx="8">
                  <c:v>Afghanistan</c:v>
                </c:pt>
                <c:pt idx="9">
                  <c:v>Cambodia</c:v>
                </c:pt>
                <c:pt idx="10">
                  <c:v>Qatar</c:v>
                </c:pt>
                <c:pt idx="11">
                  <c:v>Eritrea</c:v>
                </c:pt>
                <c:pt idx="12">
                  <c:v>Liberia</c:v>
                </c:pt>
                <c:pt idx="13">
                  <c:v>Kuwait</c:v>
                </c:pt>
                <c:pt idx="14">
                  <c:v>Rwanda</c:v>
                </c:pt>
              </c:strCache>
            </c:strRef>
          </c:cat>
          <c:val>
            <c:numRef>
              <c:f>Sheet1!$B$2:$B$16</c:f>
              <c:numCache>
                <c:formatCode>General</c:formatCode>
                <c:ptCount val="15"/>
                <c:pt idx="0">
                  <c:v>-2</c:v>
                </c:pt>
                <c:pt idx="1">
                  <c:v>-2</c:v>
                </c:pt>
                <c:pt idx="2">
                  <c:v>-2</c:v>
                </c:pt>
                <c:pt idx="3">
                  <c:v>-2.2000000000000002</c:v>
                </c:pt>
                <c:pt idx="4">
                  <c:v>-2.6</c:v>
                </c:pt>
                <c:pt idx="5">
                  <c:v>-2.6</c:v>
                </c:pt>
                <c:pt idx="6">
                  <c:v>-2.7</c:v>
                </c:pt>
                <c:pt idx="7">
                  <c:v>-3.5</c:v>
                </c:pt>
                <c:pt idx="8">
                  <c:v>-3.6</c:v>
                </c:pt>
                <c:pt idx="9">
                  <c:v>-4.8</c:v>
                </c:pt>
                <c:pt idx="10">
                  <c:v>-5.2</c:v>
                </c:pt>
                <c:pt idx="11">
                  <c:v>-6</c:v>
                </c:pt>
                <c:pt idx="12">
                  <c:v>-8</c:v>
                </c:pt>
                <c:pt idx="13">
                  <c:v>-9.3000000000000007</c:v>
                </c:pt>
                <c:pt idx="14">
                  <c:v>-15.7</c:v>
                </c:pt>
              </c:numCache>
            </c:numRef>
          </c:val>
          <c:extLst>
            <c:ext xmlns:c16="http://schemas.microsoft.com/office/drawing/2014/chart" uri="{C3380CC4-5D6E-409C-BE32-E72D297353CC}">
              <c16:uniqueId val="{00000000-5552-4A44-AA0E-270751BFCF3B}"/>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low"/>
        <c:spPr>
          <a:ln w="12700" cap="flat">
            <a:solidFill>
              <a:srgbClr val="888888"/>
            </a:solidFill>
            <a:prstDash val="solid"/>
            <a:round/>
          </a:ln>
        </c:spPr>
        <c:txPr>
          <a:bodyPr/>
          <a:lstStyle/>
          <a:p>
            <a:pPr>
              <a:defRPr sz="1050" b="0" i="0" u="none" strike="noStrike">
                <a:solidFill>
                  <a:srgbClr val="71808E"/>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71808E"/>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barChart>
        <c:barDir val="bar"/>
        <c:grouping val="clustered"/>
        <c:varyColors val="0"/>
        <c:ser>
          <c:idx val="0"/>
          <c:order val="0"/>
          <c:tx>
            <c:strRef>
              <c:f>Sheet1!$B$1</c:f>
              <c:strCache>
                <c:ptCount val="1"/>
                <c:pt idx="0">
                  <c:v>Years to Double</c:v>
                </c:pt>
              </c:strCache>
            </c:strRef>
          </c:tx>
          <c:spPr>
            <a:solidFill>
              <a:srgbClr val="42637E"/>
            </a:solidFill>
            <a:effectLst/>
          </c:spPr>
          <c:invertIfNegative val="0"/>
          <c:dLbls>
            <c:numFmt formatCode="0.0" sourceLinked="0"/>
            <c:spPr>
              <a:noFill/>
              <a:ln>
                <a:noFill/>
              </a:ln>
              <a:effectLst/>
            </c:spPr>
            <c:txPr>
              <a:bodyPr/>
              <a:lstStyle/>
              <a:p>
                <a:pPr>
                  <a:defRPr sz="950" b="0" i="0" u="none" strike="noStrike">
                    <a:solidFill>
                      <a:srgbClr val="1E293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Sheet1!$A$2:$A$11</c:f>
              <c:strCache>
                <c:ptCount val="10"/>
                <c:pt idx="0">
                  <c:v>Russian Federation</c:v>
                </c:pt>
                <c:pt idx="1">
                  <c:v>United States</c:v>
                </c:pt>
                <c:pt idx="2">
                  <c:v>China</c:v>
                </c:pt>
                <c:pt idx="3">
                  <c:v>Brazil</c:v>
                </c:pt>
                <c:pt idx="4">
                  <c:v>Indonesia</c:v>
                </c:pt>
                <c:pt idx="5">
                  <c:v>India</c:v>
                </c:pt>
                <c:pt idx="6">
                  <c:v>Bangladesh</c:v>
                </c:pt>
                <c:pt idx="7">
                  <c:v>Nigeria</c:v>
                </c:pt>
                <c:pt idx="8">
                  <c:v>Pakistan</c:v>
                </c:pt>
                <c:pt idx="9">
                  <c:v>Ethiopia</c:v>
                </c:pt>
              </c:strCache>
            </c:strRef>
          </c:cat>
          <c:val>
            <c:numRef>
              <c:f>Sheet1!$B$2:$B$11</c:f>
              <c:numCache>
                <c:formatCode>General</c:formatCode>
                <c:ptCount val="10"/>
                <c:pt idx="0">
                  <c:v>250.69</c:v>
                </c:pt>
                <c:pt idx="1">
                  <c:v>71.53</c:v>
                </c:pt>
                <c:pt idx="2">
                  <c:v>60.33</c:v>
                </c:pt>
                <c:pt idx="3">
                  <c:v>41.92</c:v>
                </c:pt>
                <c:pt idx="4">
                  <c:v>38.6</c:v>
                </c:pt>
                <c:pt idx="5">
                  <c:v>37.450000000000003</c:v>
                </c:pt>
                <c:pt idx="6">
                  <c:v>37.24</c:v>
                </c:pt>
                <c:pt idx="7">
                  <c:v>27.36</c:v>
                </c:pt>
                <c:pt idx="8">
                  <c:v>26.33</c:v>
                </c:pt>
                <c:pt idx="9">
                  <c:v>24.62</c:v>
                </c:pt>
              </c:numCache>
            </c:numRef>
          </c:val>
          <c:extLst>
            <c:ext xmlns:c16="http://schemas.microsoft.com/office/drawing/2014/chart" uri="{C3380CC4-5D6E-409C-BE32-E72D297353CC}">
              <c16:uniqueId val="{00000000-9B99-BA42-9EB4-14B867E1A18D}"/>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71808E"/>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71808E"/>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lineChart>
        <c:grouping val="standard"/>
        <c:varyColors val="0"/>
        <c:ser>
          <c:idx val="0"/>
          <c:order val="0"/>
          <c:tx>
            <c:strRef>
              <c:f>Sheet1!$B$1</c:f>
              <c:strCache>
                <c:ptCount val="1"/>
                <c:pt idx="0">
                  <c:v>Forecast (Billions)</c:v>
                </c:pt>
              </c:strCache>
            </c:strRef>
          </c:tx>
          <c:spPr>
            <a:ln w="38100" cap="flat">
              <a:solidFill>
                <a:srgbClr val="A8585B"/>
              </a:solidFill>
              <a:prstDash val="solid"/>
              <a:round/>
            </a:ln>
            <a:effectLst/>
          </c:spPr>
          <c:marker>
            <c:symbol val="circle"/>
            <c:size val="6"/>
            <c:spPr>
              <a:solidFill>
                <a:srgbClr val="A8585B"/>
              </a:solidFill>
              <a:ln w="9525" cap="flat">
                <a:solidFill>
                  <a:srgbClr val="A8585B"/>
                </a:solidFill>
                <a:prstDash val="solid"/>
                <a:round/>
              </a:ln>
              <a:effectLst/>
            </c:spPr>
          </c:marker>
          <c:dLbls>
            <c:numFmt formatCode="0.00" sourceLinked="0"/>
            <c:spPr>
              <a:noFill/>
              <a:ln>
                <a:noFill/>
              </a:ln>
              <a:effectLst/>
            </c:spPr>
            <c:txPr>
              <a:bodyPr/>
              <a:lstStyle/>
              <a:p>
                <a:pPr>
                  <a:defRPr sz="950" b="0" i="0" u="none" strike="noStrike">
                    <a:solidFill>
                      <a:srgbClr val="1E293B"/>
                    </a:solidFill>
                    <a:latin typeface="Arial"/>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Sheet1!$A$2:$A$11</c:f>
              <c:strCache>
                <c:ptCount val="10"/>
                <c:pt idx="0">
                  <c:v>2025</c:v>
                </c:pt>
                <c:pt idx="1">
                  <c:v>2026</c:v>
                </c:pt>
                <c:pt idx="2">
                  <c:v>2027</c:v>
                </c:pt>
                <c:pt idx="3">
                  <c:v>2028</c:v>
                </c:pt>
                <c:pt idx="4">
                  <c:v>2029</c:v>
                </c:pt>
                <c:pt idx="5">
                  <c:v>2030</c:v>
                </c:pt>
                <c:pt idx="6">
                  <c:v>2031</c:v>
                </c:pt>
                <c:pt idx="7">
                  <c:v>2032</c:v>
                </c:pt>
                <c:pt idx="8">
                  <c:v>2033</c:v>
                </c:pt>
                <c:pt idx="9">
                  <c:v>2034</c:v>
                </c:pt>
              </c:strCache>
            </c:strRef>
          </c:cat>
          <c:val>
            <c:numRef>
              <c:f>Sheet1!$B$2:$B$11</c:f>
              <c:numCache>
                <c:formatCode>General</c:formatCode>
                <c:ptCount val="10"/>
                <c:pt idx="0">
                  <c:v>1.48</c:v>
                </c:pt>
                <c:pt idx="1">
                  <c:v>1.5</c:v>
                </c:pt>
                <c:pt idx="2">
                  <c:v>1.52</c:v>
                </c:pt>
                <c:pt idx="3">
                  <c:v>1.53</c:v>
                </c:pt>
                <c:pt idx="4">
                  <c:v>1.55</c:v>
                </c:pt>
                <c:pt idx="5">
                  <c:v>1.57</c:v>
                </c:pt>
                <c:pt idx="6">
                  <c:v>1.58</c:v>
                </c:pt>
                <c:pt idx="7">
                  <c:v>1.6</c:v>
                </c:pt>
                <c:pt idx="8">
                  <c:v>1.62</c:v>
                </c:pt>
                <c:pt idx="9">
                  <c:v>1.63</c:v>
                </c:pt>
              </c:numCache>
            </c:numRef>
          </c:val>
          <c:smooth val="0"/>
          <c:extLst>
            <c:ext xmlns:c16="http://schemas.microsoft.com/office/drawing/2014/chart" uri="{C3380CC4-5D6E-409C-BE32-E72D297353CC}">
              <c16:uniqueId val="{00000000-5FB5-0747-916A-4DD8361E9595}"/>
            </c:ext>
          </c:extLst>
        </c:ser>
        <c:dLbls>
          <c:dLblPos val="t"/>
          <c:showLegendKey val="0"/>
          <c:showVal val="1"/>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71808E"/>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71808E"/>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487173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 audience. Introduce the project: a full data analytics study of global population growth from 1960-2024, covering cleaning, analysis, visualization, and forecasting. Mention team names and course. Keep this to about 30 seconds.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Quickly walk through the agenda so the audience knows what's coming: dataset, cleaning, methodology, key findings, advanced analysis, forecasting, and insights/challenges. About 20-30 seconds.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dataset: World Bank's Population, Total indicator (SP.POP.TOTL), 198 countries, 65 years (1960-2024), 12,870 country-year records after cleaning. Note it exceeds the project's minimum of 50 countries / 30 years by a wide margin. Mention it includes continent grouping which enables comparative analysis later.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four cleaning stages: (1) reshaped wide-format data into long format using pandas melt, (2) fixed numeric formatting and dropped missing values, (3) removed duplicates and standardized country names like USA -&gt; United States, (4) engineered new columns: Annual Change, Growth Rate %, Decade, Growth Category. End with the result: a clean 12,870-row dataset with zero missing values in core fields.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Briefly mention the Python toolchain: pandas for data wrangling, NumPy for numeric work, Matplotlib/Seaborn for charts, scikit-learn for the forecasting model. Point to the code snippet as a quick demonstration of the actual workflow -- the melt() reshape, the growth rate calculation, and the linear regression call. This satisfies the 'short demonstration of code' requirement.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India is now the world's most populous country at 1.45B, just ahead of China at 1.41B. Point out the steep drop-off after the top two -- the US is a distant third at 340M. Mention Nauru's 4,607 people in 1960 as the smallest population ever recorded in the dataset, and that the world total is 7.84 billion as of 2024.</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India and China together hold over a third of humanity. The top 5 countries combine for 47.6%, meaning the other 193 countries share roughly half the world's population. This sets up the later point about absolute vs relative growth.</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chart: the fastest-growing countries are small Gulf states (UAE, Qatar) driven by labor migration, not births. Right chart: by continent, Africa (2.46%) and Asia (2.33%) lead, while Europe (0.52%) trails far behind -- consistent with Europe's aging population story.</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Rwanda's chart reflects the 1994 genocide and its demographic aftermath; Kuwait and Liberia reflect war-driven population displacement. Contrast this with the highest-ever single year, Qatar 2007 (+24.23%), driven by a construction and energy worker boom, versus the lowest, Kuwait 1990 (-24.02%), tied to the Gulf War.</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used the IQR method to flag statistical outliers in growth rate. Two patterns emerge: Gulf-state migration booms (Qatar, UAE, Oman) and conflict-driven shocks (Kuwait, Rwanda, Ukraine). On the right, ranking by total population added since 1960, India leads with over a billion people added -- more than any other country -- while smaller economies like Ethiopia and Pakistan grew fastest in percentage terms.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Using the Rule of 70, we estimate how long each of the 10 most populous countries would take to double at their historical growth rate. Ethiopia, Pakistan, and Nigeria would double in roughly 25-27 years. Russia's near-zero growth implies a 250-year doubling time -- essentially a stable, non-growing population.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heatmap shows growth rate per year for the 15 most populous countries. Notice the long-run regimes rather than noise: Nigeria and Pakistan stay green (high growth) for decades; Germany and Japan visibly drift from green to orange/red over time; Russia's growth collapses into red after 1990, coinciding with the Soviet collapse.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trained a simple linear regression on India's 1960-2024 population and projected 10 years forward. The model forecasts growth from about 1.48 billion in 2025 to 1.63 billion in 2034. Be upfront about limitations: it assumes constant growth, ignores migration and policy changes, and can't anticipate shocks like pandemics or conflict -- explain why we still consider it a reasonable short-term estimate.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Summarize the six main takeaways: growth is slowing globally even as totals rise; India now leads in population; Africa has the highest regional growth rate; Europe has the lowest; volatility is concentrated in small or conflict-affected countries, not major economies; and absolute growth leaders (India, China) differ from relative growth leaders (Ethiopia, Pakistan).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honest about what was hard: reshaping the wide-format World Bank export took careful handling; tiny territories produced misleading percentage outliers; historical border/name changes (German reunification, USSR dissolution) created small data discontinuities; and a simple linear model can't capture real demographic transitions, which limits how far out we can forecast reliably.</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core message: the world keeps growing, but unevenly -- slowing in developed economies, accelerating proportionally in Africa and South Asia, with India now the world's most populous nation. Thank the audience and open the floor for questions.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chart" Target="../charts/chart4.xml"/></Relationships>
</file>

<file path=ppt/slides/_rels/slide9.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B08D57"/>
          </a:solidFill>
          <a:ln/>
        </p:spPr>
        <p:txBody>
          <a:bodyPr/>
          <a:lstStyle/>
          <a:p>
            <a:endParaRPr lang="en-US"/>
          </a:p>
        </p:txBody>
      </p:sp>
      <p:sp>
        <p:nvSpPr>
          <p:cNvPr id="3" name="Shape 1"/>
          <p:cNvSpPr/>
          <p:nvPr/>
        </p:nvSpPr>
        <p:spPr>
          <a:xfrm>
            <a:off x="0" y="6748272"/>
            <a:ext cx="12188952" cy="109728"/>
          </a:xfrm>
          <a:prstGeom prst="rect">
            <a:avLst/>
          </a:prstGeom>
          <a:solidFill>
            <a:srgbClr val="B08D57"/>
          </a:solidFill>
          <a:ln/>
        </p:spPr>
        <p:txBody>
          <a:bodyPr/>
          <a:lstStyle/>
          <a:p>
            <a:endParaRPr lang="en-US"/>
          </a:p>
        </p:txBody>
      </p:sp>
      <p:pic>
        <p:nvPicPr>
          <p:cNvPr id="4" name="Image 0" descr="/home/claude/assets/icon_globe_white.png"/>
          <p:cNvPicPr>
            <a:picLocks noChangeAspect="1"/>
          </p:cNvPicPr>
          <p:nvPr/>
        </p:nvPicPr>
        <p:blipFill>
          <a:blip r:embed="rId3"/>
          <a:stretch>
            <a:fillRect/>
          </a:stretch>
        </p:blipFill>
        <p:spPr>
          <a:xfrm>
            <a:off x="640080" y="594360"/>
            <a:ext cx="640080" cy="640080"/>
          </a:xfrm>
          <a:prstGeom prst="rect">
            <a:avLst/>
          </a:prstGeom>
        </p:spPr>
      </p:pic>
      <p:sp>
        <p:nvSpPr>
          <p:cNvPr id="5" name="Text 2"/>
          <p:cNvSpPr/>
          <p:nvPr/>
        </p:nvSpPr>
        <p:spPr>
          <a:xfrm>
            <a:off x="1417320" y="566928"/>
            <a:ext cx="5486400" cy="457200"/>
          </a:xfrm>
          <a:prstGeom prst="rect">
            <a:avLst/>
          </a:prstGeom>
          <a:noFill/>
          <a:ln/>
        </p:spPr>
        <p:txBody>
          <a:bodyPr wrap="square" rtlCol="0" anchor="ctr"/>
          <a:lstStyle/>
          <a:p>
            <a:pPr marL="0" indent="0">
              <a:buNone/>
            </a:pPr>
            <a:r>
              <a:rPr lang="en-US" sz="1400" b="1" kern="0" spc="200" dirty="0">
                <a:solidFill>
                  <a:srgbClr val="B08D57"/>
                </a:solidFill>
                <a:latin typeface="Calibri" pitchFamily="34" charset="0"/>
                <a:ea typeface="Calibri" pitchFamily="34" charset="-122"/>
                <a:cs typeface="Calibri" pitchFamily="34" charset="-120"/>
              </a:rPr>
              <a:t>DATA ANALYTICS PROJECT</a:t>
            </a:r>
            <a:endParaRPr lang="en-US" sz="1400" dirty="0"/>
          </a:p>
        </p:txBody>
      </p:sp>
      <p:sp>
        <p:nvSpPr>
          <p:cNvPr id="6" name="Text 3"/>
          <p:cNvSpPr/>
          <p:nvPr/>
        </p:nvSpPr>
        <p:spPr>
          <a:xfrm>
            <a:off x="640080" y="2103120"/>
            <a:ext cx="9601200" cy="1737360"/>
          </a:xfrm>
          <a:prstGeom prst="rect">
            <a:avLst/>
          </a:prstGeom>
          <a:noFill/>
          <a:ln/>
        </p:spPr>
        <p:txBody>
          <a:bodyPr wrap="square" rtlCol="0" anchor="ctr"/>
          <a:lstStyle/>
          <a:p>
            <a:pPr marL="0" indent="0">
              <a:lnSpc>
                <a:spcPts val="5000"/>
              </a:lnSpc>
              <a:buNone/>
            </a:pPr>
            <a:r>
              <a:rPr lang="en-US" sz="4400" b="1" dirty="0">
                <a:solidFill>
                  <a:srgbClr val="42637E"/>
                </a:solidFill>
                <a:latin typeface="Georgia" pitchFamily="34" charset="0"/>
                <a:ea typeface="Georgia" pitchFamily="34" charset="-122"/>
                <a:cs typeface="Georgia" pitchFamily="34" charset="-120"/>
              </a:rPr>
              <a:t>Population Growth Analysis</a:t>
            </a:r>
            <a:endParaRPr lang="en-US" sz="4400" dirty="0"/>
          </a:p>
          <a:p>
            <a:pPr marL="0" indent="0">
              <a:lnSpc>
                <a:spcPts val="5000"/>
              </a:lnSpc>
              <a:buNone/>
            </a:pPr>
            <a:r>
              <a:rPr lang="en-US" sz="4400" b="1" dirty="0">
                <a:solidFill>
                  <a:srgbClr val="42637E"/>
                </a:solidFill>
                <a:latin typeface="Georgia" pitchFamily="34" charset="0"/>
                <a:ea typeface="Georgia" pitchFamily="34" charset="-122"/>
                <a:cs typeface="Georgia" pitchFamily="34" charset="-120"/>
              </a:rPr>
              <a:t>and Forecasting</a:t>
            </a:r>
            <a:endParaRPr lang="en-US" sz="4400" dirty="0"/>
          </a:p>
        </p:txBody>
      </p:sp>
      <p:sp>
        <p:nvSpPr>
          <p:cNvPr id="7" name="Text 4"/>
          <p:cNvSpPr/>
          <p:nvPr/>
        </p:nvSpPr>
        <p:spPr>
          <a:xfrm>
            <a:off x="685800" y="3794760"/>
            <a:ext cx="8686800" cy="640080"/>
          </a:xfrm>
          <a:prstGeom prst="rect">
            <a:avLst/>
          </a:prstGeom>
          <a:noFill/>
          <a:ln/>
        </p:spPr>
        <p:txBody>
          <a:bodyPr wrap="square" rtlCol="0" anchor="ctr"/>
          <a:lstStyle/>
          <a:p>
            <a:pPr marL="0" indent="0">
              <a:buNone/>
            </a:pPr>
            <a:r>
              <a:rPr lang="en-US" sz="1600" i="1" dirty="0">
                <a:solidFill>
                  <a:srgbClr val="71808E"/>
                </a:solidFill>
                <a:latin typeface="Calibri" pitchFamily="34" charset="0"/>
                <a:ea typeface="Calibri" pitchFamily="34" charset="-122"/>
                <a:cs typeface="Calibri" pitchFamily="34" charset="-120"/>
              </a:rPr>
              <a:t>A 65-Year Global Study of Population Trends, Growth Patterns, and Future Projections (1960–2024)</a:t>
            </a:r>
            <a:endParaRPr lang="en-US" sz="1600" dirty="0"/>
          </a:p>
        </p:txBody>
      </p:sp>
      <p:sp>
        <p:nvSpPr>
          <p:cNvPr id="8" name="Shape 5"/>
          <p:cNvSpPr/>
          <p:nvPr/>
        </p:nvSpPr>
        <p:spPr>
          <a:xfrm>
            <a:off x="685800" y="4617720"/>
            <a:ext cx="5029200" cy="0"/>
          </a:xfrm>
          <a:prstGeom prst="line">
            <a:avLst/>
          </a:prstGeom>
          <a:noFill/>
          <a:ln w="19050">
            <a:solidFill>
              <a:srgbClr val="B08D57"/>
            </a:solidFill>
            <a:prstDash val="solid"/>
          </a:ln>
        </p:spPr>
        <p:txBody>
          <a:bodyPr/>
          <a:lstStyle/>
          <a:p>
            <a:endParaRPr lang="en-US"/>
          </a:p>
        </p:txBody>
      </p:sp>
      <p:sp>
        <p:nvSpPr>
          <p:cNvPr id="9" name="Text 6"/>
          <p:cNvSpPr/>
          <p:nvPr/>
        </p:nvSpPr>
        <p:spPr>
          <a:xfrm>
            <a:off x="685800" y="4800600"/>
            <a:ext cx="7315200" cy="320040"/>
          </a:xfrm>
          <a:prstGeom prst="rect">
            <a:avLst/>
          </a:prstGeom>
          <a:noFill/>
          <a:ln/>
        </p:spPr>
        <p:txBody>
          <a:bodyPr wrap="square" rtlCol="0" anchor="ctr"/>
          <a:lstStyle/>
          <a:p>
            <a:pPr marL="0" indent="0">
              <a:buNone/>
            </a:pPr>
            <a:r>
              <a:rPr lang="en-US" sz="1400" b="1" dirty="0">
                <a:solidFill>
                  <a:srgbClr val="42637E"/>
                </a:solidFill>
                <a:latin typeface="Calibri" pitchFamily="34" charset="0"/>
                <a:ea typeface="Calibri" pitchFamily="34" charset="-122"/>
                <a:cs typeface="Calibri" pitchFamily="34" charset="-120"/>
              </a:rPr>
              <a:t>Course: </a:t>
            </a:r>
            <a:r>
              <a:rPr lang="en-US" sz="1400" dirty="0">
                <a:solidFill>
                  <a:srgbClr val="33414F"/>
                </a:solidFill>
                <a:latin typeface="Calibri" pitchFamily="34" charset="0"/>
                <a:ea typeface="Calibri" pitchFamily="34" charset="-122"/>
                <a:cs typeface="Calibri" pitchFamily="34" charset="-120"/>
              </a:rPr>
              <a:t>Introduction to Data Analytics</a:t>
            </a:r>
            <a:endParaRPr lang="en-US" sz="1400" dirty="0"/>
          </a:p>
        </p:txBody>
      </p:sp>
      <p:sp>
        <p:nvSpPr>
          <p:cNvPr id="10" name="Text 7"/>
          <p:cNvSpPr/>
          <p:nvPr/>
        </p:nvSpPr>
        <p:spPr>
          <a:xfrm>
            <a:off x="685800" y="5166360"/>
            <a:ext cx="7315200" cy="320040"/>
          </a:xfrm>
          <a:prstGeom prst="rect">
            <a:avLst/>
          </a:prstGeom>
          <a:noFill/>
          <a:ln/>
        </p:spPr>
        <p:txBody>
          <a:bodyPr wrap="square" rtlCol="0" anchor="ctr"/>
          <a:lstStyle/>
          <a:p>
            <a:r>
              <a:rPr lang="en-US" sz="1400" b="1" dirty="0">
                <a:solidFill>
                  <a:srgbClr val="42637E"/>
                </a:solidFill>
                <a:latin typeface="Calibri" pitchFamily="34" charset="0"/>
                <a:ea typeface="Calibri" pitchFamily="34" charset="-122"/>
                <a:cs typeface="Calibri" pitchFamily="34" charset="-120"/>
              </a:rPr>
              <a:t>Presented by: </a:t>
            </a:r>
            <a:r>
              <a:rPr lang="en-IN" sz="1400" dirty="0">
                <a:solidFill>
                  <a:schemeClr val="accent1">
                    <a:lumMod val="60000"/>
                    <a:lumOff val="40000"/>
                  </a:schemeClr>
                </a:solidFill>
                <a:effectLst/>
                <a:latin typeface="Arial" panose="020B0604020202020204" pitchFamily="34" charset="0"/>
                <a:ea typeface="Arial" panose="020B0604020202020204" pitchFamily="34" charset="0"/>
              </a:rPr>
              <a:t>Pranav </a:t>
            </a:r>
            <a:r>
              <a:rPr lang="en-IN" sz="1400" dirty="0" err="1">
                <a:solidFill>
                  <a:schemeClr val="accent1">
                    <a:lumMod val="60000"/>
                    <a:lumOff val="40000"/>
                  </a:schemeClr>
                </a:solidFill>
                <a:effectLst/>
                <a:latin typeface="Arial" panose="020B0604020202020204" pitchFamily="34" charset="0"/>
                <a:ea typeface="Arial" panose="020B0604020202020204" pitchFamily="34" charset="0"/>
              </a:rPr>
              <a:t>Sukhadev</a:t>
            </a:r>
            <a:r>
              <a:rPr lang="en-IN" sz="1400" dirty="0">
                <a:solidFill>
                  <a:schemeClr val="accent1">
                    <a:lumMod val="60000"/>
                    <a:lumOff val="40000"/>
                  </a:schemeClr>
                </a:solidFill>
                <a:effectLst/>
                <a:latin typeface="Arial" panose="020B0604020202020204" pitchFamily="34" charset="0"/>
                <a:ea typeface="Arial" panose="020B0604020202020204" pitchFamily="34" charset="0"/>
              </a:rPr>
              <a:t> </a:t>
            </a:r>
            <a:r>
              <a:rPr lang="en-IN" sz="1400" dirty="0" err="1">
                <a:solidFill>
                  <a:schemeClr val="accent1">
                    <a:lumMod val="60000"/>
                    <a:lumOff val="40000"/>
                  </a:schemeClr>
                </a:solidFill>
                <a:effectLst/>
                <a:latin typeface="Arial" panose="020B0604020202020204" pitchFamily="34" charset="0"/>
                <a:ea typeface="Arial" panose="020B0604020202020204" pitchFamily="34" charset="0"/>
              </a:rPr>
              <a:t>Phadtare</a:t>
            </a:r>
            <a:br>
              <a:rPr lang="en-IN" sz="1400" dirty="0">
                <a:solidFill>
                  <a:schemeClr val="accent1">
                    <a:lumMod val="60000"/>
                    <a:lumOff val="40000"/>
                  </a:schemeClr>
                </a:solidFill>
                <a:effectLst/>
                <a:latin typeface="Arial" panose="020B0604020202020204" pitchFamily="34" charset="0"/>
                <a:ea typeface="Arial" panose="020B0604020202020204" pitchFamily="34" charset="0"/>
              </a:rPr>
            </a:br>
            <a:r>
              <a:rPr lang="en-IN" sz="1400" dirty="0">
                <a:solidFill>
                  <a:schemeClr val="accent1">
                    <a:lumMod val="60000"/>
                    <a:lumOff val="40000"/>
                  </a:schemeClr>
                </a:solidFill>
                <a:effectLst/>
                <a:latin typeface="Arial" panose="020B0604020202020204" pitchFamily="34" charset="0"/>
                <a:ea typeface="Arial" panose="020B0604020202020204" pitchFamily="34" charset="0"/>
              </a:rPr>
              <a:t>	   Akunuru Abhishek Karthik</a:t>
            </a:r>
            <a:r>
              <a:rPr lang="en-IN" sz="1400" dirty="0">
                <a:solidFill>
                  <a:schemeClr val="accent1">
                    <a:lumMod val="60000"/>
                    <a:lumOff val="40000"/>
                  </a:schemeClr>
                </a:solidFill>
                <a:effectLst/>
              </a:rPr>
              <a:t> </a:t>
            </a:r>
            <a:endParaRPr lang="en-US" sz="1400" dirty="0">
              <a:solidFill>
                <a:schemeClr val="accent1">
                  <a:lumMod val="60000"/>
                  <a:lumOff val="40000"/>
                </a:schemeClr>
              </a:solidFill>
            </a:endParaRPr>
          </a:p>
        </p:txBody>
      </p:sp>
      <p:sp>
        <p:nvSpPr>
          <p:cNvPr id="11" name="Text 8"/>
          <p:cNvSpPr/>
          <p:nvPr/>
        </p:nvSpPr>
        <p:spPr>
          <a:xfrm>
            <a:off x="685800" y="5532120"/>
            <a:ext cx="7315200" cy="320040"/>
          </a:xfrm>
          <a:prstGeom prst="rect">
            <a:avLst/>
          </a:prstGeom>
          <a:noFill/>
          <a:ln/>
        </p:spPr>
        <p:txBody>
          <a:bodyPr wrap="square" rtlCol="0" anchor="ctr"/>
          <a:lstStyle/>
          <a:p>
            <a:pPr marL="0" indent="0">
              <a:buNone/>
            </a:pPr>
            <a:r>
              <a:rPr lang="en-US" sz="1400" b="1" dirty="0">
                <a:solidFill>
                  <a:srgbClr val="42637E"/>
                </a:solidFill>
                <a:latin typeface="Calibri" pitchFamily="34" charset="0"/>
                <a:ea typeface="Calibri" pitchFamily="34" charset="-122"/>
                <a:cs typeface="Calibri" pitchFamily="34" charset="-120"/>
              </a:rPr>
              <a:t>Instructor: </a:t>
            </a:r>
            <a:r>
              <a:rPr lang="en-US" sz="1400" b="1" dirty="0">
                <a:solidFill>
                  <a:srgbClr val="33414F"/>
                </a:solidFill>
                <a:latin typeface="Calibri" pitchFamily="34" charset="0"/>
                <a:ea typeface="Calibri" pitchFamily="34" charset="-122"/>
                <a:cs typeface="Calibri" pitchFamily="34" charset="-120"/>
              </a:rPr>
              <a:t>Dr. Sami Ur Rahman</a:t>
            </a:r>
            <a:endParaRPr lang="en-US" sz="1400" dirty="0"/>
          </a:p>
        </p:txBody>
      </p:sp>
      <p:sp>
        <p:nvSpPr>
          <p:cNvPr id="12" name="Text 9"/>
          <p:cNvSpPr/>
          <p:nvPr/>
        </p:nvSpPr>
        <p:spPr>
          <a:xfrm>
            <a:off x="685800" y="5989320"/>
            <a:ext cx="3657600" cy="274320"/>
          </a:xfrm>
          <a:prstGeom prst="rect">
            <a:avLst/>
          </a:prstGeom>
          <a:noFill/>
          <a:ln/>
        </p:spPr>
        <p:txBody>
          <a:bodyPr wrap="square" rtlCol="0" anchor="ctr"/>
          <a:lstStyle/>
          <a:p>
            <a:pPr marL="0" indent="0">
              <a:buNone/>
            </a:pP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rtlCol="0" anchor="ctr"/>
          <a:lstStyle/>
          <a:p>
            <a:pPr marL="0" indent="0">
              <a:buNone/>
            </a:pPr>
            <a:r>
              <a:rPr lang="en-US" sz="1300" b="1" kern="0" spc="200" dirty="0">
                <a:solidFill>
                  <a:srgbClr val="B08D57"/>
                </a:solidFill>
                <a:latin typeface="Calibri" pitchFamily="34" charset="0"/>
                <a:ea typeface="Calibri" pitchFamily="34" charset="-122"/>
                <a:cs typeface="Calibri" pitchFamily="34" charset="-120"/>
              </a:rPr>
              <a:t>OVERVIEW</a:t>
            </a:r>
            <a:endParaRPr lang="en-US" sz="1300" dirty="0"/>
          </a:p>
        </p:txBody>
      </p:sp>
      <p:sp>
        <p:nvSpPr>
          <p:cNvPr id="3" name="Text 1"/>
          <p:cNvSpPr/>
          <p:nvPr/>
        </p:nvSpPr>
        <p:spPr>
          <a:xfrm>
            <a:off x="548640" y="566928"/>
            <a:ext cx="10515600" cy="640080"/>
          </a:xfrm>
          <a:prstGeom prst="rect">
            <a:avLst/>
          </a:prstGeom>
          <a:noFill/>
          <a:ln/>
        </p:spPr>
        <p:txBody>
          <a:bodyPr wrap="square" rtlCol="0" anchor="ctr"/>
          <a:lstStyle/>
          <a:p>
            <a:pPr marL="0" indent="0">
              <a:buNone/>
            </a:pPr>
            <a:r>
              <a:rPr lang="en-US" sz="3000" b="1" dirty="0">
                <a:solidFill>
                  <a:srgbClr val="42637E"/>
                </a:solidFill>
                <a:latin typeface="Georgia" pitchFamily="34" charset="0"/>
                <a:ea typeface="Georgia" pitchFamily="34" charset="-122"/>
                <a:cs typeface="Georgia" pitchFamily="34" charset="-120"/>
              </a:rPr>
              <a:t>What We'll Cover</a:t>
            </a:r>
            <a:endParaRPr lang="en-US" sz="3000" dirty="0"/>
          </a:p>
        </p:txBody>
      </p:sp>
      <p:sp>
        <p:nvSpPr>
          <p:cNvPr id="4" name="Text 2"/>
          <p:cNvSpPr/>
          <p:nvPr/>
        </p:nvSpPr>
        <p:spPr>
          <a:xfrm>
            <a:off x="914400" y="1691640"/>
            <a:ext cx="731520" cy="530352"/>
          </a:xfrm>
          <a:prstGeom prst="rect">
            <a:avLst/>
          </a:prstGeom>
          <a:noFill/>
          <a:ln/>
        </p:spPr>
        <p:txBody>
          <a:bodyPr wrap="square" rtlCol="0" anchor="ctr"/>
          <a:lstStyle/>
          <a:p>
            <a:pPr marL="0" indent="0">
              <a:buNone/>
            </a:pPr>
            <a:r>
              <a:rPr lang="en-US" sz="2000" b="1" dirty="0">
                <a:solidFill>
                  <a:srgbClr val="B08D57"/>
                </a:solidFill>
                <a:latin typeface="Georgia" pitchFamily="34" charset="0"/>
                <a:ea typeface="Georgia" pitchFamily="34" charset="-122"/>
                <a:cs typeface="Georgia" pitchFamily="34" charset="-120"/>
              </a:rPr>
              <a:t>01</a:t>
            </a:r>
            <a:endParaRPr lang="en-US" sz="2000" dirty="0"/>
          </a:p>
        </p:txBody>
      </p:sp>
      <p:sp>
        <p:nvSpPr>
          <p:cNvPr id="5" name="Text 3"/>
          <p:cNvSpPr/>
          <p:nvPr/>
        </p:nvSpPr>
        <p:spPr>
          <a:xfrm>
            <a:off x="1737360" y="1691640"/>
            <a:ext cx="7315200" cy="530352"/>
          </a:xfrm>
          <a:prstGeom prst="rect">
            <a:avLst/>
          </a:prstGeom>
          <a:noFill/>
          <a:ln/>
        </p:spPr>
        <p:txBody>
          <a:bodyPr wrap="square" rtlCol="0" anchor="ctr"/>
          <a:lstStyle/>
          <a:p>
            <a:pPr marL="0" indent="0">
              <a:buNone/>
            </a:pPr>
            <a:r>
              <a:rPr lang="en-US" sz="1800" b="1" dirty="0">
                <a:solidFill>
                  <a:srgbClr val="42637E"/>
                </a:solidFill>
                <a:latin typeface="Calibri" pitchFamily="34" charset="0"/>
                <a:ea typeface="Calibri" pitchFamily="34" charset="-122"/>
                <a:cs typeface="Calibri" pitchFamily="34" charset="-120"/>
              </a:rPr>
              <a:t>Dataset Overview</a:t>
            </a:r>
            <a:endParaRPr lang="en-US" sz="1800" dirty="0"/>
          </a:p>
        </p:txBody>
      </p:sp>
      <p:sp>
        <p:nvSpPr>
          <p:cNvPr id="6" name="Shape 4"/>
          <p:cNvSpPr/>
          <p:nvPr/>
        </p:nvSpPr>
        <p:spPr>
          <a:xfrm>
            <a:off x="914400" y="2240280"/>
            <a:ext cx="8686800" cy="0"/>
          </a:xfrm>
          <a:prstGeom prst="line">
            <a:avLst/>
          </a:prstGeom>
          <a:noFill/>
          <a:ln w="12700">
            <a:solidFill>
              <a:srgbClr val="E3E7EA"/>
            </a:solidFill>
            <a:prstDash val="solid"/>
          </a:ln>
        </p:spPr>
        <p:txBody>
          <a:bodyPr/>
          <a:lstStyle/>
          <a:p>
            <a:endParaRPr lang="en-US"/>
          </a:p>
        </p:txBody>
      </p:sp>
      <p:sp>
        <p:nvSpPr>
          <p:cNvPr id="7" name="Text 5"/>
          <p:cNvSpPr/>
          <p:nvPr/>
        </p:nvSpPr>
        <p:spPr>
          <a:xfrm>
            <a:off x="914400" y="2313432"/>
            <a:ext cx="731520" cy="530352"/>
          </a:xfrm>
          <a:prstGeom prst="rect">
            <a:avLst/>
          </a:prstGeom>
          <a:noFill/>
          <a:ln/>
        </p:spPr>
        <p:txBody>
          <a:bodyPr wrap="square" rtlCol="0" anchor="ctr"/>
          <a:lstStyle/>
          <a:p>
            <a:pPr marL="0" indent="0">
              <a:buNone/>
            </a:pPr>
            <a:r>
              <a:rPr lang="en-US" sz="2000" b="1" dirty="0">
                <a:solidFill>
                  <a:srgbClr val="B08D57"/>
                </a:solidFill>
                <a:latin typeface="Georgia" pitchFamily="34" charset="0"/>
                <a:ea typeface="Georgia" pitchFamily="34" charset="-122"/>
                <a:cs typeface="Georgia" pitchFamily="34" charset="-120"/>
              </a:rPr>
              <a:t>02</a:t>
            </a:r>
            <a:endParaRPr lang="en-US" sz="2000" dirty="0"/>
          </a:p>
        </p:txBody>
      </p:sp>
      <p:sp>
        <p:nvSpPr>
          <p:cNvPr id="8" name="Text 6"/>
          <p:cNvSpPr/>
          <p:nvPr/>
        </p:nvSpPr>
        <p:spPr>
          <a:xfrm>
            <a:off x="1737360" y="2313432"/>
            <a:ext cx="7315200" cy="530352"/>
          </a:xfrm>
          <a:prstGeom prst="rect">
            <a:avLst/>
          </a:prstGeom>
          <a:noFill/>
          <a:ln/>
        </p:spPr>
        <p:txBody>
          <a:bodyPr wrap="square" rtlCol="0" anchor="ctr"/>
          <a:lstStyle/>
          <a:p>
            <a:pPr marL="0" indent="0">
              <a:buNone/>
            </a:pPr>
            <a:r>
              <a:rPr lang="en-US" sz="1800" b="1" dirty="0">
                <a:solidFill>
                  <a:srgbClr val="42637E"/>
                </a:solidFill>
                <a:latin typeface="Calibri" pitchFamily="34" charset="0"/>
                <a:ea typeface="Calibri" pitchFamily="34" charset="-122"/>
                <a:cs typeface="Calibri" pitchFamily="34" charset="-120"/>
              </a:rPr>
              <a:t>Data Cleaning</a:t>
            </a:r>
            <a:endParaRPr lang="en-US" sz="1800" dirty="0"/>
          </a:p>
        </p:txBody>
      </p:sp>
      <p:sp>
        <p:nvSpPr>
          <p:cNvPr id="9" name="Shape 7"/>
          <p:cNvSpPr/>
          <p:nvPr/>
        </p:nvSpPr>
        <p:spPr>
          <a:xfrm>
            <a:off x="914400" y="2862072"/>
            <a:ext cx="8686800" cy="0"/>
          </a:xfrm>
          <a:prstGeom prst="line">
            <a:avLst/>
          </a:prstGeom>
          <a:noFill/>
          <a:ln w="12700">
            <a:solidFill>
              <a:srgbClr val="E3E7EA"/>
            </a:solidFill>
            <a:prstDash val="solid"/>
          </a:ln>
        </p:spPr>
        <p:txBody>
          <a:bodyPr/>
          <a:lstStyle/>
          <a:p>
            <a:endParaRPr lang="en-US"/>
          </a:p>
        </p:txBody>
      </p:sp>
      <p:sp>
        <p:nvSpPr>
          <p:cNvPr id="10" name="Text 8"/>
          <p:cNvSpPr/>
          <p:nvPr/>
        </p:nvSpPr>
        <p:spPr>
          <a:xfrm>
            <a:off x="914400" y="2935224"/>
            <a:ext cx="731520" cy="530352"/>
          </a:xfrm>
          <a:prstGeom prst="rect">
            <a:avLst/>
          </a:prstGeom>
          <a:noFill/>
          <a:ln/>
        </p:spPr>
        <p:txBody>
          <a:bodyPr wrap="square" rtlCol="0" anchor="ctr"/>
          <a:lstStyle/>
          <a:p>
            <a:pPr marL="0" indent="0">
              <a:buNone/>
            </a:pPr>
            <a:r>
              <a:rPr lang="en-US" sz="2000" b="1" dirty="0">
                <a:solidFill>
                  <a:srgbClr val="B08D57"/>
                </a:solidFill>
                <a:latin typeface="Georgia" pitchFamily="34" charset="0"/>
                <a:ea typeface="Georgia" pitchFamily="34" charset="-122"/>
                <a:cs typeface="Georgia" pitchFamily="34" charset="-120"/>
              </a:rPr>
              <a:t>03</a:t>
            </a:r>
            <a:endParaRPr lang="en-US" sz="2000" dirty="0"/>
          </a:p>
        </p:txBody>
      </p:sp>
      <p:sp>
        <p:nvSpPr>
          <p:cNvPr id="11" name="Text 9"/>
          <p:cNvSpPr/>
          <p:nvPr/>
        </p:nvSpPr>
        <p:spPr>
          <a:xfrm>
            <a:off x="1737360" y="2935224"/>
            <a:ext cx="7315200" cy="530352"/>
          </a:xfrm>
          <a:prstGeom prst="rect">
            <a:avLst/>
          </a:prstGeom>
          <a:noFill/>
          <a:ln/>
        </p:spPr>
        <p:txBody>
          <a:bodyPr wrap="square" rtlCol="0" anchor="ctr"/>
          <a:lstStyle/>
          <a:p>
            <a:pPr marL="0" indent="0">
              <a:buNone/>
            </a:pPr>
            <a:r>
              <a:rPr lang="en-US" sz="1800" b="1" dirty="0">
                <a:solidFill>
                  <a:srgbClr val="42637E"/>
                </a:solidFill>
                <a:latin typeface="Calibri" pitchFamily="34" charset="0"/>
                <a:ea typeface="Calibri" pitchFamily="34" charset="-122"/>
                <a:cs typeface="Calibri" pitchFamily="34" charset="-120"/>
              </a:rPr>
              <a:t>Methodology</a:t>
            </a:r>
            <a:endParaRPr lang="en-US" sz="1800" dirty="0"/>
          </a:p>
        </p:txBody>
      </p:sp>
      <p:sp>
        <p:nvSpPr>
          <p:cNvPr id="12" name="Shape 10"/>
          <p:cNvSpPr/>
          <p:nvPr/>
        </p:nvSpPr>
        <p:spPr>
          <a:xfrm>
            <a:off x="914400" y="3483864"/>
            <a:ext cx="8686800" cy="0"/>
          </a:xfrm>
          <a:prstGeom prst="line">
            <a:avLst/>
          </a:prstGeom>
          <a:noFill/>
          <a:ln w="12700">
            <a:solidFill>
              <a:srgbClr val="E3E7EA"/>
            </a:solidFill>
            <a:prstDash val="solid"/>
          </a:ln>
        </p:spPr>
        <p:txBody>
          <a:bodyPr/>
          <a:lstStyle/>
          <a:p>
            <a:endParaRPr lang="en-US"/>
          </a:p>
        </p:txBody>
      </p:sp>
      <p:sp>
        <p:nvSpPr>
          <p:cNvPr id="13" name="Text 11"/>
          <p:cNvSpPr/>
          <p:nvPr/>
        </p:nvSpPr>
        <p:spPr>
          <a:xfrm>
            <a:off x="914400" y="3557016"/>
            <a:ext cx="731520" cy="530352"/>
          </a:xfrm>
          <a:prstGeom prst="rect">
            <a:avLst/>
          </a:prstGeom>
          <a:noFill/>
          <a:ln/>
        </p:spPr>
        <p:txBody>
          <a:bodyPr wrap="square" rtlCol="0" anchor="ctr"/>
          <a:lstStyle/>
          <a:p>
            <a:pPr marL="0" indent="0">
              <a:buNone/>
            </a:pPr>
            <a:r>
              <a:rPr lang="en-US" sz="2000" b="1" dirty="0">
                <a:solidFill>
                  <a:srgbClr val="B08D57"/>
                </a:solidFill>
                <a:latin typeface="Georgia" pitchFamily="34" charset="0"/>
                <a:ea typeface="Georgia" pitchFamily="34" charset="-122"/>
                <a:cs typeface="Georgia" pitchFamily="34" charset="-120"/>
              </a:rPr>
              <a:t>04</a:t>
            </a:r>
            <a:endParaRPr lang="en-US" sz="2000" dirty="0"/>
          </a:p>
        </p:txBody>
      </p:sp>
      <p:sp>
        <p:nvSpPr>
          <p:cNvPr id="14" name="Text 12"/>
          <p:cNvSpPr/>
          <p:nvPr/>
        </p:nvSpPr>
        <p:spPr>
          <a:xfrm>
            <a:off x="1737360" y="3557016"/>
            <a:ext cx="7315200" cy="530352"/>
          </a:xfrm>
          <a:prstGeom prst="rect">
            <a:avLst/>
          </a:prstGeom>
          <a:noFill/>
          <a:ln/>
        </p:spPr>
        <p:txBody>
          <a:bodyPr wrap="square" rtlCol="0" anchor="ctr"/>
          <a:lstStyle/>
          <a:p>
            <a:pPr marL="0" indent="0">
              <a:buNone/>
            </a:pPr>
            <a:r>
              <a:rPr lang="en-US" sz="1800" b="1" dirty="0">
                <a:solidFill>
                  <a:srgbClr val="42637E"/>
                </a:solidFill>
                <a:latin typeface="Calibri" pitchFamily="34" charset="0"/>
                <a:ea typeface="Calibri" pitchFamily="34" charset="-122"/>
                <a:cs typeface="Calibri" pitchFamily="34" charset="-120"/>
              </a:rPr>
              <a:t>Key Findings</a:t>
            </a:r>
            <a:endParaRPr lang="en-US" sz="1800" dirty="0"/>
          </a:p>
        </p:txBody>
      </p:sp>
      <p:sp>
        <p:nvSpPr>
          <p:cNvPr id="15" name="Shape 13"/>
          <p:cNvSpPr/>
          <p:nvPr/>
        </p:nvSpPr>
        <p:spPr>
          <a:xfrm>
            <a:off x="914400" y="4105656"/>
            <a:ext cx="8686800" cy="0"/>
          </a:xfrm>
          <a:prstGeom prst="line">
            <a:avLst/>
          </a:prstGeom>
          <a:noFill/>
          <a:ln w="12700">
            <a:solidFill>
              <a:srgbClr val="E3E7EA"/>
            </a:solidFill>
            <a:prstDash val="solid"/>
          </a:ln>
        </p:spPr>
        <p:txBody>
          <a:bodyPr/>
          <a:lstStyle/>
          <a:p>
            <a:endParaRPr lang="en-US"/>
          </a:p>
        </p:txBody>
      </p:sp>
      <p:sp>
        <p:nvSpPr>
          <p:cNvPr id="16" name="Text 14"/>
          <p:cNvSpPr/>
          <p:nvPr/>
        </p:nvSpPr>
        <p:spPr>
          <a:xfrm>
            <a:off x="914400" y="4178808"/>
            <a:ext cx="731520" cy="530352"/>
          </a:xfrm>
          <a:prstGeom prst="rect">
            <a:avLst/>
          </a:prstGeom>
          <a:noFill/>
          <a:ln/>
        </p:spPr>
        <p:txBody>
          <a:bodyPr wrap="square" rtlCol="0" anchor="ctr"/>
          <a:lstStyle/>
          <a:p>
            <a:pPr marL="0" indent="0">
              <a:buNone/>
            </a:pPr>
            <a:r>
              <a:rPr lang="en-US" sz="2000" b="1" dirty="0">
                <a:solidFill>
                  <a:srgbClr val="B08D57"/>
                </a:solidFill>
                <a:latin typeface="Georgia" pitchFamily="34" charset="0"/>
                <a:ea typeface="Georgia" pitchFamily="34" charset="-122"/>
                <a:cs typeface="Georgia" pitchFamily="34" charset="-120"/>
              </a:rPr>
              <a:t>05</a:t>
            </a:r>
            <a:endParaRPr lang="en-US" sz="2000" dirty="0"/>
          </a:p>
        </p:txBody>
      </p:sp>
      <p:sp>
        <p:nvSpPr>
          <p:cNvPr id="17" name="Text 15"/>
          <p:cNvSpPr/>
          <p:nvPr/>
        </p:nvSpPr>
        <p:spPr>
          <a:xfrm>
            <a:off x="1737360" y="4178808"/>
            <a:ext cx="7315200" cy="530352"/>
          </a:xfrm>
          <a:prstGeom prst="rect">
            <a:avLst/>
          </a:prstGeom>
          <a:noFill/>
          <a:ln/>
        </p:spPr>
        <p:txBody>
          <a:bodyPr wrap="square" rtlCol="0" anchor="ctr"/>
          <a:lstStyle/>
          <a:p>
            <a:pPr marL="0" indent="0">
              <a:buNone/>
            </a:pPr>
            <a:r>
              <a:rPr lang="en-US" sz="1800" b="1" dirty="0">
                <a:solidFill>
                  <a:srgbClr val="42637E"/>
                </a:solidFill>
                <a:latin typeface="Calibri" pitchFamily="34" charset="0"/>
                <a:ea typeface="Calibri" pitchFamily="34" charset="-122"/>
                <a:cs typeface="Calibri" pitchFamily="34" charset="-120"/>
              </a:rPr>
              <a:t>Advanced Analysis</a:t>
            </a:r>
            <a:endParaRPr lang="en-US" sz="1800" dirty="0"/>
          </a:p>
        </p:txBody>
      </p:sp>
      <p:sp>
        <p:nvSpPr>
          <p:cNvPr id="18" name="Shape 16"/>
          <p:cNvSpPr/>
          <p:nvPr/>
        </p:nvSpPr>
        <p:spPr>
          <a:xfrm>
            <a:off x="914400" y="4727448"/>
            <a:ext cx="8686800" cy="0"/>
          </a:xfrm>
          <a:prstGeom prst="line">
            <a:avLst/>
          </a:prstGeom>
          <a:noFill/>
          <a:ln w="12700">
            <a:solidFill>
              <a:srgbClr val="E3E7EA"/>
            </a:solidFill>
            <a:prstDash val="solid"/>
          </a:ln>
        </p:spPr>
        <p:txBody>
          <a:bodyPr/>
          <a:lstStyle/>
          <a:p>
            <a:endParaRPr lang="en-US"/>
          </a:p>
        </p:txBody>
      </p:sp>
      <p:sp>
        <p:nvSpPr>
          <p:cNvPr id="19" name="Text 17"/>
          <p:cNvSpPr/>
          <p:nvPr/>
        </p:nvSpPr>
        <p:spPr>
          <a:xfrm>
            <a:off x="914400" y="4800600"/>
            <a:ext cx="731520" cy="530352"/>
          </a:xfrm>
          <a:prstGeom prst="rect">
            <a:avLst/>
          </a:prstGeom>
          <a:noFill/>
          <a:ln/>
        </p:spPr>
        <p:txBody>
          <a:bodyPr wrap="square" rtlCol="0" anchor="ctr"/>
          <a:lstStyle/>
          <a:p>
            <a:pPr marL="0" indent="0">
              <a:buNone/>
            </a:pPr>
            <a:r>
              <a:rPr lang="en-US" sz="2000" b="1" dirty="0">
                <a:solidFill>
                  <a:srgbClr val="B08D57"/>
                </a:solidFill>
                <a:latin typeface="Georgia" pitchFamily="34" charset="0"/>
                <a:ea typeface="Georgia" pitchFamily="34" charset="-122"/>
                <a:cs typeface="Georgia" pitchFamily="34" charset="-120"/>
              </a:rPr>
              <a:t>06</a:t>
            </a:r>
            <a:endParaRPr lang="en-US" sz="2000" dirty="0"/>
          </a:p>
        </p:txBody>
      </p:sp>
      <p:sp>
        <p:nvSpPr>
          <p:cNvPr id="20" name="Text 18"/>
          <p:cNvSpPr/>
          <p:nvPr/>
        </p:nvSpPr>
        <p:spPr>
          <a:xfrm>
            <a:off x="1737360" y="4800600"/>
            <a:ext cx="7315200" cy="530352"/>
          </a:xfrm>
          <a:prstGeom prst="rect">
            <a:avLst/>
          </a:prstGeom>
          <a:noFill/>
          <a:ln/>
        </p:spPr>
        <p:txBody>
          <a:bodyPr wrap="square" rtlCol="0" anchor="ctr"/>
          <a:lstStyle/>
          <a:p>
            <a:pPr marL="0" indent="0">
              <a:buNone/>
            </a:pPr>
            <a:r>
              <a:rPr lang="en-US" sz="1800" b="1" dirty="0">
                <a:solidFill>
                  <a:srgbClr val="42637E"/>
                </a:solidFill>
                <a:latin typeface="Calibri" pitchFamily="34" charset="0"/>
                <a:ea typeface="Calibri" pitchFamily="34" charset="-122"/>
                <a:cs typeface="Calibri" pitchFamily="34" charset="-120"/>
              </a:rPr>
              <a:t>Forecasting</a:t>
            </a:r>
            <a:endParaRPr lang="en-US" sz="1800" dirty="0"/>
          </a:p>
        </p:txBody>
      </p:sp>
      <p:sp>
        <p:nvSpPr>
          <p:cNvPr id="21" name="Shape 19"/>
          <p:cNvSpPr/>
          <p:nvPr/>
        </p:nvSpPr>
        <p:spPr>
          <a:xfrm>
            <a:off x="914400" y="5349240"/>
            <a:ext cx="8686800" cy="0"/>
          </a:xfrm>
          <a:prstGeom prst="line">
            <a:avLst/>
          </a:prstGeom>
          <a:noFill/>
          <a:ln w="12700">
            <a:solidFill>
              <a:srgbClr val="E3E7EA"/>
            </a:solidFill>
            <a:prstDash val="solid"/>
          </a:ln>
        </p:spPr>
        <p:txBody>
          <a:bodyPr/>
          <a:lstStyle/>
          <a:p>
            <a:endParaRPr lang="en-US"/>
          </a:p>
        </p:txBody>
      </p:sp>
      <p:sp>
        <p:nvSpPr>
          <p:cNvPr id="22" name="Text 20"/>
          <p:cNvSpPr/>
          <p:nvPr/>
        </p:nvSpPr>
        <p:spPr>
          <a:xfrm>
            <a:off x="914400" y="5422392"/>
            <a:ext cx="731520" cy="530352"/>
          </a:xfrm>
          <a:prstGeom prst="rect">
            <a:avLst/>
          </a:prstGeom>
          <a:noFill/>
          <a:ln/>
        </p:spPr>
        <p:txBody>
          <a:bodyPr wrap="square" rtlCol="0" anchor="ctr"/>
          <a:lstStyle/>
          <a:p>
            <a:pPr marL="0" indent="0">
              <a:buNone/>
            </a:pPr>
            <a:r>
              <a:rPr lang="en-US" sz="2000" b="1" dirty="0">
                <a:solidFill>
                  <a:srgbClr val="B08D57"/>
                </a:solidFill>
                <a:latin typeface="Georgia" pitchFamily="34" charset="0"/>
                <a:ea typeface="Georgia" pitchFamily="34" charset="-122"/>
                <a:cs typeface="Georgia" pitchFamily="34" charset="-120"/>
              </a:rPr>
              <a:t>07</a:t>
            </a:r>
            <a:endParaRPr lang="en-US" sz="2000" dirty="0"/>
          </a:p>
        </p:txBody>
      </p:sp>
      <p:sp>
        <p:nvSpPr>
          <p:cNvPr id="23" name="Text 21"/>
          <p:cNvSpPr/>
          <p:nvPr/>
        </p:nvSpPr>
        <p:spPr>
          <a:xfrm>
            <a:off x="1737360" y="5422392"/>
            <a:ext cx="7315200" cy="530352"/>
          </a:xfrm>
          <a:prstGeom prst="rect">
            <a:avLst/>
          </a:prstGeom>
          <a:noFill/>
          <a:ln/>
        </p:spPr>
        <p:txBody>
          <a:bodyPr wrap="square" rtlCol="0" anchor="ctr"/>
          <a:lstStyle/>
          <a:p>
            <a:pPr marL="0" indent="0">
              <a:buNone/>
            </a:pPr>
            <a:r>
              <a:rPr lang="en-US" sz="1800" b="1" dirty="0">
                <a:solidFill>
                  <a:srgbClr val="42637E"/>
                </a:solidFill>
                <a:latin typeface="Calibri" pitchFamily="34" charset="0"/>
                <a:ea typeface="Calibri" pitchFamily="34" charset="-122"/>
                <a:cs typeface="Calibri" pitchFamily="34" charset="-120"/>
              </a:rPr>
              <a:t>Insights &amp; Challenges</a:t>
            </a:r>
            <a:endParaRPr lang="en-US" sz="1800" dirty="0"/>
          </a:p>
        </p:txBody>
      </p:sp>
      <p:sp>
        <p:nvSpPr>
          <p:cNvPr id="24" name="Text 22"/>
          <p:cNvSpPr/>
          <p:nvPr/>
        </p:nvSpPr>
        <p:spPr>
          <a:xfrm>
            <a:off x="457200" y="6510528"/>
            <a:ext cx="7315200" cy="274320"/>
          </a:xfrm>
          <a:prstGeom prst="rect">
            <a:avLst/>
          </a:prstGeom>
          <a:noFill/>
          <a:ln/>
        </p:spPr>
        <p:txBody>
          <a:bodyPr wrap="square" rtlCol="0" anchor="ctr"/>
          <a:lstStyle/>
          <a:p>
            <a:pPr marL="0" indent="0">
              <a:buNone/>
            </a:pPr>
            <a:r>
              <a:rPr lang="en-US" sz="900" dirty="0">
                <a:solidFill>
                  <a:srgbClr val="71808E"/>
                </a:solidFill>
                <a:latin typeface="Calibri" pitchFamily="34" charset="0"/>
                <a:ea typeface="Calibri" pitchFamily="34" charset="-122"/>
                <a:cs typeface="Calibri" pitchFamily="34" charset="-120"/>
              </a:rPr>
              <a:t>Population Growth Analysis and Forecasting</a:t>
            </a:r>
            <a:endParaRPr lang="en-US" sz="900" dirty="0"/>
          </a:p>
        </p:txBody>
      </p:sp>
      <p:sp>
        <p:nvSpPr>
          <p:cNvPr id="25" name="Text 23"/>
          <p:cNvSpPr/>
          <p:nvPr/>
        </p:nvSpPr>
        <p:spPr>
          <a:xfrm>
            <a:off x="11430000" y="6510528"/>
            <a:ext cx="365760" cy="274320"/>
          </a:xfrm>
          <a:prstGeom prst="rect">
            <a:avLst/>
          </a:prstGeom>
          <a:noFill/>
          <a:ln/>
        </p:spPr>
        <p:txBody>
          <a:bodyPr wrap="square" rtlCol="0" anchor="ctr"/>
          <a:lstStyle/>
          <a:p>
            <a:pPr marL="0" indent="0" algn="r">
              <a:buNone/>
            </a:pPr>
            <a:r>
              <a:rPr lang="en-US" sz="900" dirty="0">
                <a:solidFill>
                  <a:srgbClr val="71808E"/>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rtlCol="0" anchor="ctr"/>
          <a:lstStyle/>
          <a:p>
            <a:pPr marL="0" indent="0">
              <a:buNone/>
            </a:pPr>
            <a:r>
              <a:rPr lang="en-US" sz="1300" b="1" kern="0" spc="200" dirty="0">
                <a:solidFill>
                  <a:srgbClr val="B08D57"/>
                </a:solidFill>
                <a:latin typeface="Calibri" pitchFamily="34" charset="0"/>
                <a:ea typeface="Calibri" pitchFamily="34" charset="-122"/>
                <a:cs typeface="Calibri" pitchFamily="34" charset="-120"/>
              </a:rPr>
              <a:t>SECTION 1</a:t>
            </a:r>
            <a:endParaRPr lang="en-US" sz="1300" dirty="0"/>
          </a:p>
        </p:txBody>
      </p:sp>
      <p:sp>
        <p:nvSpPr>
          <p:cNvPr id="3" name="Text 1"/>
          <p:cNvSpPr/>
          <p:nvPr/>
        </p:nvSpPr>
        <p:spPr>
          <a:xfrm>
            <a:off x="548640" y="566928"/>
            <a:ext cx="10515600" cy="640080"/>
          </a:xfrm>
          <a:prstGeom prst="rect">
            <a:avLst/>
          </a:prstGeom>
          <a:noFill/>
          <a:ln/>
        </p:spPr>
        <p:txBody>
          <a:bodyPr wrap="square" rtlCol="0" anchor="ctr"/>
          <a:lstStyle/>
          <a:p>
            <a:pPr marL="0" indent="0">
              <a:buNone/>
            </a:pPr>
            <a:r>
              <a:rPr lang="en-US" sz="3000" b="1" dirty="0">
                <a:solidFill>
                  <a:srgbClr val="42637E"/>
                </a:solidFill>
                <a:latin typeface="Georgia" pitchFamily="34" charset="0"/>
                <a:ea typeface="Georgia" pitchFamily="34" charset="-122"/>
                <a:cs typeface="Georgia" pitchFamily="34" charset="-120"/>
              </a:rPr>
              <a:t>Dataset Overview</a:t>
            </a:r>
            <a:endParaRPr lang="en-US" sz="3000" dirty="0"/>
          </a:p>
        </p:txBody>
      </p:sp>
      <p:sp>
        <p:nvSpPr>
          <p:cNvPr id="4" name="Text 2"/>
          <p:cNvSpPr/>
          <p:nvPr/>
        </p:nvSpPr>
        <p:spPr>
          <a:xfrm>
            <a:off x="548640" y="1371600"/>
            <a:ext cx="10515600" cy="365760"/>
          </a:xfrm>
          <a:prstGeom prst="rect">
            <a:avLst/>
          </a:prstGeom>
          <a:noFill/>
          <a:ln/>
        </p:spPr>
        <p:txBody>
          <a:bodyPr wrap="square" rtlCol="0" anchor="ctr"/>
          <a:lstStyle/>
          <a:p>
            <a:pPr marL="0" indent="0">
              <a:buNone/>
            </a:pPr>
            <a:r>
              <a:rPr lang="en-US" sz="1600" b="1" dirty="0">
                <a:solidFill>
                  <a:srgbClr val="33414F"/>
                </a:solidFill>
                <a:latin typeface="Calibri" pitchFamily="34" charset="0"/>
                <a:ea typeface="Calibri" pitchFamily="34" charset="-122"/>
                <a:cs typeface="Calibri" pitchFamily="34" charset="-120"/>
              </a:rPr>
              <a:t>World Bank — Population, Total (SP.POP.TOTL)</a:t>
            </a:r>
            <a:endParaRPr lang="en-US" sz="1600" dirty="0"/>
          </a:p>
        </p:txBody>
      </p:sp>
      <p:sp>
        <p:nvSpPr>
          <p:cNvPr id="5" name="Text 3"/>
          <p:cNvSpPr/>
          <p:nvPr/>
        </p:nvSpPr>
        <p:spPr>
          <a:xfrm>
            <a:off x="548640" y="1737360"/>
            <a:ext cx="10515600" cy="365760"/>
          </a:xfrm>
          <a:prstGeom prst="rect">
            <a:avLst/>
          </a:prstGeom>
          <a:noFill/>
          <a:ln/>
        </p:spPr>
        <p:txBody>
          <a:bodyPr wrap="square" rtlCol="0" anchor="ctr"/>
          <a:lstStyle/>
          <a:p>
            <a:pPr marL="0" indent="0">
              <a:buNone/>
            </a:pPr>
            <a:r>
              <a:rPr lang="en-US" sz="1250" i="1" dirty="0">
                <a:solidFill>
                  <a:srgbClr val="71808E"/>
                </a:solidFill>
                <a:latin typeface="Calibri" pitchFamily="34" charset="0"/>
                <a:ea typeface="Calibri" pitchFamily="34" charset="-122"/>
                <a:cs typeface="Calibri" pitchFamily="34" charset="-120"/>
              </a:rPr>
              <a:t>De facto total population by country, reported annually — data.worldbank.org/indicator/SP.POP.TOTL</a:t>
            </a:r>
            <a:endParaRPr lang="en-US" sz="1250" dirty="0"/>
          </a:p>
        </p:txBody>
      </p:sp>
      <p:sp>
        <p:nvSpPr>
          <p:cNvPr id="6" name="Text 4"/>
          <p:cNvSpPr/>
          <p:nvPr/>
        </p:nvSpPr>
        <p:spPr>
          <a:xfrm>
            <a:off x="548640" y="2468880"/>
            <a:ext cx="2331720" cy="594360"/>
          </a:xfrm>
          <a:prstGeom prst="rect">
            <a:avLst/>
          </a:prstGeom>
          <a:noFill/>
          <a:ln/>
        </p:spPr>
        <p:txBody>
          <a:bodyPr wrap="square" rtlCol="0" anchor="ctr"/>
          <a:lstStyle/>
          <a:p>
            <a:pPr marL="0" indent="0">
              <a:buNone/>
            </a:pPr>
            <a:r>
              <a:rPr lang="en-US" sz="3000" b="1" dirty="0">
                <a:solidFill>
                  <a:srgbClr val="42637E"/>
                </a:solidFill>
                <a:latin typeface="Georgia" pitchFamily="34" charset="0"/>
                <a:ea typeface="Georgia" pitchFamily="34" charset="-122"/>
                <a:cs typeface="Georgia" pitchFamily="34" charset="-120"/>
              </a:rPr>
              <a:t>198</a:t>
            </a:r>
            <a:endParaRPr lang="en-US" sz="3000" dirty="0"/>
          </a:p>
        </p:txBody>
      </p:sp>
      <p:sp>
        <p:nvSpPr>
          <p:cNvPr id="7" name="Text 5"/>
          <p:cNvSpPr/>
          <p:nvPr/>
        </p:nvSpPr>
        <p:spPr>
          <a:xfrm>
            <a:off x="548640" y="3090672"/>
            <a:ext cx="2331720" cy="457200"/>
          </a:xfrm>
          <a:prstGeom prst="rect">
            <a:avLst/>
          </a:prstGeom>
          <a:noFill/>
          <a:ln/>
        </p:spPr>
        <p:txBody>
          <a:bodyPr wrap="square" rtlCol="0" anchor="ctr"/>
          <a:lstStyle/>
          <a:p>
            <a:pPr marL="0" indent="0">
              <a:buNone/>
            </a:pPr>
            <a:r>
              <a:rPr lang="en-US" sz="1150" dirty="0">
                <a:solidFill>
                  <a:srgbClr val="71808E"/>
                </a:solidFill>
                <a:latin typeface="Calibri" pitchFamily="34" charset="0"/>
                <a:ea typeface="Calibri" pitchFamily="34" charset="-122"/>
                <a:cs typeface="Calibri" pitchFamily="34" charset="-120"/>
              </a:rPr>
              <a:t>Countries &amp; Territories</a:t>
            </a:r>
            <a:endParaRPr lang="en-US" sz="1150" dirty="0"/>
          </a:p>
        </p:txBody>
      </p:sp>
      <p:sp>
        <p:nvSpPr>
          <p:cNvPr id="8" name="Shape 6"/>
          <p:cNvSpPr/>
          <p:nvPr/>
        </p:nvSpPr>
        <p:spPr>
          <a:xfrm>
            <a:off x="2926080" y="2514600"/>
            <a:ext cx="0" cy="868680"/>
          </a:xfrm>
          <a:prstGeom prst="line">
            <a:avLst/>
          </a:prstGeom>
          <a:noFill/>
          <a:ln w="12700">
            <a:solidFill>
              <a:srgbClr val="E3E7EA"/>
            </a:solidFill>
            <a:prstDash val="solid"/>
          </a:ln>
        </p:spPr>
        <p:txBody>
          <a:bodyPr/>
          <a:lstStyle/>
          <a:p>
            <a:endParaRPr lang="en-US"/>
          </a:p>
        </p:txBody>
      </p:sp>
      <p:sp>
        <p:nvSpPr>
          <p:cNvPr id="9" name="Text 7"/>
          <p:cNvSpPr/>
          <p:nvPr/>
        </p:nvSpPr>
        <p:spPr>
          <a:xfrm>
            <a:off x="3154680" y="2468880"/>
            <a:ext cx="2331720" cy="594360"/>
          </a:xfrm>
          <a:prstGeom prst="rect">
            <a:avLst/>
          </a:prstGeom>
          <a:noFill/>
          <a:ln/>
        </p:spPr>
        <p:txBody>
          <a:bodyPr wrap="square" rtlCol="0" anchor="ctr"/>
          <a:lstStyle/>
          <a:p>
            <a:pPr marL="0" indent="0">
              <a:buNone/>
            </a:pPr>
            <a:r>
              <a:rPr lang="en-US" sz="3000" b="1" dirty="0">
                <a:solidFill>
                  <a:srgbClr val="42637E"/>
                </a:solidFill>
                <a:latin typeface="Georgia" pitchFamily="34" charset="0"/>
                <a:ea typeface="Georgia" pitchFamily="34" charset="-122"/>
                <a:cs typeface="Georgia" pitchFamily="34" charset="-120"/>
              </a:rPr>
              <a:t>65</a:t>
            </a:r>
            <a:endParaRPr lang="en-US" sz="3000" dirty="0"/>
          </a:p>
        </p:txBody>
      </p:sp>
      <p:sp>
        <p:nvSpPr>
          <p:cNvPr id="10" name="Text 8"/>
          <p:cNvSpPr/>
          <p:nvPr/>
        </p:nvSpPr>
        <p:spPr>
          <a:xfrm>
            <a:off x="3154680" y="3090672"/>
            <a:ext cx="2331720" cy="457200"/>
          </a:xfrm>
          <a:prstGeom prst="rect">
            <a:avLst/>
          </a:prstGeom>
          <a:noFill/>
          <a:ln/>
        </p:spPr>
        <p:txBody>
          <a:bodyPr wrap="square" rtlCol="0" anchor="ctr"/>
          <a:lstStyle/>
          <a:p>
            <a:pPr marL="0" indent="0">
              <a:buNone/>
            </a:pPr>
            <a:r>
              <a:rPr lang="en-US" sz="1150" dirty="0">
                <a:solidFill>
                  <a:srgbClr val="71808E"/>
                </a:solidFill>
                <a:latin typeface="Calibri" pitchFamily="34" charset="0"/>
                <a:ea typeface="Calibri" pitchFamily="34" charset="-122"/>
                <a:cs typeface="Calibri" pitchFamily="34" charset="-120"/>
              </a:rPr>
              <a:t>Years of Data (1960–2024)</a:t>
            </a:r>
            <a:endParaRPr lang="en-US" sz="1150" dirty="0"/>
          </a:p>
        </p:txBody>
      </p:sp>
      <p:sp>
        <p:nvSpPr>
          <p:cNvPr id="11" name="Shape 9"/>
          <p:cNvSpPr/>
          <p:nvPr/>
        </p:nvSpPr>
        <p:spPr>
          <a:xfrm>
            <a:off x="5532120" y="2514600"/>
            <a:ext cx="0" cy="868680"/>
          </a:xfrm>
          <a:prstGeom prst="line">
            <a:avLst/>
          </a:prstGeom>
          <a:noFill/>
          <a:ln w="12700">
            <a:solidFill>
              <a:srgbClr val="E3E7EA"/>
            </a:solidFill>
            <a:prstDash val="solid"/>
          </a:ln>
        </p:spPr>
        <p:txBody>
          <a:bodyPr/>
          <a:lstStyle/>
          <a:p>
            <a:endParaRPr lang="en-US"/>
          </a:p>
        </p:txBody>
      </p:sp>
      <p:sp>
        <p:nvSpPr>
          <p:cNvPr id="12" name="Text 10"/>
          <p:cNvSpPr/>
          <p:nvPr/>
        </p:nvSpPr>
        <p:spPr>
          <a:xfrm>
            <a:off x="5760720" y="2468880"/>
            <a:ext cx="2331720" cy="594360"/>
          </a:xfrm>
          <a:prstGeom prst="rect">
            <a:avLst/>
          </a:prstGeom>
          <a:noFill/>
          <a:ln/>
        </p:spPr>
        <p:txBody>
          <a:bodyPr wrap="square" rtlCol="0" anchor="ctr"/>
          <a:lstStyle/>
          <a:p>
            <a:pPr marL="0" indent="0">
              <a:buNone/>
            </a:pPr>
            <a:r>
              <a:rPr lang="en-US" sz="3000" b="1" dirty="0">
                <a:solidFill>
                  <a:srgbClr val="42637E"/>
                </a:solidFill>
                <a:latin typeface="Georgia" pitchFamily="34" charset="0"/>
                <a:ea typeface="Georgia" pitchFamily="34" charset="-122"/>
                <a:cs typeface="Georgia" pitchFamily="34" charset="-120"/>
              </a:rPr>
              <a:t>12,870</a:t>
            </a:r>
            <a:endParaRPr lang="en-US" sz="3000" dirty="0"/>
          </a:p>
        </p:txBody>
      </p:sp>
      <p:sp>
        <p:nvSpPr>
          <p:cNvPr id="13" name="Text 11"/>
          <p:cNvSpPr/>
          <p:nvPr/>
        </p:nvSpPr>
        <p:spPr>
          <a:xfrm>
            <a:off x="5760720" y="3090672"/>
            <a:ext cx="2331720" cy="457200"/>
          </a:xfrm>
          <a:prstGeom prst="rect">
            <a:avLst/>
          </a:prstGeom>
          <a:noFill/>
          <a:ln/>
        </p:spPr>
        <p:txBody>
          <a:bodyPr wrap="square" rtlCol="0" anchor="ctr"/>
          <a:lstStyle/>
          <a:p>
            <a:pPr marL="0" indent="0">
              <a:buNone/>
            </a:pPr>
            <a:r>
              <a:rPr lang="en-US" sz="1150" dirty="0">
                <a:solidFill>
                  <a:srgbClr val="71808E"/>
                </a:solidFill>
                <a:latin typeface="Calibri" pitchFamily="34" charset="0"/>
                <a:ea typeface="Calibri" pitchFamily="34" charset="-122"/>
                <a:cs typeface="Calibri" pitchFamily="34" charset="-120"/>
              </a:rPr>
              <a:t>Country-Year Records</a:t>
            </a:r>
            <a:endParaRPr lang="en-US" sz="1150" dirty="0"/>
          </a:p>
        </p:txBody>
      </p:sp>
      <p:sp>
        <p:nvSpPr>
          <p:cNvPr id="14" name="Shape 12"/>
          <p:cNvSpPr/>
          <p:nvPr/>
        </p:nvSpPr>
        <p:spPr>
          <a:xfrm>
            <a:off x="8138160" y="2514600"/>
            <a:ext cx="0" cy="868680"/>
          </a:xfrm>
          <a:prstGeom prst="line">
            <a:avLst/>
          </a:prstGeom>
          <a:noFill/>
          <a:ln w="12700">
            <a:solidFill>
              <a:srgbClr val="E3E7EA"/>
            </a:solidFill>
            <a:prstDash val="solid"/>
          </a:ln>
        </p:spPr>
        <p:txBody>
          <a:bodyPr/>
          <a:lstStyle/>
          <a:p>
            <a:endParaRPr lang="en-US"/>
          </a:p>
        </p:txBody>
      </p:sp>
      <p:sp>
        <p:nvSpPr>
          <p:cNvPr id="15" name="Text 13"/>
          <p:cNvSpPr/>
          <p:nvPr/>
        </p:nvSpPr>
        <p:spPr>
          <a:xfrm>
            <a:off x="8366760" y="2468880"/>
            <a:ext cx="2331720" cy="594360"/>
          </a:xfrm>
          <a:prstGeom prst="rect">
            <a:avLst/>
          </a:prstGeom>
          <a:noFill/>
          <a:ln/>
        </p:spPr>
        <p:txBody>
          <a:bodyPr wrap="square" rtlCol="0" anchor="ctr"/>
          <a:lstStyle/>
          <a:p>
            <a:pPr marL="0" indent="0">
              <a:buNone/>
            </a:pPr>
            <a:r>
              <a:rPr lang="en-US" sz="3000" b="1" dirty="0">
                <a:solidFill>
                  <a:srgbClr val="42637E"/>
                </a:solidFill>
                <a:latin typeface="Georgia" pitchFamily="34" charset="0"/>
                <a:ea typeface="Georgia" pitchFamily="34" charset="-122"/>
                <a:cs typeface="Georgia" pitchFamily="34" charset="-120"/>
              </a:rPr>
              <a:t>6</a:t>
            </a:r>
            <a:endParaRPr lang="en-US" sz="3000" dirty="0"/>
          </a:p>
        </p:txBody>
      </p:sp>
      <p:sp>
        <p:nvSpPr>
          <p:cNvPr id="16" name="Text 14"/>
          <p:cNvSpPr/>
          <p:nvPr/>
        </p:nvSpPr>
        <p:spPr>
          <a:xfrm>
            <a:off x="8366760" y="3090672"/>
            <a:ext cx="2331720" cy="457200"/>
          </a:xfrm>
          <a:prstGeom prst="rect">
            <a:avLst/>
          </a:prstGeom>
          <a:noFill/>
          <a:ln/>
        </p:spPr>
        <p:txBody>
          <a:bodyPr wrap="square" rtlCol="0" anchor="ctr"/>
          <a:lstStyle/>
          <a:p>
            <a:pPr marL="0" indent="0">
              <a:buNone/>
            </a:pPr>
            <a:r>
              <a:rPr lang="en-US" sz="1150" dirty="0">
                <a:solidFill>
                  <a:srgbClr val="71808E"/>
                </a:solidFill>
                <a:latin typeface="Calibri" pitchFamily="34" charset="0"/>
                <a:ea typeface="Calibri" pitchFamily="34" charset="-122"/>
                <a:cs typeface="Calibri" pitchFamily="34" charset="-120"/>
              </a:rPr>
              <a:t>Continents Covered</a:t>
            </a:r>
            <a:endParaRPr lang="en-US" sz="1150" dirty="0"/>
          </a:p>
        </p:txBody>
      </p:sp>
      <p:sp>
        <p:nvSpPr>
          <p:cNvPr id="17" name="Shape 15"/>
          <p:cNvSpPr/>
          <p:nvPr/>
        </p:nvSpPr>
        <p:spPr>
          <a:xfrm>
            <a:off x="548640" y="3703320"/>
            <a:ext cx="10698480" cy="0"/>
          </a:xfrm>
          <a:prstGeom prst="line">
            <a:avLst/>
          </a:prstGeom>
          <a:noFill/>
          <a:ln w="12700">
            <a:solidFill>
              <a:srgbClr val="E3E7EA"/>
            </a:solidFill>
            <a:prstDash val="solid"/>
          </a:ln>
        </p:spPr>
        <p:txBody>
          <a:bodyPr/>
          <a:lstStyle/>
          <a:p>
            <a:endParaRPr lang="en-US"/>
          </a:p>
        </p:txBody>
      </p:sp>
      <p:sp>
        <p:nvSpPr>
          <p:cNvPr id="18" name="Text 16"/>
          <p:cNvSpPr/>
          <p:nvPr/>
        </p:nvSpPr>
        <p:spPr>
          <a:xfrm>
            <a:off x="548640" y="3931920"/>
            <a:ext cx="5029200" cy="365760"/>
          </a:xfrm>
          <a:prstGeom prst="rect">
            <a:avLst/>
          </a:prstGeom>
          <a:noFill/>
          <a:ln/>
        </p:spPr>
        <p:txBody>
          <a:bodyPr wrap="square" rtlCol="0" anchor="ctr"/>
          <a:lstStyle/>
          <a:p>
            <a:pPr marL="0" indent="0">
              <a:buNone/>
            </a:pPr>
            <a:r>
              <a:rPr lang="en-US" sz="1400" b="1" dirty="0">
                <a:solidFill>
                  <a:srgbClr val="42637E"/>
                </a:solidFill>
                <a:latin typeface="Calibri" pitchFamily="34" charset="0"/>
                <a:ea typeface="Calibri" pitchFamily="34" charset="-122"/>
                <a:cs typeface="Calibri" pitchFamily="34" charset="-120"/>
              </a:rPr>
              <a:t>Required Fields Collected</a:t>
            </a:r>
            <a:endParaRPr lang="en-US" sz="1400" dirty="0"/>
          </a:p>
        </p:txBody>
      </p:sp>
      <p:sp>
        <p:nvSpPr>
          <p:cNvPr id="19" name="Text 17"/>
          <p:cNvSpPr/>
          <p:nvPr/>
        </p:nvSpPr>
        <p:spPr>
          <a:xfrm>
            <a:off x="548640" y="4389120"/>
            <a:ext cx="4846320" cy="347472"/>
          </a:xfrm>
          <a:prstGeom prst="rect">
            <a:avLst/>
          </a:prstGeom>
          <a:noFill/>
          <a:ln/>
        </p:spPr>
        <p:txBody>
          <a:bodyPr wrap="square" rtlCol="0" anchor="ctr"/>
          <a:lstStyle/>
          <a:p>
            <a:pPr marL="342900" indent="-342900">
              <a:buSzPct val="100000"/>
              <a:buChar char="•"/>
            </a:pPr>
            <a:r>
              <a:rPr lang="en-US" sz="1300" dirty="0">
                <a:solidFill>
                  <a:srgbClr val="33414F"/>
                </a:solidFill>
                <a:latin typeface="Calibri" pitchFamily="34" charset="0"/>
                <a:ea typeface="Calibri" pitchFamily="34" charset="-122"/>
                <a:cs typeface="Calibri" pitchFamily="34" charset="-120"/>
              </a:rPr>
              <a:t>Country / region name</a:t>
            </a:r>
            <a:endParaRPr lang="en-US" sz="1300" dirty="0"/>
          </a:p>
        </p:txBody>
      </p:sp>
      <p:sp>
        <p:nvSpPr>
          <p:cNvPr id="20" name="Text 18"/>
          <p:cNvSpPr/>
          <p:nvPr/>
        </p:nvSpPr>
        <p:spPr>
          <a:xfrm>
            <a:off x="548640" y="4773168"/>
            <a:ext cx="4846320" cy="347472"/>
          </a:xfrm>
          <a:prstGeom prst="rect">
            <a:avLst/>
          </a:prstGeom>
          <a:noFill/>
          <a:ln/>
        </p:spPr>
        <p:txBody>
          <a:bodyPr wrap="square" rtlCol="0" anchor="ctr"/>
          <a:lstStyle/>
          <a:p>
            <a:pPr marL="342900" indent="-342900">
              <a:buSzPct val="100000"/>
              <a:buChar char="•"/>
            </a:pPr>
            <a:r>
              <a:rPr lang="en-US" sz="1300" dirty="0">
                <a:solidFill>
                  <a:srgbClr val="33414F"/>
                </a:solidFill>
                <a:latin typeface="Calibri" pitchFamily="34" charset="0"/>
                <a:ea typeface="Calibri" pitchFamily="34" charset="-122"/>
                <a:cs typeface="Calibri" pitchFamily="34" charset="-120"/>
              </a:rPr>
              <a:t>Year</a:t>
            </a:r>
            <a:endParaRPr lang="en-US" sz="1300" dirty="0"/>
          </a:p>
        </p:txBody>
      </p:sp>
      <p:sp>
        <p:nvSpPr>
          <p:cNvPr id="21" name="Text 19"/>
          <p:cNvSpPr/>
          <p:nvPr/>
        </p:nvSpPr>
        <p:spPr>
          <a:xfrm>
            <a:off x="548640" y="5157216"/>
            <a:ext cx="4846320" cy="347472"/>
          </a:xfrm>
          <a:prstGeom prst="rect">
            <a:avLst/>
          </a:prstGeom>
          <a:noFill/>
          <a:ln/>
        </p:spPr>
        <p:txBody>
          <a:bodyPr wrap="square" rtlCol="0" anchor="ctr"/>
          <a:lstStyle/>
          <a:p>
            <a:pPr marL="342900" indent="-342900">
              <a:buSzPct val="100000"/>
              <a:buChar char="•"/>
            </a:pPr>
            <a:r>
              <a:rPr lang="en-US" sz="1300" dirty="0">
                <a:solidFill>
                  <a:srgbClr val="33414F"/>
                </a:solidFill>
                <a:latin typeface="Calibri" pitchFamily="34" charset="0"/>
                <a:ea typeface="Calibri" pitchFamily="34" charset="-122"/>
                <a:cs typeface="Calibri" pitchFamily="34" charset="-120"/>
              </a:rPr>
              <a:t>Population</a:t>
            </a:r>
            <a:endParaRPr lang="en-US" sz="1300" dirty="0"/>
          </a:p>
        </p:txBody>
      </p:sp>
      <p:sp>
        <p:nvSpPr>
          <p:cNvPr id="22" name="Text 20"/>
          <p:cNvSpPr/>
          <p:nvPr/>
        </p:nvSpPr>
        <p:spPr>
          <a:xfrm>
            <a:off x="548640" y="5541264"/>
            <a:ext cx="4846320" cy="347472"/>
          </a:xfrm>
          <a:prstGeom prst="rect">
            <a:avLst/>
          </a:prstGeom>
          <a:noFill/>
          <a:ln/>
        </p:spPr>
        <p:txBody>
          <a:bodyPr wrap="square" rtlCol="0" anchor="ctr"/>
          <a:lstStyle/>
          <a:p>
            <a:pPr marL="342900" indent="-342900">
              <a:buSzPct val="100000"/>
              <a:buChar char="•"/>
            </a:pPr>
            <a:r>
              <a:rPr lang="en-US" sz="1300" dirty="0">
                <a:solidFill>
                  <a:srgbClr val="33414F"/>
                </a:solidFill>
                <a:latin typeface="Calibri" pitchFamily="34" charset="0"/>
                <a:ea typeface="Calibri" pitchFamily="34" charset="-122"/>
                <a:cs typeface="Calibri" pitchFamily="34" charset="-120"/>
              </a:rPr>
              <a:t>Continent / region category</a:t>
            </a:r>
            <a:endParaRPr lang="en-US" sz="1300" dirty="0"/>
          </a:p>
        </p:txBody>
      </p:sp>
      <p:sp>
        <p:nvSpPr>
          <p:cNvPr id="23" name="Shape 21"/>
          <p:cNvSpPr/>
          <p:nvPr/>
        </p:nvSpPr>
        <p:spPr>
          <a:xfrm>
            <a:off x="5989320" y="3931920"/>
            <a:ext cx="0" cy="2103120"/>
          </a:xfrm>
          <a:prstGeom prst="line">
            <a:avLst/>
          </a:prstGeom>
          <a:noFill/>
          <a:ln w="12700">
            <a:solidFill>
              <a:srgbClr val="E3E7EA"/>
            </a:solidFill>
            <a:prstDash val="solid"/>
          </a:ln>
        </p:spPr>
        <p:txBody>
          <a:bodyPr/>
          <a:lstStyle/>
          <a:p>
            <a:endParaRPr lang="en-US"/>
          </a:p>
        </p:txBody>
      </p:sp>
      <p:sp>
        <p:nvSpPr>
          <p:cNvPr id="24" name="Text 22"/>
          <p:cNvSpPr/>
          <p:nvPr/>
        </p:nvSpPr>
        <p:spPr>
          <a:xfrm>
            <a:off x="6263640" y="3931920"/>
            <a:ext cx="5029200" cy="365760"/>
          </a:xfrm>
          <a:prstGeom prst="rect">
            <a:avLst/>
          </a:prstGeom>
          <a:noFill/>
          <a:ln/>
        </p:spPr>
        <p:txBody>
          <a:bodyPr wrap="square" rtlCol="0" anchor="ctr"/>
          <a:lstStyle/>
          <a:p>
            <a:pPr marL="0" indent="0">
              <a:buNone/>
            </a:pPr>
            <a:r>
              <a:rPr lang="en-US" sz="1400" b="1" dirty="0">
                <a:solidFill>
                  <a:srgbClr val="42637E"/>
                </a:solidFill>
                <a:latin typeface="Calibri" pitchFamily="34" charset="0"/>
                <a:ea typeface="Calibri" pitchFamily="34" charset="-122"/>
                <a:cs typeface="Calibri" pitchFamily="34" charset="-120"/>
              </a:rPr>
              <a:t>Why This Dataset</a:t>
            </a:r>
            <a:endParaRPr lang="en-US" sz="1400" dirty="0"/>
          </a:p>
        </p:txBody>
      </p:sp>
      <p:sp>
        <p:nvSpPr>
          <p:cNvPr id="25" name="Text 23"/>
          <p:cNvSpPr/>
          <p:nvPr/>
        </p:nvSpPr>
        <p:spPr>
          <a:xfrm>
            <a:off x="6263640" y="4389120"/>
            <a:ext cx="5120640" cy="347472"/>
          </a:xfrm>
          <a:prstGeom prst="rect">
            <a:avLst/>
          </a:prstGeom>
          <a:noFill/>
          <a:ln/>
        </p:spPr>
        <p:txBody>
          <a:bodyPr wrap="square" rtlCol="0" anchor="ctr"/>
          <a:lstStyle/>
          <a:p>
            <a:pPr marL="342900" indent="-342900">
              <a:buSzPct val="100000"/>
              <a:buChar char="•"/>
            </a:pPr>
            <a:r>
              <a:rPr lang="en-US" sz="1300" dirty="0">
                <a:solidFill>
                  <a:srgbClr val="33414F"/>
                </a:solidFill>
                <a:latin typeface="Calibri" pitchFamily="34" charset="0"/>
                <a:ea typeface="Calibri" pitchFamily="34" charset="-122"/>
                <a:cs typeface="Calibri" pitchFamily="34" charset="-120"/>
              </a:rPr>
              <a:t>Clears the project minimums (50+ countries, 30+ years) by a wide margin</a:t>
            </a:r>
            <a:endParaRPr lang="en-US" sz="1300" dirty="0"/>
          </a:p>
        </p:txBody>
      </p:sp>
      <p:sp>
        <p:nvSpPr>
          <p:cNvPr id="26" name="Text 24"/>
          <p:cNvSpPr/>
          <p:nvPr/>
        </p:nvSpPr>
        <p:spPr>
          <a:xfrm>
            <a:off x="6263640" y="4773168"/>
            <a:ext cx="5120640" cy="347472"/>
          </a:xfrm>
          <a:prstGeom prst="rect">
            <a:avLst/>
          </a:prstGeom>
          <a:noFill/>
          <a:ln/>
        </p:spPr>
        <p:txBody>
          <a:bodyPr wrap="square" rtlCol="0" anchor="ctr"/>
          <a:lstStyle/>
          <a:p>
            <a:pPr marL="342900" indent="-342900">
              <a:buSzPct val="100000"/>
              <a:buChar char="•"/>
            </a:pPr>
            <a:r>
              <a:rPr lang="en-US" sz="1300" dirty="0">
                <a:solidFill>
                  <a:srgbClr val="33414F"/>
                </a:solidFill>
                <a:latin typeface="Calibri" pitchFamily="34" charset="0"/>
                <a:ea typeface="Calibri" pitchFamily="34" charset="-122"/>
                <a:cs typeface="Calibri" pitchFamily="34" charset="-120"/>
              </a:rPr>
              <a:t>Authoritative, current, and freely available</a:t>
            </a:r>
            <a:endParaRPr lang="en-US" sz="1300" dirty="0"/>
          </a:p>
        </p:txBody>
      </p:sp>
      <p:sp>
        <p:nvSpPr>
          <p:cNvPr id="27" name="Text 25"/>
          <p:cNvSpPr/>
          <p:nvPr/>
        </p:nvSpPr>
        <p:spPr>
          <a:xfrm>
            <a:off x="6263640" y="5157216"/>
            <a:ext cx="5120640" cy="347472"/>
          </a:xfrm>
          <a:prstGeom prst="rect">
            <a:avLst/>
          </a:prstGeom>
          <a:noFill/>
          <a:ln/>
        </p:spPr>
        <p:txBody>
          <a:bodyPr wrap="square" rtlCol="0" anchor="ctr"/>
          <a:lstStyle/>
          <a:p>
            <a:pPr marL="342900" indent="-342900">
              <a:buSzPct val="100000"/>
              <a:buChar char="•"/>
            </a:pPr>
            <a:r>
              <a:rPr lang="en-US" sz="1300" dirty="0">
                <a:solidFill>
                  <a:srgbClr val="33414F"/>
                </a:solidFill>
                <a:latin typeface="Calibri" pitchFamily="34" charset="0"/>
                <a:ea typeface="Calibri" pitchFamily="34" charset="-122"/>
                <a:cs typeface="Calibri" pitchFamily="34" charset="-120"/>
              </a:rPr>
              <a:t>Comes with a continent grouping built in</a:t>
            </a:r>
            <a:endParaRPr lang="en-US" sz="1300" dirty="0"/>
          </a:p>
        </p:txBody>
      </p:sp>
      <p:sp>
        <p:nvSpPr>
          <p:cNvPr id="28" name="Text 26"/>
          <p:cNvSpPr/>
          <p:nvPr/>
        </p:nvSpPr>
        <p:spPr>
          <a:xfrm>
            <a:off x="6263640" y="5541264"/>
            <a:ext cx="5120640" cy="347472"/>
          </a:xfrm>
          <a:prstGeom prst="rect">
            <a:avLst/>
          </a:prstGeom>
          <a:noFill/>
          <a:ln/>
        </p:spPr>
        <p:txBody>
          <a:bodyPr wrap="square" rtlCol="0" anchor="ctr"/>
          <a:lstStyle/>
          <a:p>
            <a:pPr marL="342900" indent="-342900">
              <a:buSzPct val="100000"/>
              <a:buChar char="•"/>
            </a:pPr>
            <a:r>
              <a:rPr lang="en-US" sz="1300" dirty="0">
                <a:solidFill>
                  <a:srgbClr val="33414F"/>
                </a:solidFill>
                <a:latin typeface="Calibri" pitchFamily="34" charset="0"/>
                <a:ea typeface="Calibri" pitchFamily="34" charset="-122"/>
                <a:cs typeface="Calibri" pitchFamily="34" charset="-120"/>
              </a:rPr>
              <a:t>Spans enough time to model long-term trends</a:t>
            </a:r>
            <a:endParaRPr lang="en-US" sz="1300" dirty="0"/>
          </a:p>
        </p:txBody>
      </p:sp>
      <p:sp>
        <p:nvSpPr>
          <p:cNvPr id="29" name="Text 27"/>
          <p:cNvSpPr/>
          <p:nvPr/>
        </p:nvSpPr>
        <p:spPr>
          <a:xfrm>
            <a:off x="457200" y="6510528"/>
            <a:ext cx="7315200" cy="274320"/>
          </a:xfrm>
          <a:prstGeom prst="rect">
            <a:avLst/>
          </a:prstGeom>
          <a:noFill/>
          <a:ln/>
        </p:spPr>
        <p:txBody>
          <a:bodyPr wrap="square" rtlCol="0" anchor="ctr"/>
          <a:lstStyle/>
          <a:p>
            <a:pPr marL="0" indent="0">
              <a:buNone/>
            </a:pPr>
            <a:r>
              <a:rPr lang="en-US" sz="900" dirty="0">
                <a:solidFill>
                  <a:srgbClr val="71808E"/>
                </a:solidFill>
                <a:latin typeface="Calibri" pitchFamily="34" charset="0"/>
                <a:ea typeface="Calibri" pitchFamily="34" charset="-122"/>
                <a:cs typeface="Calibri" pitchFamily="34" charset="-120"/>
              </a:rPr>
              <a:t>Population Growth Analysis and Forecasting</a:t>
            </a:r>
            <a:endParaRPr lang="en-US" sz="900" dirty="0"/>
          </a:p>
        </p:txBody>
      </p:sp>
      <p:sp>
        <p:nvSpPr>
          <p:cNvPr id="30" name="Text 28"/>
          <p:cNvSpPr/>
          <p:nvPr/>
        </p:nvSpPr>
        <p:spPr>
          <a:xfrm>
            <a:off x="11430000" y="6510528"/>
            <a:ext cx="365760" cy="274320"/>
          </a:xfrm>
          <a:prstGeom prst="rect">
            <a:avLst/>
          </a:prstGeom>
          <a:noFill/>
          <a:ln/>
        </p:spPr>
        <p:txBody>
          <a:bodyPr wrap="square" rtlCol="0" anchor="ctr"/>
          <a:lstStyle/>
          <a:p>
            <a:pPr marL="0" indent="0" algn="r">
              <a:buNone/>
            </a:pPr>
            <a:r>
              <a:rPr lang="en-US" sz="900" dirty="0">
                <a:solidFill>
                  <a:srgbClr val="71808E"/>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rtlCol="0" anchor="ctr"/>
          <a:lstStyle/>
          <a:p>
            <a:pPr marL="0" indent="0">
              <a:buNone/>
            </a:pPr>
            <a:r>
              <a:rPr lang="en-US" sz="1300" b="1" kern="0" spc="200" dirty="0">
                <a:solidFill>
                  <a:srgbClr val="B08D57"/>
                </a:solidFill>
                <a:latin typeface="Calibri" pitchFamily="34" charset="0"/>
                <a:ea typeface="Calibri" pitchFamily="34" charset="-122"/>
                <a:cs typeface="Calibri" pitchFamily="34" charset="-120"/>
              </a:rPr>
              <a:t>SECTION 2</a:t>
            </a:r>
            <a:endParaRPr lang="en-US" sz="1300" dirty="0"/>
          </a:p>
        </p:txBody>
      </p:sp>
      <p:sp>
        <p:nvSpPr>
          <p:cNvPr id="3" name="Text 1"/>
          <p:cNvSpPr/>
          <p:nvPr/>
        </p:nvSpPr>
        <p:spPr>
          <a:xfrm>
            <a:off x="548640" y="566928"/>
            <a:ext cx="10515600" cy="640080"/>
          </a:xfrm>
          <a:prstGeom prst="rect">
            <a:avLst/>
          </a:prstGeom>
          <a:noFill/>
          <a:ln/>
        </p:spPr>
        <p:txBody>
          <a:bodyPr wrap="square" rtlCol="0" anchor="ctr"/>
          <a:lstStyle/>
          <a:p>
            <a:pPr marL="0" indent="0">
              <a:buNone/>
            </a:pPr>
            <a:r>
              <a:rPr lang="en-US" sz="3000" b="1" dirty="0">
                <a:solidFill>
                  <a:srgbClr val="42637E"/>
                </a:solidFill>
                <a:latin typeface="Georgia" pitchFamily="34" charset="0"/>
                <a:ea typeface="Georgia" pitchFamily="34" charset="-122"/>
                <a:cs typeface="Georgia" pitchFamily="34" charset="-120"/>
              </a:rPr>
              <a:t>Data Cleaning &amp; Preprocessing</a:t>
            </a:r>
            <a:endParaRPr lang="en-US" sz="3000" dirty="0"/>
          </a:p>
        </p:txBody>
      </p:sp>
      <p:sp>
        <p:nvSpPr>
          <p:cNvPr id="4" name="Shape 2"/>
          <p:cNvSpPr/>
          <p:nvPr/>
        </p:nvSpPr>
        <p:spPr>
          <a:xfrm>
            <a:off x="548640" y="1737360"/>
            <a:ext cx="502920" cy="502920"/>
          </a:xfrm>
          <a:prstGeom prst="ellipse">
            <a:avLst/>
          </a:prstGeom>
          <a:solidFill>
            <a:srgbClr val="FFFFFF"/>
          </a:solidFill>
          <a:ln w="19050">
            <a:solidFill>
              <a:srgbClr val="42637E"/>
            </a:solidFill>
            <a:prstDash val="solid"/>
          </a:ln>
        </p:spPr>
        <p:txBody>
          <a:bodyPr/>
          <a:lstStyle/>
          <a:p>
            <a:endParaRPr lang="en-US"/>
          </a:p>
        </p:txBody>
      </p:sp>
      <p:sp>
        <p:nvSpPr>
          <p:cNvPr id="5" name="Text 3"/>
          <p:cNvSpPr/>
          <p:nvPr/>
        </p:nvSpPr>
        <p:spPr>
          <a:xfrm>
            <a:off x="548640" y="1737360"/>
            <a:ext cx="502920" cy="502920"/>
          </a:xfrm>
          <a:prstGeom prst="rect">
            <a:avLst/>
          </a:prstGeom>
          <a:noFill/>
          <a:ln/>
        </p:spPr>
        <p:txBody>
          <a:bodyPr wrap="square" rtlCol="0" anchor="ctr"/>
          <a:lstStyle/>
          <a:p>
            <a:pPr marL="0" indent="0" algn="ctr">
              <a:buNone/>
            </a:pPr>
            <a:r>
              <a:rPr lang="en-US" sz="1800" b="1" dirty="0">
                <a:solidFill>
                  <a:srgbClr val="42637E"/>
                </a:solidFill>
                <a:latin typeface="Georgia" pitchFamily="34" charset="0"/>
                <a:ea typeface="Georgia" pitchFamily="34" charset="-122"/>
                <a:cs typeface="Georgia" pitchFamily="34" charset="-120"/>
              </a:rPr>
              <a:t>1</a:t>
            </a:r>
            <a:endParaRPr lang="en-US" sz="1800" dirty="0"/>
          </a:p>
        </p:txBody>
      </p:sp>
      <p:sp>
        <p:nvSpPr>
          <p:cNvPr id="6" name="Text 4"/>
          <p:cNvSpPr/>
          <p:nvPr/>
        </p:nvSpPr>
        <p:spPr>
          <a:xfrm>
            <a:off x="548640" y="2423160"/>
            <a:ext cx="2377440" cy="365760"/>
          </a:xfrm>
          <a:prstGeom prst="rect">
            <a:avLst/>
          </a:prstGeom>
          <a:noFill/>
          <a:ln/>
        </p:spPr>
        <p:txBody>
          <a:bodyPr wrap="square" rtlCol="0" anchor="ctr"/>
          <a:lstStyle/>
          <a:p>
            <a:pPr marL="0" indent="0">
              <a:buNone/>
            </a:pPr>
            <a:r>
              <a:rPr lang="en-US" sz="1500" b="1" dirty="0">
                <a:solidFill>
                  <a:srgbClr val="42637E"/>
                </a:solidFill>
                <a:latin typeface="Calibri" pitchFamily="34" charset="0"/>
                <a:ea typeface="Calibri" pitchFamily="34" charset="-122"/>
                <a:cs typeface="Calibri" pitchFamily="34" charset="-120"/>
              </a:rPr>
              <a:t>Reshape</a:t>
            </a:r>
            <a:endParaRPr lang="en-US" sz="1500" dirty="0"/>
          </a:p>
        </p:txBody>
      </p:sp>
      <p:sp>
        <p:nvSpPr>
          <p:cNvPr id="7" name="Text 5"/>
          <p:cNvSpPr/>
          <p:nvPr/>
        </p:nvSpPr>
        <p:spPr>
          <a:xfrm>
            <a:off x="548640" y="2834640"/>
            <a:ext cx="2377440" cy="1645920"/>
          </a:xfrm>
          <a:prstGeom prst="rect">
            <a:avLst/>
          </a:prstGeom>
          <a:noFill/>
          <a:ln/>
        </p:spPr>
        <p:txBody>
          <a:bodyPr wrap="square" rtlCol="0" anchor="t"/>
          <a:lstStyle/>
          <a:p>
            <a:pPr marL="0" indent="0">
              <a:buNone/>
            </a:pPr>
            <a:r>
              <a:rPr lang="en-US" sz="1150" dirty="0">
                <a:solidFill>
                  <a:srgbClr val="33414F"/>
                </a:solidFill>
                <a:latin typeface="Calibri" pitchFamily="34" charset="0"/>
                <a:ea typeface="Calibri" pitchFamily="34" charset="-122"/>
                <a:cs typeface="Calibri" pitchFamily="34" charset="-120"/>
              </a:rPr>
              <a:t>Melted wide-format columns (one per year) into a tidy long format with Country, Year, Population</a:t>
            </a:r>
            <a:endParaRPr lang="en-US" sz="1150" dirty="0"/>
          </a:p>
        </p:txBody>
      </p:sp>
      <p:sp>
        <p:nvSpPr>
          <p:cNvPr id="8" name="Shape 6"/>
          <p:cNvSpPr/>
          <p:nvPr/>
        </p:nvSpPr>
        <p:spPr>
          <a:xfrm>
            <a:off x="3081528" y="1783080"/>
            <a:ext cx="0" cy="2743200"/>
          </a:xfrm>
          <a:prstGeom prst="line">
            <a:avLst/>
          </a:prstGeom>
          <a:noFill/>
          <a:ln w="12700">
            <a:solidFill>
              <a:srgbClr val="E3E7EA"/>
            </a:solidFill>
            <a:prstDash val="solid"/>
          </a:ln>
        </p:spPr>
        <p:txBody>
          <a:bodyPr/>
          <a:lstStyle/>
          <a:p>
            <a:endParaRPr lang="en-US"/>
          </a:p>
        </p:txBody>
      </p:sp>
      <p:sp>
        <p:nvSpPr>
          <p:cNvPr id="9" name="Shape 7"/>
          <p:cNvSpPr/>
          <p:nvPr/>
        </p:nvSpPr>
        <p:spPr>
          <a:xfrm>
            <a:off x="3246120" y="1737360"/>
            <a:ext cx="502920" cy="502920"/>
          </a:xfrm>
          <a:prstGeom prst="ellipse">
            <a:avLst/>
          </a:prstGeom>
          <a:solidFill>
            <a:srgbClr val="FFFFFF"/>
          </a:solidFill>
          <a:ln w="19050">
            <a:solidFill>
              <a:srgbClr val="42637E"/>
            </a:solidFill>
            <a:prstDash val="solid"/>
          </a:ln>
        </p:spPr>
        <p:txBody>
          <a:bodyPr/>
          <a:lstStyle/>
          <a:p>
            <a:endParaRPr lang="en-US"/>
          </a:p>
        </p:txBody>
      </p:sp>
      <p:sp>
        <p:nvSpPr>
          <p:cNvPr id="10" name="Text 8"/>
          <p:cNvSpPr/>
          <p:nvPr/>
        </p:nvSpPr>
        <p:spPr>
          <a:xfrm>
            <a:off x="3246120" y="1737360"/>
            <a:ext cx="502920" cy="502920"/>
          </a:xfrm>
          <a:prstGeom prst="rect">
            <a:avLst/>
          </a:prstGeom>
          <a:noFill/>
          <a:ln/>
        </p:spPr>
        <p:txBody>
          <a:bodyPr wrap="square" rtlCol="0" anchor="ctr"/>
          <a:lstStyle/>
          <a:p>
            <a:pPr marL="0" indent="0" algn="ctr">
              <a:buNone/>
            </a:pPr>
            <a:r>
              <a:rPr lang="en-US" sz="1800" b="1" dirty="0">
                <a:solidFill>
                  <a:srgbClr val="42637E"/>
                </a:solidFill>
                <a:latin typeface="Georgia" pitchFamily="34" charset="0"/>
                <a:ea typeface="Georgia" pitchFamily="34" charset="-122"/>
                <a:cs typeface="Georgia" pitchFamily="34" charset="-120"/>
              </a:rPr>
              <a:t>2</a:t>
            </a:r>
            <a:endParaRPr lang="en-US" sz="1800" dirty="0"/>
          </a:p>
        </p:txBody>
      </p:sp>
      <p:sp>
        <p:nvSpPr>
          <p:cNvPr id="11" name="Text 9"/>
          <p:cNvSpPr/>
          <p:nvPr/>
        </p:nvSpPr>
        <p:spPr>
          <a:xfrm>
            <a:off x="3246120" y="2423160"/>
            <a:ext cx="2377440" cy="365760"/>
          </a:xfrm>
          <a:prstGeom prst="rect">
            <a:avLst/>
          </a:prstGeom>
          <a:noFill/>
          <a:ln/>
        </p:spPr>
        <p:txBody>
          <a:bodyPr wrap="square" rtlCol="0" anchor="ctr"/>
          <a:lstStyle/>
          <a:p>
            <a:pPr marL="0" indent="0">
              <a:buNone/>
            </a:pPr>
            <a:r>
              <a:rPr lang="en-US" sz="1500" b="1" dirty="0">
                <a:solidFill>
                  <a:srgbClr val="42637E"/>
                </a:solidFill>
                <a:latin typeface="Calibri" pitchFamily="34" charset="0"/>
                <a:ea typeface="Calibri" pitchFamily="34" charset="-122"/>
                <a:cs typeface="Calibri" pitchFamily="34" charset="-120"/>
              </a:rPr>
              <a:t>Fix Values</a:t>
            </a:r>
            <a:endParaRPr lang="en-US" sz="1500" dirty="0"/>
          </a:p>
        </p:txBody>
      </p:sp>
      <p:sp>
        <p:nvSpPr>
          <p:cNvPr id="12" name="Text 10"/>
          <p:cNvSpPr/>
          <p:nvPr/>
        </p:nvSpPr>
        <p:spPr>
          <a:xfrm>
            <a:off x="3246120" y="2834640"/>
            <a:ext cx="2377440" cy="1645920"/>
          </a:xfrm>
          <a:prstGeom prst="rect">
            <a:avLst/>
          </a:prstGeom>
          <a:noFill/>
          <a:ln/>
        </p:spPr>
        <p:txBody>
          <a:bodyPr wrap="square" rtlCol="0" anchor="t"/>
          <a:lstStyle/>
          <a:p>
            <a:pPr marL="0" indent="0">
              <a:buNone/>
            </a:pPr>
            <a:r>
              <a:rPr lang="en-US" sz="1150" dirty="0">
                <a:solidFill>
                  <a:srgbClr val="33414F"/>
                </a:solidFill>
                <a:latin typeface="Calibri" pitchFamily="34" charset="0"/>
                <a:ea typeface="Calibri" pitchFamily="34" charset="-122"/>
                <a:cs typeface="Calibri" pitchFamily="34" charset="-120"/>
              </a:rPr>
              <a:t>Removed commas, coerced to numeric, dropped rows missing Country / Year / Population</a:t>
            </a:r>
            <a:endParaRPr lang="en-US" sz="1150" dirty="0"/>
          </a:p>
        </p:txBody>
      </p:sp>
      <p:sp>
        <p:nvSpPr>
          <p:cNvPr id="13" name="Shape 11"/>
          <p:cNvSpPr/>
          <p:nvPr/>
        </p:nvSpPr>
        <p:spPr>
          <a:xfrm>
            <a:off x="5779008" y="1783080"/>
            <a:ext cx="0" cy="2743200"/>
          </a:xfrm>
          <a:prstGeom prst="line">
            <a:avLst/>
          </a:prstGeom>
          <a:noFill/>
          <a:ln w="12700">
            <a:solidFill>
              <a:srgbClr val="E3E7EA"/>
            </a:solidFill>
            <a:prstDash val="solid"/>
          </a:ln>
        </p:spPr>
        <p:txBody>
          <a:bodyPr/>
          <a:lstStyle/>
          <a:p>
            <a:endParaRPr lang="en-US"/>
          </a:p>
        </p:txBody>
      </p:sp>
      <p:sp>
        <p:nvSpPr>
          <p:cNvPr id="14" name="Shape 12"/>
          <p:cNvSpPr/>
          <p:nvPr/>
        </p:nvSpPr>
        <p:spPr>
          <a:xfrm>
            <a:off x="5943600" y="1737360"/>
            <a:ext cx="502920" cy="502920"/>
          </a:xfrm>
          <a:prstGeom prst="ellipse">
            <a:avLst/>
          </a:prstGeom>
          <a:solidFill>
            <a:srgbClr val="FFFFFF"/>
          </a:solidFill>
          <a:ln w="19050">
            <a:solidFill>
              <a:srgbClr val="42637E"/>
            </a:solidFill>
            <a:prstDash val="solid"/>
          </a:ln>
        </p:spPr>
        <p:txBody>
          <a:bodyPr/>
          <a:lstStyle/>
          <a:p>
            <a:endParaRPr lang="en-US"/>
          </a:p>
        </p:txBody>
      </p:sp>
      <p:sp>
        <p:nvSpPr>
          <p:cNvPr id="15" name="Text 13"/>
          <p:cNvSpPr/>
          <p:nvPr/>
        </p:nvSpPr>
        <p:spPr>
          <a:xfrm>
            <a:off x="5943600" y="1737360"/>
            <a:ext cx="502920" cy="502920"/>
          </a:xfrm>
          <a:prstGeom prst="rect">
            <a:avLst/>
          </a:prstGeom>
          <a:noFill/>
          <a:ln/>
        </p:spPr>
        <p:txBody>
          <a:bodyPr wrap="square" rtlCol="0" anchor="ctr"/>
          <a:lstStyle/>
          <a:p>
            <a:pPr marL="0" indent="0" algn="ctr">
              <a:buNone/>
            </a:pPr>
            <a:r>
              <a:rPr lang="en-US" sz="1800" b="1" dirty="0">
                <a:solidFill>
                  <a:srgbClr val="42637E"/>
                </a:solidFill>
                <a:latin typeface="Georgia" pitchFamily="34" charset="0"/>
                <a:ea typeface="Georgia" pitchFamily="34" charset="-122"/>
                <a:cs typeface="Georgia" pitchFamily="34" charset="-120"/>
              </a:rPr>
              <a:t>3</a:t>
            </a:r>
            <a:endParaRPr lang="en-US" sz="1800" dirty="0"/>
          </a:p>
        </p:txBody>
      </p:sp>
      <p:sp>
        <p:nvSpPr>
          <p:cNvPr id="16" name="Text 14"/>
          <p:cNvSpPr/>
          <p:nvPr/>
        </p:nvSpPr>
        <p:spPr>
          <a:xfrm>
            <a:off x="5943600" y="2423160"/>
            <a:ext cx="2377440" cy="365760"/>
          </a:xfrm>
          <a:prstGeom prst="rect">
            <a:avLst/>
          </a:prstGeom>
          <a:noFill/>
          <a:ln/>
        </p:spPr>
        <p:txBody>
          <a:bodyPr wrap="square" rtlCol="0" anchor="ctr"/>
          <a:lstStyle/>
          <a:p>
            <a:pPr marL="0" indent="0">
              <a:buNone/>
            </a:pPr>
            <a:r>
              <a:rPr lang="en-US" sz="1500" b="1" dirty="0">
                <a:solidFill>
                  <a:srgbClr val="42637E"/>
                </a:solidFill>
                <a:latin typeface="Calibri" pitchFamily="34" charset="0"/>
                <a:ea typeface="Calibri" pitchFamily="34" charset="-122"/>
                <a:cs typeface="Calibri" pitchFamily="34" charset="-120"/>
              </a:rPr>
              <a:t>De-duplicate</a:t>
            </a:r>
            <a:endParaRPr lang="en-US" sz="1500" dirty="0"/>
          </a:p>
        </p:txBody>
      </p:sp>
      <p:sp>
        <p:nvSpPr>
          <p:cNvPr id="17" name="Text 15"/>
          <p:cNvSpPr/>
          <p:nvPr/>
        </p:nvSpPr>
        <p:spPr>
          <a:xfrm>
            <a:off x="5943600" y="2834640"/>
            <a:ext cx="2377440" cy="1645920"/>
          </a:xfrm>
          <a:prstGeom prst="rect">
            <a:avLst/>
          </a:prstGeom>
          <a:noFill/>
          <a:ln/>
        </p:spPr>
        <p:txBody>
          <a:bodyPr wrap="square" rtlCol="0" anchor="t"/>
          <a:lstStyle/>
          <a:p>
            <a:pPr marL="0" indent="0">
              <a:buNone/>
            </a:pPr>
            <a:r>
              <a:rPr lang="en-US" sz="1150" dirty="0">
                <a:solidFill>
                  <a:srgbClr val="33414F"/>
                </a:solidFill>
                <a:latin typeface="Calibri" pitchFamily="34" charset="0"/>
                <a:ea typeface="Calibri" pitchFamily="34" charset="-122"/>
                <a:cs typeface="Calibri" pitchFamily="34" charset="-120"/>
              </a:rPr>
              <a:t>Removed duplicate rows and standardized country name formatting (USA → United States, etc.)</a:t>
            </a:r>
            <a:endParaRPr lang="en-US" sz="1150" dirty="0"/>
          </a:p>
        </p:txBody>
      </p:sp>
      <p:sp>
        <p:nvSpPr>
          <p:cNvPr id="18" name="Shape 16"/>
          <p:cNvSpPr/>
          <p:nvPr/>
        </p:nvSpPr>
        <p:spPr>
          <a:xfrm>
            <a:off x="8476488" y="1783080"/>
            <a:ext cx="0" cy="2743200"/>
          </a:xfrm>
          <a:prstGeom prst="line">
            <a:avLst/>
          </a:prstGeom>
          <a:noFill/>
          <a:ln w="12700">
            <a:solidFill>
              <a:srgbClr val="E3E7EA"/>
            </a:solidFill>
            <a:prstDash val="solid"/>
          </a:ln>
        </p:spPr>
        <p:txBody>
          <a:bodyPr/>
          <a:lstStyle/>
          <a:p>
            <a:endParaRPr lang="en-US"/>
          </a:p>
        </p:txBody>
      </p:sp>
      <p:sp>
        <p:nvSpPr>
          <p:cNvPr id="19" name="Shape 17"/>
          <p:cNvSpPr/>
          <p:nvPr/>
        </p:nvSpPr>
        <p:spPr>
          <a:xfrm>
            <a:off x="8641080" y="1737360"/>
            <a:ext cx="502920" cy="502920"/>
          </a:xfrm>
          <a:prstGeom prst="ellipse">
            <a:avLst/>
          </a:prstGeom>
          <a:solidFill>
            <a:srgbClr val="FFFFFF"/>
          </a:solidFill>
          <a:ln w="19050">
            <a:solidFill>
              <a:srgbClr val="42637E"/>
            </a:solidFill>
            <a:prstDash val="solid"/>
          </a:ln>
        </p:spPr>
        <p:txBody>
          <a:bodyPr/>
          <a:lstStyle/>
          <a:p>
            <a:endParaRPr lang="en-US"/>
          </a:p>
        </p:txBody>
      </p:sp>
      <p:sp>
        <p:nvSpPr>
          <p:cNvPr id="20" name="Text 18"/>
          <p:cNvSpPr/>
          <p:nvPr/>
        </p:nvSpPr>
        <p:spPr>
          <a:xfrm>
            <a:off x="8641080" y="1737360"/>
            <a:ext cx="502920" cy="502920"/>
          </a:xfrm>
          <a:prstGeom prst="rect">
            <a:avLst/>
          </a:prstGeom>
          <a:noFill/>
          <a:ln/>
        </p:spPr>
        <p:txBody>
          <a:bodyPr wrap="square" rtlCol="0" anchor="ctr"/>
          <a:lstStyle/>
          <a:p>
            <a:pPr marL="0" indent="0" algn="ctr">
              <a:buNone/>
            </a:pPr>
            <a:r>
              <a:rPr lang="en-US" sz="1800" b="1" dirty="0">
                <a:solidFill>
                  <a:srgbClr val="42637E"/>
                </a:solidFill>
                <a:latin typeface="Georgia" pitchFamily="34" charset="0"/>
                <a:ea typeface="Georgia" pitchFamily="34" charset="-122"/>
                <a:cs typeface="Georgia" pitchFamily="34" charset="-120"/>
              </a:rPr>
              <a:t>4</a:t>
            </a:r>
            <a:endParaRPr lang="en-US" sz="1800" dirty="0"/>
          </a:p>
        </p:txBody>
      </p:sp>
      <p:sp>
        <p:nvSpPr>
          <p:cNvPr id="21" name="Text 19"/>
          <p:cNvSpPr/>
          <p:nvPr/>
        </p:nvSpPr>
        <p:spPr>
          <a:xfrm>
            <a:off x="8641080" y="2423160"/>
            <a:ext cx="2377440" cy="365760"/>
          </a:xfrm>
          <a:prstGeom prst="rect">
            <a:avLst/>
          </a:prstGeom>
          <a:noFill/>
          <a:ln/>
        </p:spPr>
        <p:txBody>
          <a:bodyPr wrap="square" rtlCol="0" anchor="ctr"/>
          <a:lstStyle/>
          <a:p>
            <a:pPr marL="0" indent="0">
              <a:buNone/>
            </a:pPr>
            <a:r>
              <a:rPr lang="en-US" sz="1500" b="1" dirty="0">
                <a:solidFill>
                  <a:srgbClr val="42637E"/>
                </a:solidFill>
                <a:latin typeface="Calibri" pitchFamily="34" charset="0"/>
                <a:ea typeface="Calibri" pitchFamily="34" charset="-122"/>
                <a:cs typeface="Calibri" pitchFamily="34" charset="-120"/>
              </a:rPr>
              <a:t>Engineer Features</a:t>
            </a:r>
            <a:endParaRPr lang="en-US" sz="1500" dirty="0"/>
          </a:p>
        </p:txBody>
      </p:sp>
      <p:sp>
        <p:nvSpPr>
          <p:cNvPr id="22" name="Text 20"/>
          <p:cNvSpPr/>
          <p:nvPr/>
        </p:nvSpPr>
        <p:spPr>
          <a:xfrm>
            <a:off x="8641080" y="2834640"/>
            <a:ext cx="2377440" cy="1645920"/>
          </a:xfrm>
          <a:prstGeom prst="rect">
            <a:avLst/>
          </a:prstGeom>
          <a:noFill/>
          <a:ln/>
        </p:spPr>
        <p:txBody>
          <a:bodyPr wrap="square" rtlCol="0" anchor="t"/>
          <a:lstStyle/>
          <a:p>
            <a:pPr marL="0" indent="0">
              <a:buNone/>
            </a:pPr>
            <a:r>
              <a:rPr lang="en-US" sz="1150" dirty="0">
                <a:solidFill>
                  <a:srgbClr val="33414F"/>
                </a:solidFill>
                <a:latin typeface="Calibri" pitchFamily="34" charset="0"/>
                <a:ea typeface="Calibri" pitchFamily="34" charset="-122"/>
                <a:cs typeface="Calibri" pitchFamily="34" charset="-120"/>
              </a:rPr>
              <a:t>Added Annual Change, Growth Rate %, Decade, and Growth Category columns</a:t>
            </a:r>
            <a:endParaRPr lang="en-US" sz="1150" dirty="0"/>
          </a:p>
        </p:txBody>
      </p:sp>
      <p:sp>
        <p:nvSpPr>
          <p:cNvPr id="23" name="Shape 21"/>
          <p:cNvSpPr/>
          <p:nvPr/>
        </p:nvSpPr>
        <p:spPr>
          <a:xfrm>
            <a:off x="548640" y="5074920"/>
            <a:ext cx="10698480" cy="0"/>
          </a:xfrm>
          <a:prstGeom prst="line">
            <a:avLst/>
          </a:prstGeom>
          <a:noFill/>
          <a:ln w="12700">
            <a:solidFill>
              <a:srgbClr val="E3E7EA"/>
            </a:solidFill>
            <a:prstDash val="solid"/>
          </a:ln>
        </p:spPr>
        <p:txBody>
          <a:bodyPr/>
          <a:lstStyle/>
          <a:p>
            <a:endParaRPr lang="en-US"/>
          </a:p>
        </p:txBody>
      </p:sp>
      <p:sp>
        <p:nvSpPr>
          <p:cNvPr id="24" name="Text 22"/>
          <p:cNvSpPr/>
          <p:nvPr/>
        </p:nvSpPr>
        <p:spPr>
          <a:xfrm>
            <a:off x="548640" y="5257800"/>
            <a:ext cx="10698480" cy="548640"/>
          </a:xfrm>
          <a:prstGeom prst="rect">
            <a:avLst/>
          </a:prstGeom>
          <a:noFill/>
          <a:ln/>
        </p:spPr>
        <p:txBody>
          <a:bodyPr wrap="square" rtlCol="0" anchor="t"/>
          <a:lstStyle/>
          <a:p>
            <a:pPr marL="0" indent="0">
              <a:buNone/>
            </a:pPr>
            <a:r>
              <a:rPr lang="en-US" sz="1300" b="1" dirty="0">
                <a:solidFill>
                  <a:srgbClr val="42637E"/>
                </a:solidFill>
                <a:latin typeface="Calibri" pitchFamily="34" charset="0"/>
                <a:ea typeface="Calibri" pitchFamily="34" charset="-122"/>
                <a:cs typeface="Calibri" pitchFamily="34" charset="-120"/>
              </a:rPr>
              <a:t>Result:  </a:t>
            </a:r>
            <a:r>
              <a:rPr lang="en-US" sz="1300" dirty="0">
                <a:solidFill>
                  <a:srgbClr val="33414F"/>
                </a:solidFill>
                <a:latin typeface="Calibri" pitchFamily="34" charset="0"/>
                <a:ea typeface="Calibri" pitchFamily="34" charset="-122"/>
                <a:cs typeface="Calibri" pitchFamily="34" charset="-120"/>
              </a:rPr>
              <a:t>A clean dataset of 12,870 country-year records with zero missing values in the core analytical fields — saved as Cleaned_Population_Data.csv</a:t>
            </a:r>
            <a:endParaRPr lang="en-US" sz="1300" dirty="0"/>
          </a:p>
        </p:txBody>
      </p:sp>
      <p:sp>
        <p:nvSpPr>
          <p:cNvPr id="25" name="Text 23"/>
          <p:cNvSpPr/>
          <p:nvPr/>
        </p:nvSpPr>
        <p:spPr>
          <a:xfrm>
            <a:off x="457200" y="6510528"/>
            <a:ext cx="7315200" cy="274320"/>
          </a:xfrm>
          <a:prstGeom prst="rect">
            <a:avLst/>
          </a:prstGeom>
          <a:noFill/>
          <a:ln/>
        </p:spPr>
        <p:txBody>
          <a:bodyPr wrap="square" rtlCol="0" anchor="ctr"/>
          <a:lstStyle/>
          <a:p>
            <a:pPr marL="0" indent="0">
              <a:buNone/>
            </a:pPr>
            <a:r>
              <a:rPr lang="en-US" sz="900" dirty="0">
                <a:solidFill>
                  <a:srgbClr val="71808E"/>
                </a:solidFill>
                <a:latin typeface="Calibri" pitchFamily="34" charset="0"/>
                <a:ea typeface="Calibri" pitchFamily="34" charset="-122"/>
                <a:cs typeface="Calibri" pitchFamily="34" charset="-120"/>
              </a:rPr>
              <a:t>Population Growth Analysis and Forecasting</a:t>
            </a:r>
            <a:endParaRPr lang="en-US" sz="900" dirty="0"/>
          </a:p>
        </p:txBody>
      </p:sp>
      <p:sp>
        <p:nvSpPr>
          <p:cNvPr id="26" name="Text 24"/>
          <p:cNvSpPr/>
          <p:nvPr/>
        </p:nvSpPr>
        <p:spPr>
          <a:xfrm>
            <a:off x="11430000" y="6510528"/>
            <a:ext cx="365760" cy="274320"/>
          </a:xfrm>
          <a:prstGeom prst="rect">
            <a:avLst/>
          </a:prstGeom>
          <a:noFill/>
          <a:ln/>
        </p:spPr>
        <p:txBody>
          <a:bodyPr wrap="square" rtlCol="0" anchor="ctr"/>
          <a:lstStyle/>
          <a:p>
            <a:pPr marL="0" indent="0" algn="r">
              <a:buNone/>
            </a:pPr>
            <a:r>
              <a:rPr lang="en-US" sz="900" dirty="0">
                <a:solidFill>
                  <a:srgbClr val="71808E"/>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rtlCol="0" anchor="ctr"/>
          <a:lstStyle/>
          <a:p>
            <a:pPr marL="0" indent="0">
              <a:buNone/>
            </a:pPr>
            <a:r>
              <a:rPr lang="en-US" sz="1300" b="1" kern="0" spc="200" dirty="0">
                <a:solidFill>
                  <a:srgbClr val="B08D57"/>
                </a:solidFill>
                <a:latin typeface="Calibri" pitchFamily="34" charset="0"/>
                <a:ea typeface="Calibri" pitchFamily="34" charset="-122"/>
                <a:cs typeface="Calibri" pitchFamily="34" charset="-120"/>
              </a:rPr>
              <a:t>SECTION 3</a:t>
            </a:r>
            <a:endParaRPr lang="en-US" sz="1300" dirty="0"/>
          </a:p>
        </p:txBody>
      </p:sp>
      <p:sp>
        <p:nvSpPr>
          <p:cNvPr id="3" name="Text 1"/>
          <p:cNvSpPr/>
          <p:nvPr/>
        </p:nvSpPr>
        <p:spPr>
          <a:xfrm>
            <a:off x="548640" y="566928"/>
            <a:ext cx="10515600" cy="640080"/>
          </a:xfrm>
          <a:prstGeom prst="rect">
            <a:avLst/>
          </a:prstGeom>
          <a:noFill/>
          <a:ln/>
        </p:spPr>
        <p:txBody>
          <a:bodyPr wrap="square" rtlCol="0" anchor="ctr"/>
          <a:lstStyle/>
          <a:p>
            <a:pPr marL="0" indent="0">
              <a:buNone/>
            </a:pPr>
            <a:r>
              <a:rPr lang="en-US" sz="3000" b="1" dirty="0">
                <a:solidFill>
                  <a:srgbClr val="42637E"/>
                </a:solidFill>
                <a:latin typeface="Georgia" pitchFamily="34" charset="0"/>
                <a:ea typeface="Georgia" pitchFamily="34" charset="-122"/>
                <a:cs typeface="Georgia" pitchFamily="34" charset="-120"/>
              </a:rPr>
              <a:t>Methodology &amp; Tools</a:t>
            </a:r>
            <a:endParaRPr lang="en-US" sz="3000" dirty="0"/>
          </a:p>
        </p:txBody>
      </p:sp>
      <p:pic>
        <p:nvPicPr>
          <p:cNvPr id="4" name="Image 0" descr="/home/claude/assets/icon_cogs_blue.png"/>
          <p:cNvPicPr>
            <a:picLocks noChangeAspect="1"/>
          </p:cNvPicPr>
          <p:nvPr/>
        </p:nvPicPr>
        <p:blipFill>
          <a:blip r:embed="rId3"/>
          <a:stretch>
            <a:fillRect/>
          </a:stretch>
        </p:blipFill>
        <p:spPr>
          <a:xfrm>
            <a:off x="548640" y="1417320"/>
            <a:ext cx="411480" cy="411480"/>
          </a:xfrm>
          <a:prstGeom prst="rect">
            <a:avLst/>
          </a:prstGeom>
        </p:spPr>
      </p:pic>
      <p:sp>
        <p:nvSpPr>
          <p:cNvPr id="5" name="Text 2"/>
          <p:cNvSpPr/>
          <p:nvPr/>
        </p:nvSpPr>
        <p:spPr>
          <a:xfrm>
            <a:off x="1051560" y="1417320"/>
            <a:ext cx="3657600" cy="411480"/>
          </a:xfrm>
          <a:prstGeom prst="rect">
            <a:avLst/>
          </a:prstGeom>
          <a:noFill/>
          <a:ln/>
        </p:spPr>
        <p:txBody>
          <a:bodyPr wrap="square" rtlCol="0" anchor="ctr"/>
          <a:lstStyle/>
          <a:p>
            <a:pPr marL="0" indent="0">
              <a:buNone/>
            </a:pPr>
            <a:r>
              <a:rPr lang="en-US" sz="1600" b="1" dirty="0">
                <a:solidFill>
                  <a:srgbClr val="42637E"/>
                </a:solidFill>
                <a:latin typeface="Calibri" pitchFamily="34" charset="0"/>
                <a:ea typeface="Calibri" pitchFamily="34" charset="-122"/>
                <a:cs typeface="Calibri" pitchFamily="34" charset="-120"/>
              </a:rPr>
              <a:t>Tools Used</a:t>
            </a:r>
            <a:endParaRPr lang="en-US" sz="1600" dirty="0"/>
          </a:p>
        </p:txBody>
      </p:sp>
      <p:sp>
        <p:nvSpPr>
          <p:cNvPr id="6" name="Shape 3"/>
          <p:cNvSpPr/>
          <p:nvPr/>
        </p:nvSpPr>
        <p:spPr>
          <a:xfrm>
            <a:off x="548640" y="1965960"/>
            <a:ext cx="5349240" cy="594360"/>
          </a:xfrm>
          <a:prstGeom prst="roundRect">
            <a:avLst>
              <a:gd name="adj" fmla="val 6154"/>
            </a:avLst>
          </a:prstGeom>
          <a:solidFill>
            <a:srgbClr val="F2F4F6"/>
          </a:solidFill>
          <a:ln/>
        </p:spPr>
        <p:txBody>
          <a:bodyPr/>
          <a:lstStyle/>
          <a:p>
            <a:endParaRPr lang="en-US"/>
          </a:p>
        </p:txBody>
      </p:sp>
      <p:sp>
        <p:nvSpPr>
          <p:cNvPr id="7" name="Text 4"/>
          <p:cNvSpPr/>
          <p:nvPr/>
        </p:nvSpPr>
        <p:spPr>
          <a:xfrm>
            <a:off x="731520" y="1965960"/>
            <a:ext cx="1737360" cy="594360"/>
          </a:xfrm>
          <a:prstGeom prst="rect">
            <a:avLst/>
          </a:prstGeom>
          <a:noFill/>
          <a:ln/>
        </p:spPr>
        <p:txBody>
          <a:bodyPr wrap="square" rtlCol="0" anchor="ctr"/>
          <a:lstStyle/>
          <a:p>
            <a:pPr marL="0" indent="0">
              <a:buNone/>
            </a:pPr>
            <a:r>
              <a:rPr lang="en-US" sz="1300" b="1" dirty="0">
                <a:solidFill>
                  <a:srgbClr val="42637E"/>
                </a:solidFill>
                <a:latin typeface="Calibri" pitchFamily="34" charset="0"/>
                <a:ea typeface="Calibri" pitchFamily="34" charset="-122"/>
                <a:cs typeface="Calibri" pitchFamily="34" charset="-120"/>
              </a:rPr>
              <a:t>pandas</a:t>
            </a:r>
            <a:endParaRPr lang="en-US" sz="1300" dirty="0"/>
          </a:p>
        </p:txBody>
      </p:sp>
      <p:sp>
        <p:nvSpPr>
          <p:cNvPr id="8" name="Text 5"/>
          <p:cNvSpPr/>
          <p:nvPr/>
        </p:nvSpPr>
        <p:spPr>
          <a:xfrm>
            <a:off x="2514600" y="1965960"/>
            <a:ext cx="3291840" cy="594360"/>
          </a:xfrm>
          <a:prstGeom prst="rect">
            <a:avLst/>
          </a:prstGeom>
          <a:noFill/>
          <a:ln/>
        </p:spPr>
        <p:txBody>
          <a:bodyPr wrap="square" rtlCol="0" anchor="ctr"/>
          <a:lstStyle/>
          <a:p>
            <a:pPr marL="0" indent="0">
              <a:buNone/>
            </a:pPr>
            <a:r>
              <a:rPr lang="en-US" sz="1050" dirty="0">
                <a:solidFill>
                  <a:srgbClr val="33414F"/>
                </a:solidFill>
                <a:latin typeface="Calibri" pitchFamily="34" charset="0"/>
                <a:ea typeface="Calibri" pitchFamily="34" charset="-122"/>
                <a:cs typeface="Calibri" pitchFamily="34" charset="-120"/>
              </a:rPr>
              <a:t>Data loading, cleaning, reshaping, aggregation</a:t>
            </a:r>
            <a:endParaRPr lang="en-US" sz="1050" dirty="0"/>
          </a:p>
        </p:txBody>
      </p:sp>
      <p:sp>
        <p:nvSpPr>
          <p:cNvPr id="9" name="Shape 6"/>
          <p:cNvSpPr/>
          <p:nvPr/>
        </p:nvSpPr>
        <p:spPr>
          <a:xfrm>
            <a:off x="548640" y="2679192"/>
            <a:ext cx="5349240" cy="594360"/>
          </a:xfrm>
          <a:prstGeom prst="roundRect">
            <a:avLst>
              <a:gd name="adj" fmla="val 6154"/>
            </a:avLst>
          </a:prstGeom>
          <a:solidFill>
            <a:srgbClr val="F2F4F6"/>
          </a:solidFill>
          <a:ln/>
        </p:spPr>
        <p:txBody>
          <a:bodyPr/>
          <a:lstStyle/>
          <a:p>
            <a:endParaRPr lang="en-US"/>
          </a:p>
        </p:txBody>
      </p:sp>
      <p:sp>
        <p:nvSpPr>
          <p:cNvPr id="10" name="Text 7"/>
          <p:cNvSpPr/>
          <p:nvPr/>
        </p:nvSpPr>
        <p:spPr>
          <a:xfrm>
            <a:off x="731520" y="2679192"/>
            <a:ext cx="1737360" cy="594360"/>
          </a:xfrm>
          <a:prstGeom prst="rect">
            <a:avLst/>
          </a:prstGeom>
          <a:noFill/>
          <a:ln/>
        </p:spPr>
        <p:txBody>
          <a:bodyPr wrap="square" rtlCol="0" anchor="ctr"/>
          <a:lstStyle/>
          <a:p>
            <a:pPr marL="0" indent="0">
              <a:buNone/>
            </a:pPr>
            <a:r>
              <a:rPr lang="en-US" sz="1300" b="1" dirty="0">
                <a:solidFill>
                  <a:srgbClr val="42637E"/>
                </a:solidFill>
                <a:latin typeface="Calibri" pitchFamily="34" charset="0"/>
                <a:ea typeface="Calibri" pitchFamily="34" charset="-122"/>
                <a:cs typeface="Calibri" pitchFamily="34" charset="-120"/>
              </a:rPr>
              <a:t>NumPy</a:t>
            </a:r>
            <a:endParaRPr lang="en-US" sz="1300" dirty="0"/>
          </a:p>
        </p:txBody>
      </p:sp>
      <p:sp>
        <p:nvSpPr>
          <p:cNvPr id="11" name="Text 8"/>
          <p:cNvSpPr/>
          <p:nvPr/>
        </p:nvSpPr>
        <p:spPr>
          <a:xfrm>
            <a:off x="2514600" y="2679192"/>
            <a:ext cx="3291840" cy="594360"/>
          </a:xfrm>
          <a:prstGeom prst="rect">
            <a:avLst/>
          </a:prstGeom>
          <a:noFill/>
          <a:ln/>
        </p:spPr>
        <p:txBody>
          <a:bodyPr wrap="square" rtlCol="0" anchor="ctr"/>
          <a:lstStyle/>
          <a:p>
            <a:pPr marL="0" indent="0">
              <a:buNone/>
            </a:pPr>
            <a:r>
              <a:rPr lang="en-US" sz="1050" dirty="0">
                <a:solidFill>
                  <a:srgbClr val="33414F"/>
                </a:solidFill>
                <a:latin typeface="Calibri" pitchFamily="34" charset="0"/>
                <a:ea typeface="Calibri" pitchFamily="34" charset="-122"/>
                <a:cs typeface="Calibri" pitchFamily="34" charset="-120"/>
              </a:rPr>
              <a:t>Numerical operations for statistical calculations</a:t>
            </a:r>
            <a:endParaRPr lang="en-US" sz="1050" dirty="0"/>
          </a:p>
        </p:txBody>
      </p:sp>
      <p:sp>
        <p:nvSpPr>
          <p:cNvPr id="12" name="Shape 9"/>
          <p:cNvSpPr/>
          <p:nvPr/>
        </p:nvSpPr>
        <p:spPr>
          <a:xfrm>
            <a:off x="548640" y="3392424"/>
            <a:ext cx="5349240" cy="594360"/>
          </a:xfrm>
          <a:prstGeom prst="roundRect">
            <a:avLst>
              <a:gd name="adj" fmla="val 6154"/>
            </a:avLst>
          </a:prstGeom>
          <a:solidFill>
            <a:srgbClr val="F2F4F6"/>
          </a:solidFill>
          <a:ln/>
        </p:spPr>
        <p:txBody>
          <a:bodyPr/>
          <a:lstStyle/>
          <a:p>
            <a:endParaRPr lang="en-US"/>
          </a:p>
        </p:txBody>
      </p:sp>
      <p:sp>
        <p:nvSpPr>
          <p:cNvPr id="13" name="Text 10"/>
          <p:cNvSpPr/>
          <p:nvPr/>
        </p:nvSpPr>
        <p:spPr>
          <a:xfrm>
            <a:off x="731520" y="3392424"/>
            <a:ext cx="1737360" cy="594360"/>
          </a:xfrm>
          <a:prstGeom prst="rect">
            <a:avLst/>
          </a:prstGeom>
          <a:noFill/>
          <a:ln/>
        </p:spPr>
        <p:txBody>
          <a:bodyPr wrap="square" rtlCol="0" anchor="ctr"/>
          <a:lstStyle/>
          <a:p>
            <a:pPr marL="0" indent="0">
              <a:buNone/>
            </a:pPr>
            <a:r>
              <a:rPr lang="en-US" sz="1300" b="1" dirty="0">
                <a:solidFill>
                  <a:srgbClr val="42637E"/>
                </a:solidFill>
                <a:latin typeface="Calibri" pitchFamily="34" charset="0"/>
                <a:ea typeface="Calibri" pitchFamily="34" charset="-122"/>
                <a:cs typeface="Calibri" pitchFamily="34" charset="-120"/>
              </a:rPr>
              <a:t>Matplotlib / Seaborn</a:t>
            </a:r>
            <a:endParaRPr lang="en-US" sz="1300" dirty="0"/>
          </a:p>
        </p:txBody>
      </p:sp>
      <p:sp>
        <p:nvSpPr>
          <p:cNvPr id="14" name="Text 11"/>
          <p:cNvSpPr/>
          <p:nvPr/>
        </p:nvSpPr>
        <p:spPr>
          <a:xfrm>
            <a:off x="2514600" y="3392424"/>
            <a:ext cx="3291840" cy="594360"/>
          </a:xfrm>
          <a:prstGeom prst="rect">
            <a:avLst/>
          </a:prstGeom>
          <a:noFill/>
          <a:ln/>
        </p:spPr>
        <p:txBody>
          <a:bodyPr wrap="square" rtlCol="0" anchor="ctr"/>
          <a:lstStyle/>
          <a:p>
            <a:pPr marL="0" indent="0">
              <a:buNone/>
            </a:pPr>
            <a:r>
              <a:rPr lang="en-US" sz="1050" dirty="0">
                <a:solidFill>
                  <a:srgbClr val="33414F"/>
                </a:solidFill>
                <a:latin typeface="Calibri" pitchFamily="34" charset="0"/>
                <a:ea typeface="Calibri" pitchFamily="34" charset="-122"/>
                <a:cs typeface="Calibri" pitchFamily="34" charset="-120"/>
              </a:rPr>
              <a:t>Chart generation — line, bar, pie, scatter, heatmap</a:t>
            </a:r>
            <a:endParaRPr lang="en-US" sz="1050" dirty="0"/>
          </a:p>
        </p:txBody>
      </p:sp>
      <p:sp>
        <p:nvSpPr>
          <p:cNvPr id="15" name="Shape 12"/>
          <p:cNvSpPr/>
          <p:nvPr/>
        </p:nvSpPr>
        <p:spPr>
          <a:xfrm>
            <a:off x="548640" y="4105656"/>
            <a:ext cx="5349240" cy="594360"/>
          </a:xfrm>
          <a:prstGeom prst="roundRect">
            <a:avLst>
              <a:gd name="adj" fmla="val 6154"/>
            </a:avLst>
          </a:prstGeom>
          <a:solidFill>
            <a:srgbClr val="F2F4F6"/>
          </a:solidFill>
          <a:ln/>
        </p:spPr>
        <p:txBody>
          <a:bodyPr/>
          <a:lstStyle/>
          <a:p>
            <a:endParaRPr lang="en-US"/>
          </a:p>
        </p:txBody>
      </p:sp>
      <p:sp>
        <p:nvSpPr>
          <p:cNvPr id="16" name="Text 13"/>
          <p:cNvSpPr/>
          <p:nvPr/>
        </p:nvSpPr>
        <p:spPr>
          <a:xfrm>
            <a:off x="731520" y="4105656"/>
            <a:ext cx="1737360" cy="594360"/>
          </a:xfrm>
          <a:prstGeom prst="rect">
            <a:avLst/>
          </a:prstGeom>
          <a:noFill/>
          <a:ln/>
        </p:spPr>
        <p:txBody>
          <a:bodyPr wrap="square" rtlCol="0" anchor="ctr"/>
          <a:lstStyle/>
          <a:p>
            <a:pPr marL="0" indent="0">
              <a:buNone/>
            </a:pPr>
            <a:r>
              <a:rPr lang="en-US" sz="1300" b="1" dirty="0">
                <a:solidFill>
                  <a:srgbClr val="42637E"/>
                </a:solidFill>
                <a:latin typeface="Calibri" pitchFamily="34" charset="0"/>
                <a:ea typeface="Calibri" pitchFamily="34" charset="-122"/>
                <a:cs typeface="Calibri" pitchFamily="34" charset="-120"/>
              </a:rPr>
              <a:t>scikit-learn</a:t>
            </a:r>
            <a:endParaRPr lang="en-US" sz="1300" dirty="0"/>
          </a:p>
        </p:txBody>
      </p:sp>
      <p:sp>
        <p:nvSpPr>
          <p:cNvPr id="17" name="Text 14"/>
          <p:cNvSpPr/>
          <p:nvPr/>
        </p:nvSpPr>
        <p:spPr>
          <a:xfrm>
            <a:off x="2514600" y="4105656"/>
            <a:ext cx="3291840" cy="594360"/>
          </a:xfrm>
          <a:prstGeom prst="rect">
            <a:avLst/>
          </a:prstGeom>
          <a:noFill/>
          <a:ln/>
        </p:spPr>
        <p:txBody>
          <a:bodyPr wrap="square" rtlCol="0" anchor="ctr"/>
          <a:lstStyle/>
          <a:p>
            <a:pPr marL="0" indent="0">
              <a:buNone/>
            </a:pPr>
            <a:r>
              <a:rPr lang="en-US" sz="1050" dirty="0">
                <a:solidFill>
                  <a:srgbClr val="33414F"/>
                </a:solidFill>
                <a:latin typeface="Calibri" pitchFamily="34" charset="0"/>
                <a:ea typeface="Calibri" pitchFamily="34" charset="-122"/>
                <a:cs typeface="Calibri" pitchFamily="34" charset="-120"/>
              </a:rPr>
              <a:t>Linear regression for population forecasting</a:t>
            </a:r>
            <a:endParaRPr lang="en-US" sz="1050" dirty="0"/>
          </a:p>
        </p:txBody>
      </p:sp>
      <p:pic>
        <p:nvPicPr>
          <p:cNvPr id="18" name="Image 1" descr="/home/claude/assets/icon_code_blue.png"/>
          <p:cNvPicPr>
            <a:picLocks noChangeAspect="1"/>
          </p:cNvPicPr>
          <p:nvPr/>
        </p:nvPicPr>
        <p:blipFill>
          <a:blip r:embed="rId4"/>
          <a:stretch>
            <a:fillRect/>
          </a:stretch>
        </p:blipFill>
        <p:spPr>
          <a:xfrm>
            <a:off x="6400800" y="1417320"/>
            <a:ext cx="411480" cy="411480"/>
          </a:xfrm>
          <a:prstGeom prst="rect">
            <a:avLst/>
          </a:prstGeom>
        </p:spPr>
      </p:pic>
      <p:sp>
        <p:nvSpPr>
          <p:cNvPr id="19" name="Text 15"/>
          <p:cNvSpPr/>
          <p:nvPr/>
        </p:nvSpPr>
        <p:spPr>
          <a:xfrm>
            <a:off x="6903720" y="1417320"/>
            <a:ext cx="3657600" cy="411480"/>
          </a:xfrm>
          <a:prstGeom prst="rect">
            <a:avLst/>
          </a:prstGeom>
          <a:noFill/>
          <a:ln/>
        </p:spPr>
        <p:txBody>
          <a:bodyPr wrap="square" rtlCol="0" anchor="ctr"/>
          <a:lstStyle/>
          <a:p>
            <a:pPr marL="0" indent="0">
              <a:buNone/>
            </a:pPr>
            <a:r>
              <a:rPr lang="en-US" sz="1600" b="1" dirty="0">
                <a:solidFill>
                  <a:srgbClr val="42637E"/>
                </a:solidFill>
                <a:latin typeface="Calibri" pitchFamily="34" charset="0"/>
                <a:ea typeface="Calibri" pitchFamily="34" charset="-122"/>
                <a:cs typeface="Calibri" pitchFamily="34" charset="-120"/>
              </a:rPr>
              <a:t>Workflow Snapshot</a:t>
            </a:r>
            <a:endParaRPr lang="en-US" sz="1600" dirty="0"/>
          </a:p>
        </p:txBody>
      </p:sp>
      <p:sp>
        <p:nvSpPr>
          <p:cNvPr id="20" name="Shape 16"/>
          <p:cNvSpPr/>
          <p:nvPr/>
        </p:nvSpPr>
        <p:spPr>
          <a:xfrm>
            <a:off x="6400800" y="1965960"/>
            <a:ext cx="5257800" cy="3794760"/>
          </a:xfrm>
          <a:prstGeom prst="roundRect">
            <a:avLst>
              <a:gd name="adj" fmla="val 1205"/>
            </a:avLst>
          </a:prstGeom>
          <a:solidFill>
            <a:srgbClr val="42637E"/>
          </a:solidFill>
          <a:ln/>
          <a:effectLst>
            <a:outerShdw blurRad="63500" dist="25400" dir="2700000" algn="bl" rotWithShape="0">
              <a:srgbClr val="42637E">
                <a:alpha val="6000"/>
              </a:srgbClr>
            </a:outerShdw>
          </a:effectLst>
        </p:spPr>
        <p:txBody>
          <a:bodyPr/>
          <a:lstStyle/>
          <a:p>
            <a:endParaRPr lang="en-US"/>
          </a:p>
        </p:txBody>
      </p:sp>
      <p:sp>
        <p:nvSpPr>
          <p:cNvPr id="21" name="Text 17"/>
          <p:cNvSpPr/>
          <p:nvPr/>
        </p:nvSpPr>
        <p:spPr>
          <a:xfrm>
            <a:off x="6675120" y="2194560"/>
            <a:ext cx="4754880" cy="3291840"/>
          </a:xfrm>
          <a:prstGeom prst="rect">
            <a:avLst/>
          </a:prstGeom>
          <a:noFill/>
          <a:ln/>
        </p:spPr>
        <p:txBody>
          <a:bodyPr wrap="square" rtlCol="0" anchor="t"/>
          <a:lstStyle/>
          <a:p>
            <a:pPr marL="0" indent="0">
              <a:lnSpc>
                <a:spcPct val="130000"/>
              </a:lnSpc>
              <a:buNone/>
            </a:pPr>
            <a:r>
              <a:rPr lang="en-US" sz="1200" dirty="0">
                <a:solidFill>
                  <a:srgbClr val="9FD8DF"/>
                </a:solidFill>
                <a:latin typeface="Consolas" pitchFamily="34" charset="0"/>
                <a:ea typeface="Consolas" pitchFamily="34" charset="-122"/>
                <a:cs typeface="Consolas" pitchFamily="34" charset="-120"/>
              </a:rPr>
              <a:t>df = df.melt(id_vars=['Country','Continent'],</a:t>
            </a:r>
            <a:endParaRPr lang="en-US" sz="1200" dirty="0"/>
          </a:p>
          <a:p>
            <a:pPr marL="0" indent="0">
              <a:lnSpc>
                <a:spcPct val="130000"/>
              </a:lnSpc>
              <a:buNone/>
            </a:pPr>
            <a:r>
              <a:rPr lang="en-US" sz="1200" dirty="0">
                <a:solidFill>
                  <a:srgbClr val="9FD8DF"/>
                </a:solidFill>
                <a:latin typeface="Consolas" pitchFamily="34" charset="0"/>
                <a:ea typeface="Consolas" pitchFamily="34" charset="-122"/>
                <a:cs typeface="Consolas" pitchFamily="34" charset="-120"/>
              </a:rPr>
              <a:t>             var_name='Year', value_name='Population')</a:t>
            </a:r>
            <a:endParaRPr lang="en-US" sz="1200" dirty="0"/>
          </a:p>
          <a:p>
            <a:pPr marL="0" indent="0">
              <a:lnSpc>
                <a:spcPct val="130000"/>
              </a:lnSpc>
              <a:buNone/>
            </a:pPr>
            <a:endParaRPr lang="en-US" sz="1200" dirty="0"/>
          </a:p>
          <a:p>
            <a:pPr marL="0" indent="0">
              <a:lnSpc>
                <a:spcPct val="130000"/>
              </a:lnSpc>
              <a:buNone/>
            </a:pPr>
            <a:r>
              <a:rPr lang="en-US" sz="1200" dirty="0">
                <a:solidFill>
                  <a:srgbClr val="9FD8DF"/>
                </a:solidFill>
                <a:latin typeface="Consolas" pitchFamily="34" charset="0"/>
                <a:ea typeface="Consolas" pitchFamily="34" charset="-122"/>
                <a:cs typeface="Consolas" pitchFamily="34" charset="-120"/>
              </a:rPr>
              <a:t>df['Growth Rate (%)'] = df.groupby('Country')</a:t>
            </a:r>
            <a:endParaRPr lang="en-US" sz="1200" dirty="0"/>
          </a:p>
          <a:p>
            <a:pPr marL="0" indent="0">
              <a:lnSpc>
                <a:spcPct val="130000"/>
              </a:lnSpc>
              <a:buNone/>
            </a:pPr>
            <a:r>
              <a:rPr lang="en-US" sz="1200" dirty="0">
                <a:solidFill>
                  <a:srgbClr val="9FD8DF"/>
                </a:solidFill>
                <a:latin typeface="Consolas" pitchFamily="34" charset="0"/>
                <a:ea typeface="Consolas" pitchFamily="34" charset="-122"/>
                <a:cs typeface="Consolas" pitchFamily="34" charset="-120"/>
              </a:rPr>
              <a:t>                          ['Population'].pct_change() * 100</a:t>
            </a:r>
            <a:endParaRPr lang="en-US" sz="1200" dirty="0"/>
          </a:p>
          <a:p>
            <a:pPr marL="0" indent="0">
              <a:lnSpc>
                <a:spcPct val="130000"/>
              </a:lnSpc>
              <a:buNone/>
            </a:pPr>
            <a:endParaRPr lang="en-US" sz="1200" dirty="0"/>
          </a:p>
          <a:p>
            <a:pPr marL="0" indent="0">
              <a:lnSpc>
                <a:spcPct val="130000"/>
              </a:lnSpc>
              <a:buNone/>
            </a:pPr>
            <a:r>
              <a:rPr lang="en-US" sz="1200" dirty="0">
                <a:solidFill>
                  <a:srgbClr val="9FD8DF"/>
                </a:solidFill>
                <a:latin typeface="Consolas" pitchFamily="34" charset="0"/>
                <a:ea typeface="Consolas" pitchFamily="34" charset="-122"/>
                <a:cs typeface="Consolas" pitchFamily="34" charset="-120"/>
              </a:rPr>
              <a:t>model = LinearRegression().fit(X, y)</a:t>
            </a:r>
            <a:endParaRPr lang="en-US" sz="1200" dirty="0"/>
          </a:p>
          <a:p>
            <a:pPr marL="0" indent="0">
              <a:lnSpc>
                <a:spcPct val="130000"/>
              </a:lnSpc>
              <a:buNone/>
            </a:pPr>
            <a:r>
              <a:rPr lang="en-US" sz="1200" dirty="0">
                <a:solidFill>
                  <a:srgbClr val="9FD8DF"/>
                </a:solidFill>
                <a:latin typeface="Consolas" pitchFamily="34" charset="0"/>
                <a:ea typeface="Consolas" pitchFamily="34" charset="-122"/>
                <a:cs typeface="Consolas" pitchFamily="34" charset="-120"/>
              </a:rPr>
              <a:t>future_pred = model.predict(future_years)</a:t>
            </a:r>
            <a:endParaRPr lang="en-US" sz="1200" dirty="0"/>
          </a:p>
        </p:txBody>
      </p:sp>
      <p:sp>
        <p:nvSpPr>
          <p:cNvPr id="22" name="Text 18"/>
          <p:cNvSpPr/>
          <p:nvPr/>
        </p:nvSpPr>
        <p:spPr>
          <a:xfrm>
            <a:off x="548640" y="5989320"/>
            <a:ext cx="11064240" cy="457200"/>
          </a:xfrm>
          <a:prstGeom prst="rect">
            <a:avLst/>
          </a:prstGeom>
          <a:noFill/>
          <a:ln/>
        </p:spPr>
        <p:txBody>
          <a:bodyPr wrap="square" rtlCol="0" anchor="ctr"/>
          <a:lstStyle/>
          <a:p>
            <a:pPr marL="0" indent="0" algn="ctr">
              <a:buNone/>
            </a:pPr>
            <a:r>
              <a:rPr lang="en-US" sz="1250" i="1" dirty="0">
                <a:solidFill>
                  <a:srgbClr val="71808E"/>
                </a:solidFill>
                <a:latin typeface="Calibri" pitchFamily="34" charset="0"/>
                <a:ea typeface="Calibri" pitchFamily="34" charset="-122"/>
                <a:cs typeface="Calibri" pitchFamily="34" charset="-120"/>
              </a:rPr>
              <a:t>Stages: Collect → Clean → Explore → Advanced Analysis → Visualize → Forecast</a:t>
            </a:r>
            <a:endParaRPr lang="en-US" sz="1250" dirty="0"/>
          </a:p>
        </p:txBody>
      </p:sp>
      <p:sp>
        <p:nvSpPr>
          <p:cNvPr id="23" name="Text 19"/>
          <p:cNvSpPr/>
          <p:nvPr/>
        </p:nvSpPr>
        <p:spPr>
          <a:xfrm>
            <a:off x="457200" y="6510528"/>
            <a:ext cx="7315200" cy="274320"/>
          </a:xfrm>
          <a:prstGeom prst="rect">
            <a:avLst/>
          </a:prstGeom>
          <a:noFill/>
          <a:ln/>
        </p:spPr>
        <p:txBody>
          <a:bodyPr wrap="square" rtlCol="0" anchor="ctr"/>
          <a:lstStyle/>
          <a:p>
            <a:pPr marL="0" indent="0">
              <a:buNone/>
            </a:pPr>
            <a:r>
              <a:rPr lang="en-US" sz="900" dirty="0">
                <a:solidFill>
                  <a:srgbClr val="71808E"/>
                </a:solidFill>
                <a:latin typeface="Calibri" pitchFamily="34" charset="0"/>
                <a:ea typeface="Calibri" pitchFamily="34" charset="-122"/>
                <a:cs typeface="Calibri" pitchFamily="34" charset="-120"/>
              </a:rPr>
              <a:t>Population Growth Analysis and Forecasting</a:t>
            </a:r>
            <a:endParaRPr lang="en-US" sz="900" dirty="0"/>
          </a:p>
        </p:txBody>
      </p:sp>
      <p:sp>
        <p:nvSpPr>
          <p:cNvPr id="24" name="Text 20"/>
          <p:cNvSpPr/>
          <p:nvPr/>
        </p:nvSpPr>
        <p:spPr>
          <a:xfrm>
            <a:off x="11430000" y="6510528"/>
            <a:ext cx="365760" cy="274320"/>
          </a:xfrm>
          <a:prstGeom prst="rect">
            <a:avLst/>
          </a:prstGeom>
          <a:noFill/>
          <a:ln/>
        </p:spPr>
        <p:txBody>
          <a:bodyPr wrap="square" rtlCol="0" anchor="ctr"/>
          <a:lstStyle/>
          <a:p>
            <a:pPr marL="0" indent="0" algn="r">
              <a:buNone/>
            </a:pPr>
            <a:r>
              <a:rPr lang="en-US" sz="900" dirty="0">
                <a:solidFill>
                  <a:srgbClr val="71808E"/>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rtlCol="0" anchor="ctr"/>
          <a:lstStyle/>
          <a:p>
            <a:pPr marL="0" indent="0">
              <a:buNone/>
            </a:pPr>
            <a:r>
              <a:rPr lang="en-US" sz="1300" b="1" kern="0" spc="200" dirty="0">
                <a:solidFill>
                  <a:srgbClr val="B08D57"/>
                </a:solidFill>
                <a:latin typeface="Calibri" pitchFamily="34" charset="0"/>
                <a:ea typeface="Calibri" pitchFamily="34" charset="-122"/>
                <a:cs typeface="Calibri" pitchFamily="34" charset="-120"/>
              </a:rPr>
              <a:t>SECTION 4 — KEY FINDINGS</a:t>
            </a:r>
            <a:endParaRPr lang="en-US" sz="1300" dirty="0"/>
          </a:p>
        </p:txBody>
      </p:sp>
      <p:sp>
        <p:nvSpPr>
          <p:cNvPr id="3" name="Text 1"/>
          <p:cNvSpPr/>
          <p:nvPr/>
        </p:nvSpPr>
        <p:spPr>
          <a:xfrm>
            <a:off x="548640" y="566928"/>
            <a:ext cx="10515600" cy="640080"/>
          </a:xfrm>
          <a:prstGeom prst="rect">
            <a:avLst/>
          </a:prstGeom>
          <a:noFill/>
          <a:ln/>
        </p:spPr>
        <p:txBody>
          <a:bodyPr wrap="square" rtlCol="0" anchor="ctr"/>
          <a:lstStyle/>
          <a:p>
            <a:pPr marL="0" indent="0">
              <a:buNone/>
            </a:pPr>
            <a:r>
              <a:rPr lang="en-US" sz="3000" b="1" dirty="0">
                <a:solidFill>
                  <a:srgbClr val="42637E"/>
                </a:solidFill>
                <a:latin typeface="Georgia" pitchFamily="34" charset="0"/>
                <a:ea typeface="Georgia" pitchFamily="34" charset="-122"/>
                <a:cs typeface="Georgia" pitchFamily="34" charset="-120"/>
              </a:rPr>
              <a:t>Who Leads Global Population? (2024)</a:t>
            </a:r>
            <a:endParaRPr lang="en-US" sz="3000" dirty="0"/>
          </a:p>
        </p:txBody>
      </p:sp>
      <p:graphicFrame>
        <p:nvGraphicFramePr>
          <p:cNvPr id="4" name="Chart 0"/>
          <p:cNvGraphicFramePr/>
          <p:nvPr/>
        </p:nvGraphicFramePr>
        <p:xfrm>
          <a:off x="457200" y="1463040"/>
          <a:ext cx="6949440" cy="493776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7726680" y="1554480"/>
            <a:ext cx="3886200" cy="1325880"/>
          </a:xfrm>
          <a:prstGeom prst="roundRect">
            <a:avLst>
              <a:gd name="adj" fmla="val 3448"/>
            </a:avLst>
          </a:prstGeom>
          <a:solidFill>
            <a:srgbClr val="F2F4F6"/>
          </a:solidFill>
          <a:ln/>
          <a:effectLst>
            <a:outerShdw blurRad="63500" dist="25400" dir="2700000" algn="bl" rotWithShape="0">
              <a:srgbClr val="42637E">
                <a:alpha val="6000"/>
              </a:srgbClr>
            </a:outerShdw>
          </a:effectLst>
        </p:spPr>
        <p:txBody>
          <a:bodyPr/>
          <a:lstStyle/>
          <a:p>
            <a:endParaRPr lang="en-US"/>
          </a:p>
        </p:txBody>
      </p:sp>
      <p:sp>
        <p:nvSpPr>
          <p:cNvPr id="6" name="Text 3"/>
          <p:cNvSpPr/>
          <p:nvPr/>
        </p:nvSpPr>
        <p:spPr>
          <a:xfrm>
            <a:off x="7909560" y="1664208"/>
            <a:ext cx="3520440" cy="640080"/>
          </a:xfrm>
          <a:prstGeom prst="rect">
            <a:avLst/>
          </a:prstGeom>
          <a:noFill/>
          <a:ln/>
        </p:spPr>
        <p:txBody>
          <a:bodyPr wrap="square" rtlCol="0" anchor="ctr"/>
          <a:lstStyle/>
          <a:p>
            <a:pPr marL="0" indent="0">
              <a:buNone/>
            </a:pPr>
            <a:r>
              <a:rPr lang="en-US" sz="2600" b="1" dirty="0">
                <a:solidFill>
                  <a:srgbClr val="42637E"/>
                </a:solidFill>
                <a:latin typeface="Georgia" pitchFamily="34" charset="0"/>
                <a:ea typeface="Georgia" pitchFamily="34" charset="-122"/>
                <a:cs typeface="Georgia" pitchFamily="34" charset="-120"/>
              </a:rPr>
              <a:t>1.45B</a:t>
            </a:r>
            <a:endParaRPr lang="en-US" sz="2600" dirty="0"/>
          </a:p>
        </p:txBody>
      </p:sp>
      <p:sp>
        <p:nvSpPr>
          <p:cNvPr id="7" name="Text 4"/>
          <p:cNvSpPr/>
          <p:nvPr/>
        </p:nvSpPr>
        <p:spPr>
          <a:xfrm>
            <a:off x="7909560" y="2331720"/>
            <a:ext cx="3520440" cy="457200"/>
          </a:xfrm>
          <a:prstGeom prst="rect">
            <a:avLst/>
          </a:prstGeom>
          <a:noFill/>
          <a:ln/>
        </p:spPr>
        <p:txBody>
          <a:bodyPr wrap="square" rtlCol="0" anchor="ctr"/>
          <a:lstStyle/>
          <a:p>
            <a:pPr marL="0" indent="0">
              <a:buNone/>
            </a:pPr>
            <a:r>
              <a:rPr lang="en-US" sz="1200" dirty="0">
                <a:solidFill>
                  <a:srgbClr val="33414F"/>
                </a:solidFill>
                <a:latin typeface="Calibri" pitchFamily="34" charset="0"/>
                <a:ea typeface="Calibri" pitchFamily="34" charset="-122"/>
                <a:cs typeface="Calibri" pitchFamily="34" charset="-120"/>
              </a:rPr>
              <a:t>India — Largest</a:t>
            </a:r>
            <a:endParaRPr lang="en-US" sz="1200" dirty="0"/>
          </a:p>
        </p:txBody>
      </p:sp>
      <p:sp>
        <p:nvSpPr>
          <p:cNvPr id="8" name="Shape 5"/>
          <p:cNvSpPr/>
          <p:nvPr/>
        </p:nvSpPr>
        <p:spPr>
          <a:xfrm>
            <a:off x="7726680" y="3108960"/>
            <a:ext cx="3886200" cy="1325880"/>
          </a:xfrm>
          <a:prstGeom prst="roundRect">
            <a:avLst>
              <a:gd name="adj" fmla="val 3448"/>
            </a:avLst>
          </a:prstGeom>
          <a:solidFill>
            <a:srgbClr val="F2F4F6"/>
          </a:solidFill>
          <a:ln/>
          <a:effectLst>
            <a:outerShdw blurRad="63500" dist="25400" dir="2700000" algn="bl" rotWithShape="0">
              <a:srgbClr val="42637E">
                <a:alpha val="6000"/>
              </a:srgbClr>
            </a:outerShdw>
          </a:effectLst>
        </p:spPr>
        <p:txBody>
          <a:bodyPr/>
          <a:lstStyle/>
          <a:p>
            <a:endParaRPr lang="en-US"/>
          </a:p>
        </p:txBody>
      </p:sp>
      <p:sp>
        <p:nvSpPr>
          <p:cNvPr id="9" name="Text 6"/>
          <p:cNvSpPr/>
          <p:nvPr/>
        </p:nvSpPr>
        <p:spPr>
          <a:xfrm>
            <a:off x="7909560" y="3218688"/>
            <a:ext cx="3520440" cy="640080"/>
          </a:xfrm>
          <a:prstGeom prst="rect">
            <a:avLst/>
          </a:prstGeom>
          <a:noFill/>
          <a:ln/>
        </p:spPr>
        <p:txBody>
          <a:bodyPr wrap="square" rtlCol="0" anchor="ctr"/>
          <a:lstStyle/>
          <a:p>
            <a:pPr marL="0" indent="0">
              <a:buNone/>
            </a:pPr>
            <a:r>
              <a:rPr lang="en-US" sz="2600" b="1" dirty="0">
                <a:solidFill>
                  <a:srgbClr val="B08D57"/>
                </a:solidFill>
                <a:latin typeface="Georgia" pitchFamily="34" charset="0"/>
                <a:ea typeface="Georgia" pitchFamily="34" charset="-122"/>
                <a:cs typeface="Georgia" pitchFamily="34" charset="-120"/>
              </a:rPr>
              <a:t>4,607</a:t>
            </a:r>
            <a:endParaRPr lang="en-US" sz="2600" dirty="0"/>
          </a:p>
        </p:txBody>
      </p:sp>
      <p:sp>
        <p:nvSpPr>
          <p:cNvPr id="10" name="Text 7"/>
          <p:cNvSpPr/>
          <p:nvPr/>
        </p:nvSpPr>
        <p:spPr>
          <a:xfrm>
            <a:off x="7909560" y="3886200"/>
            <a:ext cx="3520440" cy="457200"/>
          </a:xfrm>
          <a:prstGeom prst="rect">
            <a:avLst/>
          </a:prstGeom>
          <a:noFill/>
          <a:ln/>
        </p:spPr>
        <p:txBody>
          <a:bodyPr wrap="square" rtlCol="0" anchor="ctr"/>
          <a:lstStyle/>
          <a:p>
            <a:pPr marL="0" indent="0">
              <a:buNone/>
            </a:pPr>
            <a:r>
              <a:rPr lang="en-US" sz="1200" dirty="0">
                <a:solidFill>
                  <a:srgbClr val="33414F"/>
                </a:solidFill>
                <a:latin typeface="Calibri" pitchFamily="34" charset="0"/>
                <a:ea typeface="Calibri" pitchFamily="34" charset="-122"/>
                <a:cs typeface="Calibri" pitchFamily="34" charset="-120"/>
              </a:rPr>
              <a:t>Nauru, 1960 — Smallest ever</a:t>
            </a:r>
            <a:endParaRPr lang="en-US" sz="1200" dirty="0"/>
          </a:p>
        </p:txBody>
      </p:sp>
      <p:sp>
        <p:nvSpPr>
          <p:cNvPr id="11" name="Shape 8"/>
          <p:cNvSpPr/>
          <p:nvPr/>
        </p:nvSpPr>
        <p:spPr>
          <a:xfrm>
            <a:off x="7726680" y="4663440"/>
            <a:ext cx="3886200" cy="1325880"/>
          </a:xfrm>
          <a:prstGeom prst="roundRect">
            <a:avLst>
              <a:gd name="adj" fmla="val 3448"/>
            </a:avLst>
          </a:prstGeom>
          <a:solidFill>
            <a:srgbClr val="F2F4F6"/>
          </a:solidFill>
          <a:ln/>
          <a:effectLst>
            <a:outerShdw blurRad="63500" dist="25400" dir="2700000" algn="bl" rotWithShape="0">
              <a:srgbClr val="42637E">
                <a:alpha val="6000"/>
              </a:srgbClr>
            </a:outerShdw>
          </a:effectLst>
        </p:spPr>
        <p:txBody>
          <a:bodyPr/>
          <a:lstStyle/>
          <a:p>
            <a:endParaRPr lang="en-US"/>
          </a:p>
        </p:txBody>
      </p:sp>
      <p:sp>
        <p:nvSpPr>
          <p:cNvPr id="12" name="Text 9"/>
          <p:cNvSpPr/>
          <p:nvPr/>
        </p:nvSpPr>
        <p:spPr>
          <a:xfrm>
            <a:off x="7909560" y="4773168"/>
            <a:ext cx="3520440" cy="640080"/>
          </a:xfrm>
          <a:prstGeom prst="rect">
            <a:avLst/>
          </a:prstGeom>
          <a:noFill/>
          <a:ln/>
        </p:spPr>
        <p:txBody>
          <a:bodyPr wrap="square" rtlCol="0" anchor="ctr"/>
          <a:lstStyle/>
          <a:p>
            <a:pPr marL="0" indent="0">
              <a:buNone/>
            </a:pPr>
            <a:r>
              <a:rPr lang="en-US" sz="2600" b="1" dirty="0">
                <a:solidFill>
                  <a:srgbClr val="42637E"/>
                </a:solidFill>
                <a:latin typeface="Georgia" pitchFamily="34" charset="0"/>
                <a:ea typeface="Georgia" pitchFamily="34" charset="-122"/>
                <a:cs typeface="Georgia" pitchFamily="34" charset="-120"/>
              </a:rPr>
              <a:t>7.84B</a:t>
            </a:r>
            <a:endParaRPr lang="en-US" sz="2600" dirty="0"/>
          </a:p>
        </p:txBody>
      </p:sp>
      <p:sp>
        <p:nvSpPr>
          <p:cNvPr id="13" name="Text 10"/>
          <p:cNvSpPr/>
          <p:nvPr/>
        </p:nvSpPr>
        <p:spPr>
          <a:xfrm>
            <a:off x="7909560" y="5440680"/>
            <a:ext cx="3520440" cy="457200"/>
          </a:xfrm>
          <a:prstGeom prst="rect">
            <a:avLst/>
          </a:prstGeom>
          <a:noFill/>
          <a:ln/>
        </p:spPr>
        <p:txBody>
          <a:bodyPr wrap="square" rtlCol="0" anchor="ctr"/>
          <a:lstStyle/>
          <a:p>
            <a:pPr marL="0" indent="0">
              <a:buNone/>
            </a:pPr>
            <a:r>
              <a:rPr lang="en-US" sz="1200" dirty="0">
                <a:solidFill>
                  <a:srgbClr val="33414F"/>
                </a:solidFill>
                <a:latin typeface="Calibri" pitchFamily="34" charset="0"/>
                <a:ea typeface="Calibri" pitchFamily="34" charset="-122"/>
                <a:cs typeface="Calibri" pitchFamily="34" charset="-120"/>
              </a:rPr>
              <a:t>World Total, 2024</a:t>
            </a:r>
            <a:endParaRPr lang="en-US" sz="1200" dirty="0"/>
          </a:p>
        </p:txBody>
      </p:sp>
      <p:sp>
        <p:nvSpPr>
          <p:cNvPr id="14" name="Text 11"/>
          <p:cNvSpPr/>
          <p:nvPr/>
        </p:nvSpPr>
        <p:spPr>
          <a:xfrm>
            <a:off x="457200" y="6510528"/>
            <a:ext cx="7315200" cy="274320"/>
          </a:xfrm>
          <a:prstGeom prst="rect">
            <a:avLst/>
          </a:prstGeom>
          <a:noFill/>
          <a:ln/>
        </p:spPr>
        <p:txBody>
          <a:bodyPr wrap="square" rtlCol="0" anchor="ctr"/>
          <a:lstStyle/>
          <a:p>
            <a:pPr marL="0" indent="0">
              <a:buNone/>
            </a:pPr>
            <a:r>
              <a:rPr lang="en-US" sz="900" dirty="0">
                <a:solidFill>
                  <a:srgbClr val="71808E"/>
                </a:solidFill>
                <a:latin typeface="Calibri" pitchFamily="34" charset="0"/>
                <a:ea typeface="Calibri" pitchFamily="34" charset="-122"/>
                <a:cs typeface="Calibri" pitchFamily="34" charset="-120"/>
              </a:rPr>
              <a:t>Population Growth Analysis and Forecasting</a:t>
            </a:r>
            <a:endParaRPr lang="en-US" sz="900" dirty="0"/>
          </a:p>
        </p:txBody>
      </p:sp>
      <p:sp>
        <p:nvSpPr>
          <p:cNvPr id="15" name="Text 12"/>
          <p:cNvSpPr/>
          <p:nvPr/>
        </p:nvSpPr>
        <p:spPr>
          <a:xfrm>
            <a:off x="11430000" y="6510528"/>
            <a:ext cx="365760" cy="274320"/>
          </a:xfrm>
          <a:prstGeom prst="rect">
            <a:avLst/>
          </a:prstGeom>
          <a:noFill/>
          <a:ln/>
        </p:spPr>
        <p:txBody>
          <a:bodyPr wrap="square" rtlCol="0" anchor="ctr"/>
          <a:lstStyle/>
          <a:p>
            <a:pPr marL="0" indent="0" algn="r">
              <a:buNone/>
            </a:pPr>
            <a:r>
              <a:rPr lang="en-US" sz="900" dirty="0">
                <a:solidFill>
                  <a:srgbClr val="71808E"/>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rtlCol="0" anchor="ctr"/>
          <a:lstStyle/>
          <a:p>
            <a:pPr marL="0" indent="0">
              <a:buNone/>
            </a:pPr>
            <a:r>
              <a:rPr lang="en-US" sz="1300" b="1" kern="0" spc="200" dirty="0">
                <a:solidFill>
                  <a:srgbClr val="B08D57"/>
                </a:solidFill>
                <a:latin typeface="Calibri" pitchFamily="34" charset="0"/>
                <a:ea typeface="Calibri" pitchFamily="34" charset="-122"/>
                <a:cs typeface="Calibri" pitchFamily="34" charset="-120"/>
              </a:rPr>
              <a:t>SECTION 4 — KEY FINDINGS</a:t>
            </a:r>
            <a:endParaRPr lang="en-US" sz="1300" dirty="0"/>
          </a:p>
        </p:txBody>
      </p:sp>
      <p:sp>
        <p:nvSpPr>
          <p:cNvPr id="3" name="Text 1"/>
          <p:cNvSpPr/>
          <p:nvPr/>
        </p:nvSpPr>
        <p:spPr>
          <a:xfrm>
            <a:off x="548640" y="566928"/>
            <a:ext cx="10515600" cy="640080"/>
          </a:xfrm>
          <a:prstGeom prst="rect">
            <a:avLst/>
          </a:prstGeom>
          <a:noFill/>
          <a:ln/>
        </p:spPr>
        <p:txBody>
          <a:bodyPr wrap="square" rtlCol="0" anchor="ctr"/>
          <a:lstStyle/>
          <a:p>
            <a:pPr marL="0" indent="0">
              <a:buNone/>
            </a:pPr>
            <a:r>
              <a:rPr lang="en-US" sz="3000" b="1" dirty="0">
                <a:solidFill>
                  <a:srgbClr val="42637E"/>
                </a:solidFill>
                <a:latin typeface="Georgia" pitchFamily="34" charset="0"/>
                <a:ea typeface="Georgia" pitchFamily="34" charset="-122"/>
                <a:cs typeface="Georgia" pitchFamily="34" charset="-120"/>
              </a:rPr>
              <a:t>Global Population Distribution (2024)</a:t>
            </a:r>
            <a:endParaRPr lang="en-US" sz="3000" dirty="0"/>
          </a:p>
        </p:txBody>
      </p:sp>
      <p:graphicFrame>
        <p:nvGraphicFramePr>
          <p:cNvPr id="4" name="Chart 0"/>
          <p:cNvGraphicFramePr/>
          <p:nvPr/>
        </p:nvGraphicFramePr>
        <p:xfrm>
          <a:off x="548640" y="1417320"/>
          <a:ext cx="6035040" cy="493776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6995160" y="1417320"/>
            <a:ext cx="4617720" cy="4937760"/>
          </a:xfrm>
          <a:prstGeom prst="roundRect">
            <a:avLst>
              <a:gd name="adj" fmla="val 990"/>
            </a:avLst>
          </a:prstGeom>
          <a:solidFill>
            <a:srgbClr val="F2F4F6"/>
          </a:solidFill>
          <a:ln/>
          <a:effectLst>
            <a:outerShdw blurRad="63500" dist="25400" dir="2700000" algn="bl" rotWithShape="0">
              <a:srgbClr val="42637E">
                <a:alpha val="6000"/>
              </a:srgbClr>
            </a:outerShdw>
          </a:effectLst>
        </p:spPr>
        <p:txBody>
          <a:bodyPr/>
          <a:lstStyle/>
          <a:p>
            <a:endParaRPr lang="en-US"/>
          </a:p>
        </p:txBody>
      </p:sp>
      <p:pic>
        <p:nvPicPr>
          <p:cNvPr id="6" name="Image 0" descr="/home/claude/assets/icon_chartpie_blue.png"/>
          <p:cNvPicPr>
            <a:picLocks noChangeAspect="1"/>
          </p:cNvPicPr>
          <p:nvPr/>
        </p:nvPicPr>
        <p:blipFill>
          <a:blip r:embed="rId4"/>
          <a:stretch>
            <a:fillRect/>
          </a:stretch>
        </p:blipFill>
        <p:spPr>
          <a:xfrm>
            <a:off x="7269480" y="1691640"/>
            <a:ext cx="457200" cy="457200"/>
          </a:xfrm>
          <a:prstGeom prst="rect">
            <a:avLst/>
          </a:prstGeom>
        </p:spPr>
      </p:pic>
      <p:sp>
        <p:nvSpPr>
          <p:cNvPr id="7" name="Text 3"/>
          <p:cNvSpPr/>
          <p:nvPr/>
        </p:nvSpPr>
        <p:spPr>
          <a:xfrm>
            <a:off x="7863840" y="1719072"/>
            <a:ext cx="3566160" cy="457200"/>
          </a:xfrm>
          <a:prstGeom prst="rect">
            <a:avLst/>
          </a:prstGeom>
          <a:noFill/>
          <a:ln/>
        </p:spPr>
        <p:txBody>
          <a:bodyPr wrap="square" rtlCol="0" anchor="ctr"/>
          <a:lstStyle/>
          <a:p>
            <a:pPr marL="0" indent="0">
              <a:buNone/>
            </a:pPr>
            <a:r>
              <a:rPr lang="en-US" sz="1600" b="1" dirty="0">
                <a:solidFill>
                  <a:srgbClr val="42637E"/>
                </a:solidFill>
                <a:latin typeface="Calibri" pitchFamily="34" charset="0"/>
                <a:ea typeface="Calibri" pitchFamily="34" charset="-122"/>
                <a:cs typeface="Calibri" pitchFamily="34" charset="-120"/>
              </a:rPr>
              <a:t>Reading the Split</a:t>
            </a:r>
            <a:endParaRPr lang="en-US" sz="1600" dirty="0"/>
          </a:p>
        </p:txBody>
      </p:sp>
      <p:sp>
        <p:nvSpPr>
          <p:cNvPr id="8" name="Text 4"/>
          <p:cNvSpPr/>
          <p:nvPr/>
        </p:nvSpPr>
        <p:spPr>
          <a:xfrm>
            <a:off x="7269480" y="2377440"/>
            <a:ext cx="4069080" cy="868680"/>
          </a:xfrm>
          <a:prstGeom prst="rect">
            <a:avLst/>
          </a:prstGeom>
          <a:noFill/>
          <a:ln/>
        </p:spPr>
        <p:txBody>
          <a:bodyPr wrap="square" rtlCol="0" anchor="t"/>
          <a:lstStyle/>
          <a:p>
            <a:pPr marL="342900" indent="-342900">
              <a:buSzPct val="100000"/>
              <a:buChar char="•"/>
            </a:pPr>
            <a:r>
              <a:rPr lang="en-US" sz="1250" dirty="0">
                <a:solidFill>
                  <a:srgbClr val="33414F"/>
                </a:solidFill>
                <a:latin typeface="Calibri" pitchFamily="34" charset="0"/>
                <a:ea typeface="Calibri" pitchFamily="34" charset="-122"/>
                <a:cs typeface="Calibri" pitchFamily="34" charset="-120"/>
              </a:rPr>
              <a:t>India and China together hold over a third of the world's people — 36.5%, to be exact</a:t>
            </a:r>
            <a:endParaRPr lang="en-US" sz="1250" dirty="0"/>
          </a:p>
        </p:txBody>
      </p:sp>
      <p:sp>
        <p:nvSpPr>
          <p:cNvPr id="9" name="Text 5"/>
          <p:cNvSpPr/>
          <p:nvPr/>
        </p:nvSpPr>
        <p:spPr>
          <a:xfrm>
            <a:off x="7269480" y="3291840"/>
            <a:ext cx="4069080" cy="868680"/>
          </a:xfrm>
          <a:prstGeom prst="rect">
            <a:avLst/>
          </a:prstGeom>
          <a:noFill/>
          <a:ln/>
        </p:spPr>
        <p:txBody>
          <a:bodyPr wrap="square" rtlCol="0" anchor="t"/>
          <a:lstStyle/>
          <a:p>
            <a:pPr marL="342900" indent="-342900">
              <a:buSzPct val="100000"/>
              <a:buChar char="•"/>
            </a:pPr>
            <a:r>
              <a:rPr lang="en-US" sz="1250" dirty="0">
                <a:solidFill>
                  <a:srgbClr val="33414F"/>
                </a:solidFill>
                <a:latin typeface="Calibri" pitchFamily="34" charset="0"/>
                <a:ea typeface="Calibri" pitchFamily="34" charset="-122"/>
                <a:cs typeface="Calibri" pitchFamily="34" charset="-120"/>
              </a:rPr>
              <a:t>Add in the next three biggest countries and the top 5 account for 47.6% of everyone alive</a:t>
            </a:r>
            <a:endParaRPr lang="en-US" sz="1250" dirty="0"/>
          </a:p>
        </p:txBody>
      </p:sp>
      <p:sp>
        <p:nvSpPr>
          <p:cNvPr id="10" name="Text 6"/>
          <p:cNvSpPr/>
          <p:nvPr/>
        </p:nvSpPr>
        <p:spPr>
          <a:xfrm>
            <a:off x="7269480" y="4206240"/>
            <a:ext cx="4069080" cy="868680"/>
          </a:xfrm>
          <a:prstGeom prst="rect">
            <a:avLst/>
          </a:prstGeom>
          <a:noFill/>
          <a:ln/>
        </p:spPr>
        <p:txBody>
          <a:bodyPr wrap="square" rtlCol="0" anchor="t"/>
          <a:lstStyle/>
          <a:p>
            <a:pPr marL="342900" indent="-342900">
              <a:buSzPct val="100000"/>
              <a:buChar char="•"/>
            </a:pPr>
            <a:r>
              <a:rPr lang="en-US" sz="1250" dirty="0">
                <a:solidFill>
                  <a:srgbClr val="33414F"/>
                </a:solidFill>
                <a:latin typeface="Calibri" pitchFamily="34" charset="0"/>
                <a:ea typeface="Calibri" pitchFamily="34" charset="-122"/>
                <a:cs typeface="Calibri" pitchFamily="34" charset="-120"/>
              </a:rPr>
              <a:t>The other 193 countries and territories split the remaining 52.4%</a:t>
            </a:r>
            <a:endParaRPr lang="en-US" sz="1250" dirty="0"/>
          </a:p>
        </p:txBody>
      </p:sp>
      <p:sp>
        <p:nvSpPr>
          <p:cNvPr id="11" name="Text 7"/>
          <p:cNvSpPr/>
          <p:nvPr/>
        </p:nvSpPr>
        <p:spPr>
          <a:xfrm>
            <a:off x="7269480" y="5120640"/>
            <a:ext cx="4069080" cy="868680"/>
          </a:xfrm>
          <a:prstGeom prst="rect">
            <a:avLst/>
          </a:prstGeom>
          <a:noFill/>
          <a:ln/>
        </p:spPr>
        <p:txBody>
          <a:bodyPr wrap="square" rtlCol="0" anchor="t"/>
          <a:lstStyle/>
          <a:p>
            <a:pPr marL="342900" indent="-342900">
              <a:buSzPct val="100000"/>
              <a:buChar char="•"/>
            </a:pPr>
            <a:r>
              <a:rPr lang="en-US" sz="1250" dirty="0">
                <a:solidFill>
                  <a:srgbClr val="33414F"/>
                </a:solidFill>
                <a:latin typeface="Calibri" pitchFamily="34" charset="0"/>
                <a:ea typeface="Calibri" pitchFamily="34" charset="-122"/>
                <a:cs typeface="Calibri" pitchFamily="34" charset="-120"/>
              </a:rPr>
              <a:t>In short: population is concentrated in a surprisingly small number of nations</a:t>
            </a:r>
            <a:endParaRPr lang="en-US" sz="1250" dirty="0"/>
          </a:p>
        </p:txBody>
      </p:sp>
      <p:sp>
        <p:nvSpPr>
          <p:cNvPr id="12" name="Text 8"/>
          <p:cNvSpPr/>
          <p:nvPr/>
        </p:nvSpPr>
        <p:spPr>
          <a:xfrm>
            <a:off x="457200" y="6510528"/>
            <a:ext cx="7315200" cy="274320"/>
          </a:xfrm>
          <a:prstGeom prst="rect">
            <a:avLst/>
          </a:prstGeom>
          <a:noFill/>
          <a:ln/>
        </p:spPr>
        <p:txBody>
          <a:bodyPr wrap="square" rtlCol="0" anchor="ctr"/>
          <a:lstStyle/>
          <a:p>
            <a:pPr marL="0" indent="0">
              <a:buNone/>
            </a:pPr>
            <a:r>
              <a:rPr lang="en-US" sz="900" dirty="0">
                <a:solidFill>
                  <a:srgbClr val="71808E"/>
                </a:solidFill>
                <a:latin typeface="Calibri" pitchFamily="34" charset="0"/>
                <a:ea typeface="Calibri" pitchFamily="34" charset="-122"/>
                <a:cs typeface="Calibri" pitchFamily="34" charset="-120"/>
              </a:rPr>
              <a:t>Population Growth Analysis and Forecasting</a:t>
            </a:r>
            <a:endParaRPr lang="en-US" sz="900" dirty="0"/>
          </a:p>
        </p:txBody>
      </p:sp>
      <p:sp>
        <p:nvSpPr>
          <p:cNvPr id="13" name="Text 9"/>
          <p:cNvSpPr/>
          <p:nvPr/>
        </p:nvSpPr>
        <p:spPr>
          <a:xfrm>
            <a:off x="11430000" y="6510528"/>
            <a:ext cx="365760" cy="274320"/>
          </a:xfrm>
          <a:prstGeom prst="rect">
            <a:avLst/>
          </a:prstGeom>
          <a:noFill/>
          <a:ln/>
        </p:spPr>
        <p:txBody>
          <a:bodyPr wrap="square" rtlCol="0" anchor="ctr"/>
          <a:lstStyle/>
          <a:p>
            <a:pPr marL="0" indent="0" algn="r">
              <a:buNone/>
            </a:pPr>
            <a:r>
              <a:rPr lang="en-US" sz="900" dirty="0">
                <a:solidFill>
                  <a:srgbClr val="71808E"/>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rtlCol="0" anchor="ctr"/>
          <a:lstStyle/>
          <a:p>
            <a:pPr marL="0" indent="0">
              <a:buNone/>
            </a:pPr>
            <a:r>
              <a:rPr lang="en-US" sz="1300" b="1" kern="0" spc="200" dirty="0">
                <a:solidFill>
                  <a:srgbClr val="B08D57"/>
                </a:solidFill>
                <a:latin typeface="Calibri" pitchFamily="34" charset="0"/>
                <a:ea typeface="Calibri" pitchFamily="34" charset="-122"/>
                <a:cs typeface="Calibri" pitchFamily="34" charset="-120"/>
              </a:rPr>
              <a:t>SECTION 4 — KEY FINDINGS</a:t>
            </a:r>
            <a:endParaRPr lang="en-US" sz="1300" dirty="0"/>
          </a:p>
        </p:txBody>
      </p:sp>
      <p:sp>
        <p:nvSpPr>
          <p:cNvPr id="3" name="Text 1"/>
          <p:cNvSpPr/>
          <p:nvPr/>
        </p:nvSpPr>
        <p:spPr>
          <a:xfrm>
            <a:off x="548640" y="566928"/>
            <a:ext cx="10515600" cy="640080"/>
          </a:xfrm>
          <a:prstGeom prst="rect">
            <a:avLst/>
          </a:prstGeom>
          <a:noFill/>
          <a:ln/>
        </p:spPr>
        <p:txBody>
          <a:bodyPr wrap="square" rtlCol="0" anchor="ctr"/>
          <a:lstStyle/>
          <a:p>
            <a:pPr marL="0" indent="0">
              <a:buNone/>
            </a:pPr>
            <a:r>
              <a:rPr lang="en-US" sz="3000" b="1" dirty="0">
                <a:solidFill>
                  <a:srgbClr val="42637E"/>
                </a:solidFill>
                <a:latin typeface="Georgia" pitchFamily="34" charset="0"/>
                <a:ea typeface="Georgia" pitchFamily="34" charset="-122"/>
                <a:cs typeface="Georgia" pitchFamily="34" charset="-120"/>
              </a:rPr>
              <a:t>Growth Analysis: Countries &amp; Continents</a:t>
            </a:r>
            <a:endParaRPr lang="en-US" sz="3000" dirty="0"/>
          </a:p>
        </p:txBody>
      </p:sp>
      <p:sp>
        <p:nvSpPr>
          <p:cNvPr id="4" name="Text 2"/>
          <p:cNvSpPr/>
          <p:nvPr/>
        </p:nvSpPr>
        <p:spPr>
          <a:xfrm>
            <a:off x="457200" y="1325880"/>
            <a:ext cx="5486400" cy="320040"/>
          </a:xfrm>
          <a:prstGeom prst="rect">
            <a:avLst/>
          </a:prstGeom>
          <a:noFill/>
          <a:ln/>
        </p:spPr>
        <p:txBody>
          <a:bodyPr wrap="square" rtlCol="0" anchor="ctr"/>
          <a:lstStyle/>
          <a:p>
            <a:pPr marL="0" indent="0">
              <a:buNone/>
            </a:pPr>
            <a:r>
              <a:rPr lang="en-US" sz="1350" b="1" dirty="0">
                <a:solidFill>
                  <a:srgbClr val="42637E"/>
                </a:solidFill>
                <a:latin typeface="Calibri" pitchFamily="34" charset="0"/>
                <a:ea typeface="Calibri" pitchFamily="34" charset="-122"/>
                <a:cs typeface="Calibri" pitchFamily="34" charset="-120"/>
              </a:rPr>
              <a:t>Top 10 Countries by Avg. Growth Rate</a:t>
            </a:r>
            <a:endParaRPr lang="en-US" sz="1350" dirty="0"/>
          </a:p>
        </p:txBody>
      </p:sp>
      <p:graphicFrame>
        <p:nvGraphicFramePr>
          <p:cNvPr id="5" name="Chart 0"/>
          <p:cNvGraphicFramePr/>
          <p:nvPr/>
        </p:nvGraphicFramePr>
        <p:xfrm>
          <a:off x="274320" y="1691640"/>
          <a:ext cx="5760720" cy="461772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3"/>
          <p:cNvSpPr/>
          <p:nvPr/>
        </p:nvSpPr>
        <p:spPr>
          <a:xfrm>
            <a:off x="6309360" y="1325880"/>
            <a:ext cx="5486400" cy="320040"/>
          </a:xfrm>
          <a:prstGeom prst="rect">
            <a:avLst/>
          </a:prstGeom>
          <a:noFill/>
          <a:ln/>
        </p:spPr>
        <p:txBody>
          <a:bodyPr wrap="square" rtlCol="0" anchor="ctr"/>
          <a:lstStyle/>
          <a:p>
            <a:pPr marL="0" indent="0">
              <a:buNone/>
            </a:pPr>
            <a:r>
              <a:rPr lang="en-US" sz="1350" b="1" dirty="0">
                <a:solidFill>
                  <a:srgbClr val="42637E"/>
                </a:solidFill>
                <a:latin typeface="Calibri" pitchFamily="34" charset="0"/>
                <a:ea typeface="Calibri" pitchFamily="34" charset="-122"/>
                <a:cs typeface="Calibri" pitchFamily="34" charset="-120"/>
              </a:rPr>
              <a:t>Average Growth Rate by Continent</a:t>
            </a:r>
            <a:endParaRPr lang="en-US" sz="1350" dirty="0"/>
          </a:p>
        </p:txBody>
      </p:sp>
      <p:graphicFrame>
        <p:nvGraphicFramePr>
          <p:cNvPr id="7" name="Chart 1"/>
          <p:cNvGraphicFramePr/>
          <p:nvPr/>
        </p:nvGraphicFramePr>
        <p:xfrm>
          <a:off x="6126480" y="1691640"/>
          <a:ext cx="5760720" cy="4617720"/>
        </p:xfrm>
        <a:graphic>
          <a:graphicData uri="http://schemas.openxmlformats.org/drawingml/2006/chart">
            <c:chart xmlns:c="http://schemas.openxmlformats.org/drawingml/2006/chart" xmlns:r="http://schemas.openxmlformats.org/officeDocument/2006/relationships" r:id="rId4"/>
          </a:graphicData>
        </a:graphic>
      </p:graphicFrame>
      <p:sp>
        <p:nvSpPr>
          <p:cNvPr id="8" name="Text 4"/>
          <p:cNvSpPr/>
          <p:nvPr/>
        </p:nvSpPr>
        <p:spPr>
          <a:xfrm>
            <a:off x="457200" y="6510528"/>
            <a:ext cx="7315200" cy="274320"/>
          </a:xfrm>
          <a:prstGeom prst="rect">
            <a:avLst/>
          </a:prstGeom>
          <a:noFill/>
          <a:ln/>
        </p:spPr>
        <p:txBody>
          <a:bodyPr wrap="square" rtlCol="0" anchor="ctr"/>
          <a:lstStyle/>
          <a:p>
            <a:pPr marL="0" indent="0">
              <a:buNone/>
            </a:pPr>
            <a:r>
              <a:rPr lang="en-US" sz="900" dirty="0">
                <a:solidFill>
                  <a:srgbClr val="71808E"/>
                </a:solidFill>
                <a:latin typeface="Calibri" pitchFamily="34" charset="0"/>
                <a:ea typeface="Calibri" pitchFamily="34" charset="-122"/>
                <a:cs typeface="Calibri" pitchFamily="34" charset="-120"/>
              </a:rPr>
              <a:t>Population Growth Analysis and Forecasting</a:t>
            </a:r>
            <a:endParaRPr lang="en-US" sz="900" dirty="0"/>
          </a:p>
        </p:txBody>
      </p:sp>
      <p:sp>
        <p:nvSpPr>
          <p:cNvPr id="9" name="Text 5"/>
          <p:cNvSpPr/>
          <p:nvPr/>
        </p:nvSpPr>
        <p:spPr>
          <a:xfrm>
            <a:off x="11430000" y="6510528"/>
            <a:ext cx="365760" cy="274320"/>
          </a:xfrm>
          <a:prstGeom prst="rect">
            <a:avLst/>
          </a:prstGeom>
          <a:noFill/>
          <a:ln/>
        </p:spPr>
        <p:txBody>
          <a:bodyPr wrap="square" rtlCol="0" anchor="ctr"/>
          <a:lstStyle/>
          <a:p>
            <a:pPr marL="0" indent="0" algn="r">
              <a:buNone/>
            </a:pPr>
            <a:r>
              <a:rPr lang="en-US" sz="900" dirty="0">
                <a:solidFill>
                  <a:srgbClr val="71808E"/>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rtlCol="0" anchor="ctr"/>
          <a:lstStyle/>
          <a:p>
            <a:pPr marL="0" indent="0">
              <a:buNone/>
            </a:pPr>
            <a:r>
              <a:rPr lang="en-US" sz="1300" b="1" kern="0" spc="200" dirty="0">
                <a:solidFill>
                  <a:srgbClr val="B08D57"/>
                </a:solidFill>
                <a:latin typeface="Calibri" pitchFamily="34" charset="0"/>
                <a:ea typeface="Calibri" pitchFamily="34" charset="-122"/>
                <a:cs typeface="Calibri" pitchFamily="34" charset="-120"/>
              </a:rPr>
              <a:t>SECTION 4 — KEY FINDINGS</a:t>
            </a:r>
            <a:endParaRPr lang="en-US" sz="1300" dirty="0"/>
          </a:p>
        </p:txBody>
      </p:sp>
      <p:sp>
        <p:nvSpPr>
          <p:cNvPr id="3" name="Text 1"/>
          <p:cNvSpPr/>
          <p:nvPr/>
        </p:nvSpPr>
        <p:spPr>
          <a:xfrm>
            <a:off x="548640" y="566928"/>
            <a:ext cx="10515600" cy="640080"/>
          </a:xfrm>
          <a:prstGeom prst="rect">
            <a:avLst/>
          </a:prstGeom>
          <a:noFill/>
          <a:ln/>
        </p:spPr>
        <p:txBody>
          <a:bodyPr wrap="square" rtlCol="0" anchor="ctr"/>
          <a:lstStyle/>
          <a:p>
            <a:pPr marL="0" indent="0">
              <a:buNone/>
            </a:pPr>
            <a:r>
              <a:rPr lang="en-US" sz="3000" b="1" dirty="0">
                <a:solidFill>
                  <a:srgbClr val="42637E"/>
                </a:solidFill>
                <a:latin typeface="Georgia" pitchFamily="34" charset="0"/>
                <a:ea typeface="Georgia" pitchFamily="34" charset="-122"/>
                <a:cs typeface="Georgia" pitchFamily="34" charset="-120"/>
              </a:rPr>
              <a:t>Growth Extremes &amp; Negative Growth</a:t>
            </a:r>
            <a:endParaRPr lang="en-US" sz="3000" dirty="0"/>
          </a:p>
        </p:txBody>
      </p:sp>
      <p:graphicFrame>
        <p:nvGraphicFramePr>
          <p:cNvPr id="4" name="Chart 0"/>
          <p:cNvGraphicFramePr/>
          <p:nvPr/>
        </p:nvGraphicFramePr>
        <p:xfrm>
          <a:off x="365760" y="1371600"/>
          <a:ext cx="6949440" cy="502920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7589520" y="1371600"/>
            <a:ext cx="4023360" cy="2286000"/>
          </a:xfrm>
          <a:prstGeom prst="roundRect">
            <a:avLst>
              <a:gd name="adj" fmla="val 2000"/>
            </a:avLst>
          </a:prstGeom>
          <a:solidFill>
            <a:srgbClr val="42637E"/>
          </a:solidFill>
          <a:ln/>
          <a:effectLst>
            <a:outerShdw blurRad="63500" dist="25400" dir="2700000" algn="bl" rotWithShape="0">
              <a:srgbClr val="42637E">
                <a:alpha val="6000"/>
              </a:srgbClr>
            </a:outerShdw>
          </a:effectLst>
        </p:spPr>
        <p:txBody>
          <a:bodyPr/>
          <a:lstStyle/>
          <a:p>
            <a:endParaRPr lang="en-US"/>
          </a:p>
        </p:txBody>
      </p:sp>
      <p:sp>
        <p:nvSpPr>
          <p:cNvPr id="6" name="Text 3"/>
          <p:cNvSpPr/>
          <p:nvPr/>
        </p:nvSpPr>
        <p:spPr>
          <a:xfrm>
            <a:off x="7818120" y="1536192"/>
            <a:ext cx="3566160" cy="320040"/>
          </a:xfrm>
          <a:prstGeom prst="rect">
            <a:avLst/>
          </a:prstGeom>
          <a:noFill/>
          <a:ln/>
        </p:spPr>
        <p:txBody>
          <a:bodyPr wrap="square" rtlCol="0" anchor="ctr"/>
          <a:lstStyle/>
          <a:p>
            <a:pPr marL="0" indent="0">
              <a:buNone/>
            </a:pPr>
            <a:r>
              <a:rPr lang="en-US" sz="1200" dirty="0">
                <a:solidFill>
                  <a:srgbClr val="E8EDF1"/>
                </a:solidFill>
                <a:latin typeface="Calibri" pitchFamily="34" charset="0"/>
                <a:ea typeface="Calibri" pitchFamily="34" charset="-122"/>
                <a:cs typeface="Calibri" pitchFamily="34" charset="-120"/>
              </a:rPr>
              <a:t>Highest Growth</a:t>
            </a:r>
            <a:endParaRPr lang="en-US" sz="1200" dirty="0"/>
          </a:p>
        </p:txBody>
      </p:sp>
      <p:sp>
        <p:nvSpPr>
          <p:cNvPr id="7" name="Text 4"/>
          <p:cNvSpPr/>
          <p:nvPr/>
        </p:nvSpPr>
        <p:spPr>
          <a:xfrm>
            <a:off x="7818120" y="1828800"/>
            <a:ext cx="3566160" cy="411480"/>
          </a:xfrm>
          <a:prstGeom prst="rect">
            <a:avLst/>
          </a:prstGeom>
          <a:noFill/>
          <a:ln/>
        </p:spPr>
        <p:txBody>
          <a:bodyPr wrap="square" rtlCol="0" anchor="ctr"/>
          <a:lstStyle/>
          <a:p>
            <a:pPr marL="0" indent="0">
              <a:buNone/>
            </a:pPr>
            <a:r>
              <a:rPr lang="en-US" sz="1900" b="1" dirty="0">
                <a:solidFill>
                  <a:srgbClr val="FFFFFF"/>
                </a:solidFill>
                <a:latin typeface="Georgia" pitchFamily="34" charset="0"/>
                <a:ea typeface="Georgia" pitchFamily="34" charset="-122"/>
                <a:cs typeface="Georgia" pitchFamily="34" charset="-120"/>
              </a:rPr>
              <a:t>Qatar, 2007</a:t>
            </a:r>
            <a:endParaRPr lang="en-US" sz="1900" dirty="0"/>
          </a:p>
        </p:txBody>
      </p:sp>
      <p:sp>
        <p:nvSpPr>
          <p:cNvPr id="8" name="Text 5"/>
          <p:cNvSpPr/>
          <p:nvPr/>
        </p:nvSpPr>
        <p:spPr>
          <a:xfrm>
            <a:off x="7818120" y="2286000"/>
            <a:ext cx="3566160" cy="548640"/>
          </a:xfrm>
          <a:prstGeom prst="rect">
            <a:avLst/>
          </a:prstGeom>
          <a:noFill/>
          <a:ln/>
        </p:spPr>
        <p:txBody>
          <a:bodyPr wrap="square" rtlCol="0" anchor="ctr"/>
          <a:lstStyle/>
          <a:p>
            <a:pPr marL="0" indent="0">
              <a:buNone/>
            </a:pPr>
            <a:r>
              <a:rPr lang="en-US" sz="2800" b="1" dirty="0">
                <a:solidFill>
                  <a:srgbClr val="9FD8DF"/>
                </a:solidFill>
                <a:latin typeface="Georgia" pitchFamily="34" charset="0"/>
                <a:ea typeface="Georgia" pitchFamily="34" charset="-122"/>
                <a:cs typeface="Georgia" pitchFamily="34" charset="-120"/>
              </a:rPr>
              <a:t>+24.23%</a:t>
            </a:r>
            <a:endParaRPr lang="en-US" sz="2800" dirty="0"/>
          </a:p>
        </p:txBody>
      </p:sp>
      <p:sp>
        <p:nvSpPr>
          <p:cNvPr id="9" name="Shape 6"/>
          <p:cNvSpPr/>
          <p:nvPr/>
        </p:nvSpPr>
        <p:spPr>
          <a:xfrm>
            <a:off x="7589520" y="3840480"/>
            <a:ext cx="4023360" cy="2286000"/>
          </a:xfrm>
          <a:prstGeom prst="roundRect">
            <a:avLst>
              <a:gd name="adj" fmla="val 2000"/>
            </a:avLst>
          </a:prstGeom>
          <a:solidFill>
            <a:srgbClr val="A8585B"/>
          </a:solidFill>
          <a:ln/>
          <a:effectLst>
            <a:outerShdw blurRad="63500" dist="25400" dir="2700000" algn="bl" rotWithShape="0">
              <a:srgbClr val="42637E">
                <a:alpha val="6000"/>
              </a:srgbClr>
            </a:outerShdw>
          </a:effectLst>
        </p:spPr>
        <p:txBody>
          <a:bodyPr/>
          <a:lstStyle/>
          <a:p>
            <a:endParaRPr lang="en-US"/>
          </a:p>
        </p:txBody>
      </p:sp>
      <p:sp>
        <p:nvSpPr>
          <p:cNvPr id="10" name="Text 7"/>
          <p:cNvSpPr/>
          <p:nvPr/>
        </p:nvSpPr>
        <p:spPr>
          <a:xfrm>
            <a:off x="7818120" y="4005072"/>
            <a:ext cx="3566160" cy="320040"/>
          </a:xfrm>
          <a:prstGeom prst="rect">
            <a:avLst/>
          </a:prstGeom>
          <a:noFill/>
          <a:ln/>
        </p:spPr>
        <p:txBody>
          <a:bodyPr wrap="square" rtlCol="0" anchor="ctr"/>
          <a:lstStyle/>
          <a:p>
            <a:pPr marL="0" indent="0">
              <a:buNone/>
            </a:pPr>
            <a:r>
              <a:rPr lang="en-US" sz="1200" dirty="0">
                <a:solidFill>
                  <a:srgbClr val="FDE8E6"/>
                </a:solidFill>
                <a:latin typeface="Calibri" pitchFamily="34" charset="0"/>
                <a:ea typeface="Calibri" pitchFamily="34" charset="-122"/>
                <a:cs typeface="Calibri" pitchFamily="34" charset="-120"/>
              </a:rPr>
              <a:t>Lowest Growth</a:t>
            </a:r>
            <a:endParaRPr lang="en-US" sz="1200" dirty="0"/>
          </a:p>
        </p:txBody>
      </p:sp>
      <p:sp>
        <p:nvSpPr>
          <p:cNvPr id="11" name="Text 8"/>
          <p:cNvSpPr/>
          <p:nvPr/>
        </p:nvSpPr>
        <p:spPr>
          <a:xfrm>
            <a:off x="7818120" y="4297680"/>
            <a:ext cx="3566160" cy="411480"/>
          </a:xfrm>
          <a:prstGeom prst="rect">
            <a:avLst/>
          </a:prstGeom>
          <a:noFill/>
          <a:ln/>
        </p:spPr>
        <p:txBody>
          <a:bodyPr wrap="square" rtlCol="0" anchor="ctr"/>
          <a:lstStyle/>
          <a:p>
            <a:pPr marL="0" indent="0">
              <a:buNone/>
            </a:pPr>
            <a:r>
              <a:rPr lang="en-US" sz="1900" b="1" dirty="0">
                <a:solidFill>
                  <a:srgbClr val="FFFFFF"/>
                </a:solidFill>
                <a:latin typeface="Georgia" pitchFamily="34" charset="0"/>
                <a:ea typeface="Georgia" pitchFamily="34" charset="-122"/>
                <a:cs typeface="Georgia" pitchFamily="34" charset="-120"/>
              </a:rPr>
              <a:t>Kuwait, 1990</a:t>
            </a:r>
            <a:endParaRPr lang="en-US" sz="1900" dirty="0"/>
          </a:p>
        </p:txBody>
      </p:sp>
      <p:sp>
        <p:nvSpPr>
          <p:cNvPr id="12" name="Text 9"/>
          <p:cNvSpPr/>
          <p:nvPr/>
        </p:nvSpPr>
        <p:spPr>
          <a:xfrm>
            <a:off x="7818120" y="4754880"/>
            <a:ext cx="3566160" cy="548640"/>
          </a:xfrm>
          <a:prstGeom prst="rect">
            <a:avLst/>
          </a:prstGeom>
          <a:noFill/>
          <a:ln/>
        </p:spPr>
        <p:txBody>
          <a:bodyPr wrap="square" rtlCol="0" anchor="ctr"/>
          <a:lstStyle/>
          <a:p>
            <a:pPr marL="0" indent="0">
              <a:buNone/>
            </a:pPr>
            <a:r>
              <a:rPr lang="en-US" sz="2800" b="1" dirty="0">
                <a:solidFill>
                  <a:srgbClr val="FDE8E6"/>
                </a:solidFill>
                <a:latin typeface="Georgia" pitchFamily="34" charset="0"/>
                <a:ea typeface="Georgia" pitchFamily="34" charset="-122"/>
                <a:cs typeface="Georgia" pitchFamily="34" charset="-120"/>
              </a:rPr>
              <a:t>–24.02%</a:t>
            </a:r>
            <a:endParaRPr lang="en-US" sz="2800" dirty="0"/>
          </a:p>
        </p:txBody>
      </p:sp>
      <p:sp>
        <p:nvSpPr>
          <p:cNvPr id="13" name="Text 10"/>
          <p:cNvSpPr/>
          <p:nvPr/>
        </p:nvSpPr>
        <p:spPr>
          <a:xfrm>
            <a:off x="457200" y="6510528"/>
            <a:ext cx="7315200" cy="274320"/>
          </a:xfrm>
          <a:prstGeom prst="rect">
            <a:avLst/>
          </a:prstGeom>
          <a:noFill/>
          <a:ln/>
        </p:spPr>
        <p:txBody>
          <a:bodyPr wrap="square" rtlCol="0" anchor="ctr"/>
          <a:lstStyle/>
          <a:p>
            <a:pPr marL="0" indent="0">
              <a:buNone/>
            </a:pPr>
            <a:r>
              <a:rPr lang="en-US" sz="900" dirty="0">
                <a:solidFill>
                  <a:srgbClr val="71808E"/>
                </a:solidFill>
                <a:latin typeface="Calibri" pitchFamily="34" charset="0"/>
                <a:ea typeface="Calibri" pitchFamily="34" charset="-122"/>
                <a:cs typeface="Calibri" pitchFamily="34" charset="-120"/>
              </a:rPr>
              <a:t>Population Growth Analysis and Forecasting</a:t>
            </a:r>
            <a:endParaRPr lang="en-US" sz="900" dirty="0"/>
          </a:p>
        </p:txBody>
      </p:sp>
      <p:sp>
        <p:nvSpPr>
          <p:cNvPr id="14" name="Text 11"/>
          <p:cNvSpPr/>
          <p:nvPr/>
        </p:nvSpPr>
        <p:spPr>
          <a:xfrm>
            <a:off x="11430000" y="6510528"/>
            <a:ext cx="365760" cy="274320"/>
          </a:xfrm>
          <a:prstGeom prst="rect">
            <a:avLst/>
          </a:prstGeom>
          <a:noFill/>
          <a:ln/>
        </p:spPr>
        <p:txBody>
          <a:bodyPr wrap="square" rtlCol="0" anchor="ctr"/>
          <a:lstStyle/>
          <a:p>
            <a:pPr marL="0" indent="0" algn="r">
              <a:buNone/>
            </a:pPr>
            <a:r>
              <a:rPr lang="en-US" sz="900" dirty="0">
                <a:solidFill>
                  <a:srgbClr val="71808E"/>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rtlCol="0" anchor="ctr"/>
          <a:lstStyle/>
          <a:p>
            <a:pPr marL="0" indent="0">
              <a:buNone/>
            </a:pPr>
            <a:r>
              <a:rPr lang="en-US" sz="1300" b="1" kern="0" spc="200" dirty="0">
                <a:solidFill>
                  <a:srgbClr val="B08D57"/>
                </a:solidFill>
                <a:latin typeface="Calibri" pitchFamily="34" charset="0"/>
                <a:ea typeface="Calibri" pitchFamily="34" charset="-122"/>
                <a:cs typeface="Calibri" pitchFamily="34" charset="-120"/>
              </a:rPr>
              <a:t>SECTION 5 — ADVANCED ANALYSIS</a:t>
            </a:r>
            <a:endParaRPr lang="en-US" sz="1300" dirty="0"/>
          </a:p>
        </p:txBody>
      </p:sp>
      <p:sp>
        <p:nvSpPr>
          <p:cNvPr id="3" name="Text 1"/>
          <p:cNvSpPr/>
          <p:nvPr/>
        </p:nvSpPr>
        <p:spPr>
          <a:xfrm>
            <a:off x="548640" y="566928"/>
            <a:ext cx="10515600" cy="640080"/>
          </a:xfrm>
          <a:prstGeom prst="rect">
            <a:avLst/>
          </a:prstGeom>
          <a:noFill/>
          <a:ln/>
        </p:spPr>
        <p:txBody>
          <a:bodyPr wrap="square" rtlCol="0" anchor="ctr"/>
          <a:lstStyle/>
          <a:p>
            <a:pPr marL="0" indent="0">
              <a:buNone/>
            </a:pPr>
            <a:r>
              <a:rPr lang="en-US" sz="3000" b="1" dirty="0">
                <a:solidFill>
                  <a:srgbClr val="42637E"/>
                </a:solidFill>
                <a:latin typeface="Georgia" pitchFamily="34" charset="0"/>
                <a:ea typeface="Georgia" pitchFamily="34" charset="-122"/>
                <a:cs typeface="Georgia" pitchFamily="34" charset="-120"/>
              </a:rPr>
              <a:t>Outliers &amp; Long-Term Growth Ranking</a:t>
            </a:r>
            <a:endParaRPr lang="en-US" sz="3000" dirty="0"/>
          </a:p>
        </p:txBody>
      </p:sp>
      <p:pic>
        <p:nvPicPr>
          <p:cNvPr id="4" name="Image 0" descr="/home/claude/assets/icon_exclaim_blue.png"/>
          <p:cNvPicPr>
            <a:picLocks noChangeAspect="1"/>
          </p:cNvPicPr>
          <p:nvPr/>
        </p:nvPicPr>
        <p:blipFill>
          <a:blip r:embed="rId3"/>
          <a:stretch>
            <a:fillRect/>
          </a:stretch>
        </p:blipFill>
        <p:spPr>
          <a:xfrm>
            <a:off x="457200" y="1325880"/>
            <a:ext cx="365760" cy="365760"/>
          </a:xfrm>
          <a:prstGeom prst="rect">
            <a:avLst/>
          </a:prstGeom>
        </p:spPr>
      </p:pic>
      <p:sp>
        <p:nvSpPr>
          <p:cNvPr id="5" name="Text 2"/>
          <p:cNvSpPr/>
          <p:nvPr/>
        </p:nvSpPr>
        <p:spPr>
          <a:xfrm>
            <a:off x="914400" y="1325880"/>
            <a:ext cx="5029200" cy="365760"/>
          </a:xfrm>
          <a:prstGeom prst="rect">
            <a:avLst/>
          </a:prstGeom>
          <a:noFill/>
          <a:ln/>
        </p:spPr>
        <p:txBody>
          <a:bodyPr wrap="square" rtlCol="0" anchor="ctr"/>
          <a:lstStyle/>
          <a:p>
            <a:pPr marL="0" indent="0">
              <a:buNone/>
            </a:pPr>
            <a:r>
              <a:rPr lang="en-US" sz="1400" b="1" dirty="0">
                <a:solidFill>
                  <a:srgbClr val="42637E"/>
                </a:solidFill>
                <a:latin typeface="Calibri" pitchFamily="34" charset="0"/>
                <a:ea typeface="Calibri" pitchFamily="34" charset="-122"/>
                <a:cs typeface="Calibri" pitchFamily="34" charset="-120"/>
              </a:rPr>
              <a:t>Top Growth Outliers (IQR Method)</a:t>
            </a:r>
            <a:endParaRPr lang="en-US" sz="14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1737360"/>
          <a:ext cx="5577840" cy="2270760"/>
        </p:xfrm>
        <a:graphic>
          <a:graphicData uri="http://schemas.openxmlformats.org/drawingml/2006/table">
            <a:tbl>
              <a:tblPr/>
              <a:tblGrid>
                <a:gridCol w="301752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tblGrid>
              <a:tr h="0">
                <a:tc>
                  <a:txBody>
                    <a:bodyPr/>
                    <a:lstStyle/>
                    <a:p>
                      <a:pPr marL="0" indent="0" algn="l">
                        <a:buNone/>
                      </a:pPr>
                      <a:r>
                        <a:rPr lang="en-US" sz="1100" b="1" dirty="0">
                          <a:solidFill>
                            <a:srgbClr val="FFFFFF"/>
                          </a:solidFill>
                        </a:rPr>
                        <a:t>Country</a:t>
                      </a:r>
                      <a:endParaRPr lang="en-US" sz="1100" dirty="0"/>
                    </a:p>
                  </a:txBody>
                  <a:tcPr>
                    <a:lnL w="0" cap="flat" cmpd="sng" algn="ctr">
                      <a:noFill/>
                    </a:lnL>
                    <a:lnR w="0" cap="flat" cmpd="sng" algn="ctr">
                      <a:noFill/>
                    </a:lnR>
                    <a:lnT w="0" cap="flat" cmpd="sng" algn="ctr">
                      <a:noFill/>
                    </a:lnT>
                    <a:lnB w="0" cap="flat" cmpd="sng" algn="ctr">
                      <a:noFill/>
                    </a:lnB>
                    <a:solidFill>
                      <a:srgbClr val="42637E"/>
                    </a:solidFill>
                  </a:tcPr>
                </a:tc>
                <a:tc>
                  <a:txBody>
                    <a:bodyPr/>
                    <a:lstStyle/>
                    <a:p>
                      <a:pPr marL="0" indent="0" algn="ctr">
                        <a:buNone/>
                      </a:pPr>
                      <a:r>
                        <a:rPr lang="en-US" sz="1100" b="1" dirty="0">
                          <a:solidFill>
                            <a:srgbClr val="FFFFFF"/>
                          </a:solidFill>
                        </a:rPr>
                        <a:t>Year</a:t>
                      </a:r>
                      <a:endParaRPr lang="en-US" sz="1100" dirty="0"/>
                    </a:p>
                  </a:txBody>
                  <a:tcPr>
                    <a:lnL w="0" cap="flat" cmpd="sng" algn="ctr">
                      <a:noFill/>
                    </a:lnL>
                    <a:lnR w="0" cap="flat" cmpd="sng" algn="ctr">
                      <a:noFill/>
                    </a:lnR>
                    <a:lnT w="0" cap="flat" cmpd="sng" algn="ctr">
                      <a:noFill/>
                    </a:lnT>
                    <a:lnB w="0" cap="flat" cmpd="sng" algn="ctr">
                      <a:noFill/>
                    </a:lnB>
                    <a:solidFill>
                      <a:srgbClr val="42637E"/>
                    </a:solidFill>
                  </a:tcPr>
                </a:tc>
                <a:tc>
                  <a:txBody>
                    <a:bodyPr/>
                    <a:lstStyle/>
                    <a:p>
                      <a:pPr marL="0" indent="0" algn="ctr">
                        <a:buNone/>
                      </a:pPr>
                      <a:r>
                        <a:rPr lang="en-US" sz="1100" b="1" dirty="0">
                          <a:solidFill>
                            <a:srgbClr val="FFFFFF"/>
                          </a:solidFill>
                        </a:rPr>
                        <a:t>Rate</a:t>
                      </a:r>
                      <a:endParaRPr lang="en-US" sz="1100" dirty="0"/>
                    </a:p>
                  </a:txBody>
                  <a:tcPr>
                    <a:lnL w="0" cap="flat" cmpd="sng" algn="ctr">
                      <a:noFill/>
                    </a:lnL>
                    <a:lnR w="0" cap="flat" cmpd="sng" algn="ctr">
                      <a:noFill/>
                    </a:lnR>
                    <a:lnT w="0" cap="flat" cmpd="sng" algn="ctr">
                      <a:noFill/>
                    </a:lnT>
                    <a:lnB w="0" cap="flat" cmpd="sng" algn="ctr">
                      <a:noFill/>
                    </a:lnB>
                    <a:solidFill>
                      <a:srgbClr val="42637E"/>
                    </a:solidFill>
                  </a:tcPr>
                </a:tc>
                <a:extLst>
                  <a:ext uri="{0D108BD9-81ED-4DB2-BD59-A6C34878D82A}">
                    <a16:rowId xmlns:a16="http://schemas.microsoft.com/office/drawing/2014/main" val="10000"/>
                  </a:ext>
                </a:extLst>
              </a:tr>
              <a:tr h="0">
                <a:tc>
                  <a:txBody>
                    <a:bodyPr/>
                    <a:lstStyle/>
                    <a:p>
                      <a:pPr marL="0" indent="0" algn="l">
                        <a:buNone/>
                      </a:pPr>
                      <a:r>
                        <a:rPr lang="en-US" sz="1050" dirty="0">
                          <a:solidFill>
                            <a:srgbClr val="33414F"/>
                          </a:solidFill>
                        </a:rPr>
                        <a:t>Qatar</a:t>
                      </a:r>
                      <a:endParaRPr lang="en-US" sz="1050" dirty="0"/>
                    </a:p>
                  </a:txBody>
                  <a:tcP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050" dirty="0">
                          <a:solidFill>
                            <a:srgbClr val="33414F"/>
                          </a:solidFill>
                        </a:rPr>
                        <a:t>2007</a:t>
                      </a:r>
                      <a:endParaRPr lang="en-US" sz="1050" dirty="0"/>
                    </a:p>
                  </a:txBody>
                  <a:tcP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050" dirty="0">
                          <a:solidFill>
                            <a:srgbClr val="33414F"/>
                          </a:solidFill>
                        </a:rPr>
                        <a:t>24.23</a:t>
                      </a:r>
                      <a:endParaRPr lang="en-US" sz="1050" dirty="0"/>
                    </a:p>
                  </a:txBody>
                  <a:tcP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1"/>
                  </a:ext>
                </a:extLst>
              </a:tr>
              <a:tr h="0">
                <a:tc>
                  <a:txBody>
                    <a:bodyPr/>
                    <a:lstStyle/>
                    <a:p>
                      <a:pPr marL="0" indent="0" algn="l">
                        <a:buNone/>
                      </a:pPr>
                      <a:r>
                        <a:rPr lang="en-US" sz="1050" dirty="0">
                          <a:solidFill>
                            <a:srgbClr val="33414F"/>
                          </a:solidFill>
                        </a:rPr>
                        <a:t>Kuwait</a:t>
                      </a:r>
                      <a:endParaRPr lang="en-US" sz="1050" dirty="0"/>
                    </a:p>
                  </a:txBody>
                  <a:tcPr>
                    <a:lnL w="0" cap="flat" cmpd="sng" algn="ctr">
                      <a:noFill/>
                    </a:lnL>
                    <a:lnR w="0" cap="flat" cmpd="sng" algn="ctr">
                      <a:noFill/>
                    </a:lnR>
                    <a:lnT w="0" cap="flat" cmpd="sng" algn="ctr">
                      <a:noFill/>
                    </a:lnT>
                    <a:lnB w="0" cap="flat" cmpd="sng" algn="ctr">
                      <a:noFill/>
                    </a:lnB>
                    <a:solidFill>
                      <a:srgbClr val="F2F4F6"/>
                    </a:solidFill>
                  </a:tcPr>
                </a:tc>
                <a:tc>
                  <a:txBody>
                    <a:bodyPr/>
                    <a:lstStyle/>
                    <a:p>
                      <a:pPr marL="0" indent="0" algn="ctr">
                        <a:buNone/>
                      </a:pPr>
                      <a:r>
                        <a:rPr lang="en-US" sz="1050" dirty="0">
                          <a:solidFill>
                            <a:srgbClr val="33414F"/>
                          </a:solidFill>
                        </a:rPr>
                        <a:t>1990</a:t>
                      </a:r>
                      <a:endParaRPr lang="en-US" sz="1050" dirty="0"/>
                    </a:p>
                  </a:txBody>
                  <a:tcPr>
                    <a:lnL w="0" cap="flat" cmpd="sng" algn="ctr">
                      <a:noFill/>
                    </a:lnL>
                    <a:lnR w="0" cap="flat" cmpd="sng" algn="ctr">
                      <a:noFill/>
                    </a:lnR>
                    <a:lnT w="0" cap="flat" cmpd="sng" algn="ctr">
                      <a:noFill/>
                    </a:lnT>
                    <a:lnB w="0" cap="flat" cmpd="sng" algn="ctr">
                      <a:noFill/>
                    </a:lnB>
                    <a:solidFill>
                      <a:srgbClr val="F2F4F6"/>
                    </a:solidFill>
                  </a:tcPr>
                </a:tc>
                <a:tc>
                  <a:txBody>
                    <a:bodyPr/>
                    <a:lstStyle/>
                    <a:p>
                      <a:pPr marL="0" indent="0" algn="ctr">
                        <a:buNone/>
                      </a:pPr>
                      <a:r>
                        <a:rPr lang="en-US" sz="1050" dirty="0">
                          <a:solidFill>
                            <a:srgbClr val="33414F"/>
                          </a:solidFill>
                        </a:rPr>
                        <a:t>-24.02</a:t>
                      </a:r>
                      <a:endParaRPr lang="en-US" sz="1050" dirty="0"/>
                    </a:p>
                  </a:txBody>
                  <a:tcPr>
                    <a:lnL w="0" cap="flat" cmpd="sng" algn="ctr">
                      <a:noFill/>
                    </a:lnL>
                    <a:lnR w="0" cap="flat" cmpd="sng" algn="ctr">
                      <a:noFill/>
                    </a:lnR>
                    <a:lnT w="0" cap="flat" cmpd="sng" algn="ctr">
                      <a:noFill/>
                    </a:lnT>
                    <a:lnB w="0" cap="flat" cmpd="sng" algn="ctr">
                      <a:noFill/>
                    </a:lnB>
                    <a:solidFill>
                      <a:srgbClr val="F2F4F6"/>
                    </a:solidFill>
                  </a:tcPr>
                </a:tc>
                <a:extLst>
                  <a:ext uri="{0D108BD9-81ED-4DB2-BD59-A6C34878D82A}">
                    <a16:rowId xmlns:a16="http://schemas.microsoft.com/office/drawing/2014/main" val="10002"/>
                  </a:ext>
                </a:extLst>
              </a:tr>
              <a:tr h="0">
                <a:tc>
                  <a:txBody>
                    <a:bodyPr/>
                    <a:lstStyle/>
                    <a:p>
                      <a:pPr marL="0" indent="0" algn="l">
                        <a:buNone/>
                      </a:pPr>
                      <a:r>
                        <a:rPr lang="en-US" sz="1050" dirty="0">
                          <a:solidFill>
                            <a:srgbClr val="33414F"/>
                          </a:solidFill>
                        </a:rPr>
                        <a:t>Macao SAR, China</a:t>
                      </a:r>
                      <a:endParaRPr lang="en-US" sz="1050" dirty="0"/>
                    </a:p>
                  </a:txBody>
                  <a:tcP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050" dirty="0">
                          <a:solidFill>
                            <a:srgbClr val="33414F"/>
                          </a:solidFill>
                        </a:rPr>
                        <a:t>1964</a:t>
                      </a:r>
                      <a:endParaRPr lang="en-US" sz="1050" dirty="0"/>
                    </a:p>
                  </a:txBody>
                  <a:tcP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050" dirty="0">
                          <a:solidFill>
                            <a:srgbClr val="33414F"/>
                          </a:solidFill>
                        </a:rPr>
                        <a:t>23.89</a:t>
                      </a:r>
                      <a:endParaRPr lang="en-US" sz="1050" dirty="0"/>
                    </a:p>
                  </a:txBody>
                  <a:tcP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3"/>
                  </a:ext>
                </a:extLst>
              </a:tr>
              <a:tr h="0">
                <a:tc>
                  <a:txBody>
                    <a:bodyPr/>
                    <a:lstStyle/>
                    <a:p>
                      <a:pPr marL="0" indent="0" algn="l">
                        <a:buNone/>
                      </a:pPr>
                      <a:r>
                        <a:rPr lang="en-US" sz="1050" dirty="0">
                          <a:solidFill>
                            <a:srgbClr val="33414F"/>
                          </a:solidFill>
                        </a:rPr>
                        <a:t>Seychelles</a:t>
                      </a:r>
                      <a:endParaRPr lang="en-US" sz="1050" dirty="0"/>
                    </a:p>
                  </a:txBody>
                  <a:tcPr>
                    <a:lnL w="0" cap="flat" cmpd="sng" algn="ctr">
                      <a:noFill/>
                    </a:lnL>
                    <a:lnR w="0" cap="flat" cmpd="sng" algn="ctr">
                      <a:noFill/>
                    </a:lnR>
                    <a:lnT w="0" cap="flat" cmpd="sng" algn="ctr">
                      <a:noFill/>
                    </a:lnT>
                    <a:lnB w="0" cap="flat" cmpd="sng" algn="ctr">
                      <a:noFill/>
                    </a:lnB>
                    <a:solidFill>
                      <a:srgbClr val="F2F4F6"/>
                    </a:solidFill>
                  </a:tcPr>
                </a:tc>
                <a:tc>
                  <a:txBody>
                    <a:bodyPr/>
                    <a:lstStyle/>
                    <a:p>
                      <a:pPr marL="0" indent="0" algn="ctr">
                        <a:buNone/>
                      </a:pPr>
                      <a:r>
                        <a:rPr lang="en-US" sz="1050" dirty="0">
                          <a:solidFill>
                            <a:srgbClr val="33414F"/>
                          </a:solidFill>
                        </a:rPr>
                        <a:t>2022</a:t>
                      </a:r>
                      <a:endParaRPr lang="en-US" sz="1050" dirty="0"/>
                    </a:p>
                  </a:txBody>
                  <a:tcPr>
                    <a:lnL w="0" cap="flat" cmpd="sng" algn="ctr">
                      <a:noFill/>
                    </a:lnL>
                    <a:lnR w="0" cap="flat" cmpd="sng" algn="ctr">
                      <a:noFill/>
                    </a:lnR>
                    <a:lnT w="0" cap="flat" cmpd="sng" algn="ctr">
                      <a:noFill/>
                    </a:lnT>
                    <a:lnB w="0" cap="flat" cmpd="sng" algn="ctr">
                      <a:noFill/>
                    </a:lnB>
                    <a:solidFill>
                      <a:srgbClr val="F2F4F6"/>
                    </a:solidFill>
                  </a:tcPr>
                </a:tc>
                <a:tc>
                  <a:txBody>
                    <a:bodyPr/>
                    <a:lstStyle/>
                    <a:p>
                      <a:pPr marL="0" indent="0" algn="ctr">
                        <a:buNone/>
                      </a:pPr>
                      <a:r>
                        <a:rPr lang="en-US" sz="1050" dirty="0">
                          <a:solidFill>
                            <a:srgbClr val="33414F"/>
                          </a:solidFill>
                        </a:rPr>
                        <a:t>20.77</a:t>
                      </a:r>
                      <a:endParaRPr lang="en-US" sz="1050" dirty="0"/>
                    </a:p>
                  </a:txBody>
                  <a:tcPr>
                    <a:lnL w="0" cap="flat" cmpd="sng" algn="ctr">
                      <a:noFill/>
                    </a:lnL>
                    <a:lnR w="0" cap="flat" cmpd="sng" algn="ctr">
                      <a:noFill/>
                    </a:lnR>
                    <a:lnT w="0" cap="flat" cmpd="sng" algn="ctr">
                      <a:noFill/>
                    </a:lnT>
                    <a:lnB w="0" cap="flat" cmpd="sng" algn="ctr">
                      <a:noFill/>
                    </a:lnB>
                    <a:solidFill>
                      <a:srgbClr val="F2F4F6"/>
                    </a:solidFill>
                  </a:tcPr>
                </a:tc>
                <a:extLst>
                  <a:ext uri="{0D108BD9-81ED-4DB2-BD59-A6C34878D82A}">
                    <a16:rowId xmlns:a16="http://schemas.microsoft.com/office/drawing/2014/main" val="10004"/>
                  </a:ext>
                </a:extLst>
              </a:tr>
              <a:tr h="0">
                <a:tc>
                  <a:txBody>
                    <a:bodyPr/>
                    <a:lstStyle/>
                    <a:p>
                      <a:pPr marL="0" indent="0" algn="l">
                        <a:buNone/>
                      </a:pPr>
                      <a:r>
                        <a:rPr lang="en-US" sz="1050" dirty="0">
                          <a:solidFill>
                            <a:srgbClr val="33414F"/>
                          </a:solidFill>
                        </a:rPr>
                        <a:t>United Arab Emirates</a:t>
                      </a:r>
                      <a:endParaRPr lang="en-US" sz="1050" dirty="0"/>
                    </a:p>
                  </a:txBody>
                  <a:tcP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050" dirty="0">
                          <a:solidFill>
                            <a:srgbClr val="33414F"/>
                          </a:solidFill>
                        </a:rPr>
                        <a:t>1969</a:t>
                      </a:r>
                      <a:endParaRPr lang="en-US" sz="1050" dirty="0"/>
                    </a:p>
                  </a:txBody>
                  <a:tcP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050" dirty="0">
                          <a:solidFill>
                            <a:srgbClr val="33414F"/>
                          </a:solidFill>
                        </a:rPr>
                        <a:t>20.18</a:t>
                      </a:r>
                      <a:endParaRPr lang="en-US" sz="1050" dirty="0"/>
                    </a:p>
                  </a:txBody>
                  <a:tcP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5"/>
                  </a:ext>
                </a:extLst>
              </a:tr>
              <a:tr h="0">
                <a:tc>
                  <a:txBody>
                    <a:bodyPr/>
                    <a:lstStyle/>
                    <a:p>
                      <a:pPr marL="0" indent="0" algn="l">
                        <a:buNone/>
                      </a:pPr>
                      <a:r>
                        <a:rPr lang="en-US" sz="1050" dirty="0">
                          <a:solidFill>
                            <a:srgbClr val="33414F"/>
                          </a:solidFill>
                        </a:rPr>
                        <a:t>Rwanda</a:t>
                      </a:r>
                      <a:endParaRPr lang="en-US" sz="1050" dirty="0"/>
                    </a:p>
                  </a:txBody>
                  <a:tcPr>
                    <a:lnL w="0" cap="flat" cmpd="sng" algn="ctr">
                      <a:noFill/>
                    </a:lnL>
                    <a:lnR w="0" cap="flat" cmpd="sng" algn="ctr">
                      <a:noFill/>
                    </a:lnR>
                    <a:lnT w="0" cap="flat" cmpd="sng" algn="ctr">
                      <a:noFill/>
                    </a:lnT>
                    <a:lnB w="0" cap="flat" cmpd="sng" algn="ctr">
                      <a:noFill/>
                    </a:lnB>
                    <a:solidFill>
                      <a:srgbClr val="F2F4F6"/>
                    </a:solidFill>
                  </a:tcPr>
                </a:tc>
                <a:tc>
                  <a:txBody>
                    <a:bodyPr/>
                    <a:lstStyle/>
                    <a:p>
                      <a:pPr marL="0" indent="0" algn="ctr">
                        <a:buNone/>
                      </a:pPr>
                      <a:r>
                        <a:rPr lang="en-US" sz="1050" dirty="0">
                          <a:solidFill>
                            <a:srgbClr val="33414F"/>
                          </a:solidFill>
                        </a:rPr>
                        <a:t>1996</a:t>
                      </a:r>
                      <a:endParaRPr lang="en-US" sz="1050" dirty="0"/>
                    </a:p>
                  </a:txBody>
                  <a:tcPr>
                    <a:lnL w="0" cap="flat" cmpd="sng" algn="ctr">
                      <a:noFill/>
                    </a:lnL>
                    <a:lnR w="0" cap="flat" cmpd="sng" algn="ctr">
                      <a:noFill/>
                    </a:lnR>
                    <a:lnT w="0" cap="flat" cmpd="sng" algn="ctr">
                      <a:noFill/>
                    </a:lnT>
                    <a:lnB w="0" cap="flat" cmpd="sng" algn="ctr">
                      <a:noFill/>
                    </a:lnB>
                    <a:solidFill>
                      <a:srgbClr val="F2F4F6"/>
                    </a:solidFill>
                  </a:tcPr>
                </a:tc>
                <a:tc>
                  <a:txBody>
                    <a:bodyPr/>
                    <a:lstStyle/>
                    <a:p>
                      <a:pPr marL="0" indent="0" algn="ctr">
                        <a:buNone/>
                      </a:pPr>
                      <a:r>
                        <a:rPr lang="en-US" sz="1050" dirty="0">
                          <a:solidFill>
                            <a:srgbClr val="33414F"/>
                          </a:solidFill>
                        </a:rPr>
                        <a:t>18.23</a:t>
                      </a:r>
                      <a:endParaRPr lang="en-US" sz="1050" dirty="0"/>
                    </a:p>
                  </a:txBody>
                  <a:tcPr>
                    <a:lnL w="0" cap="flat" cmpd="sng" algn="ctr">
                      <a:noFill/>
                    </a:lnL>
                    <a:lnR w="0" cap="flat" cmpd="sng" algn="ctr">
                      <a:noFill/>
                    </a:lnR>
                    <a:lnT w="0" cap="flat" cmpd="sng" algn="ctr">
                      <a:noFill/>
                    </a:lnT>
                    <a:lnB w="0" cap="flat" cmpd="sng" algn="ctr">
                      <a:noFill/>
                    </a:lnB>
                    <a:solidFill>
                      <a:srgbClr val="F2F4F6"/>
                    </a:solidFill>
                  </a:tcPr>
                </a:tc>
                <a:extLst>
                  <a:ext uri="{0D108BD9-81ED-4DB2-BD59-A6C34878D82A}">
                    <a16:rowId xmlns:a16="http://schemas.microsoft.com/office/drawing/2014/main" val="10006"/>
                  </a:ext>
                </a:extLst>
              </a:tr>
              <a:tr h="0">
                <a:tc>
                  <a:txBody>
                    <a:bodyPr/>
                    <a:lstStyle/>
                    <a:p>
                      <a:pPr marL="0" indent="0" algn="l">
                        <a:buNone/>
                      </a:pPr>
                      <a:r>
                        <a:rPr lang="en-US" sz="1050" dirty="0">
                          <a:solidFill>
                            <a:srgbClr val="33414F"/>
                          </a:solidFill>
                        </a:rPr>
                        <a:t>Oman</a:t>
                      </a:r>
                      <a:endParaRPr lang="en-US" sz="1050" dirty="0"/>
                    </a:p>
                  </a:txBody>
                  <a:tcP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050" dirty="0">
                          <a:solidFill>
                            <a:srgbClr val="33414F"/>
                          </a:solidFill>
                        </a:rPr>
                        <a:t>2012</a:t>
                      </a:r>
                      <a:endParaRPr lang="en-US" sz="1050" dirty="0"/>
                    </a:p>
                  </a:txBody>
                  <a:tcP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050" dirty="0">
                          <a:solidFill>
                            <a:srgbClr val="33414F"/>
                          </a:solidFill>
                        </a:rPr>
                        <a:t>15.29</a:t>
                      </a:r>
                      <a:endParaRPr lang="en-US" sz="1050" dirty="0"/>
                    </a:p>
                  </a:txBody>
                  <a:tcP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7"/>
                  </a:ext>
                </a:extLst>
              </a:tr>
              <a:tr h="0">
                <a:tc>
                  <a:txBody>
                    <a:bodyPr/>
                    <a:lstStyle/>
                    <a:p>
                      <a:pPr marL="0" indent="0" algn="l">
                        <a:buNone/>
                      </a:pPr>
                      <a:r>
                        <a:rPr lang="en-US" sz="1050" dirty="0">
                          <a:solidFill>
                            <a:srgbClr val="33414F"/>
                          </a:solidFill>
                        </a:rPr>
                        <a:t>Northern Mariana Islands</a:t>
                      </a:r>
                      <a:endParaRPr lang="en-US" sz="1050" dirty="0"/>
                    </a:p>
                  </a:txBody>
                  <a:tcPr>
                    <a:lnL w="0" cap="flat" cmpd="sng" algn="ctr">
                      <a:noFill/>
                    </a:lnL>
                    <a:lnR w="0" cap="flat" cmpd="sng" algn="ctr">
                      <a:noFill/>
                    </a:lnR>
                    <a:lnT w="0" cap="flat" cmpd="sng" algn="ctr">
                      <a:noFill/>
                    </a:lnT>
                    <a:lnB w="0" cap="flat" cmpd="sng" algn="ctr">
                      <a:noFill/>
                    </a:lnB>
                    <a:solidFill>
                      <a:srgbClr val="F2F4F6"/>
                    </a:solidFill>
                  </a:tcPr>
                </a:tc>
                <a:tc>
                  <a:txBody>
                    <a:bodyPr/>
                    <a:lstStyle/>
                    <a:p>
                      <a:pPr marL="0" indent="0" algn="ctr">
                        <a:buNone/>
                      </a:pPr>
                      <a:r>
                        <a:rPr lang="en-US" sz="1050" dirty="0">
                          <a:solidFill>
                            <a:srgbClr val="33414F"/>
                          </a:solidFill>
                        </a:rPr>
                        <a:t>1982</a:t>
                      </a:r>
                      <a:endParaRPr lang="en-US" sz="1050" dirty="0"/>
                    </a:p>
                  </a:txBody>
                  <a:tcPr>
                    <a:lnL w="0" cap="flat" cmpd="sng" algn="ctr">
                      <a:noFill/>
                    </a:lnL>
                    <a:lnR w="0" cap="flat" cmpd="sng" algn="ctr">
                      <a:noFill/>
                    </a:lnR>
                    <a:lnT w="0" cap="flat" cmpd="sng" algn="ctr">
                      <a:noFill/>
                    </a:lnT>
                    <a:lnB w="0" cap="flat" cmpd="sng" algn="ctr">
                      <a:noFill/>
                    </a:lnB>
                    <a:solidFill>
                      <a:srgbClr val="F2F4F6"/>
                    </a:solidFill>
                  </a:tcPr>
                </a:tc>
                <a:tc>
                  <a:txBody>
                    <a:bodyPr/>
                    <a:lstStyle/>
                    <a:p>
                      <a:pPr marL="0" indent="0" algn="ctr">
                        <a:buNone/>
                      </a:pPr>
                      <a:r>
                        <a:rPr lang="en-US" sz="1050" dirty="0">
                          <a:solidFill>
                            <a:srgbClr val="33414F"/>
                          </a:solidFill>
                        </a:rPr>
                        <a:t>12.73</a:t>
                      </a:r>
                      <a:endParaRPr lang="en-US" sz="1050" dirty="0"/>
                    </a:p>
                  </a:txBody>
                  <a:tcPr>
                    <a:lnL w="0" cap="flat" cmpd="sng" algn="ctr">
                      <a:noFill/>
                    </a:lnL>
                    <a:lnR w="0" cap="flat" cmpd="sng" algn="ctr">
                      <a:noFill/>
                    </a:lnR>
                    <a:lnT w="0" cap="flat" cmpd="sng" algn="ctr">
                      <a:noFill/>
                    </a:lnT>
                    <a:lnB w="0" cap="flat" cmpd="sng" algn="ctr">
                      <a:noFill/>
                    </a:lnB>
                    <a:solidFill>
                      <a:srgbClr val="F2F4F6"/>
                    </a:solidFill>
                  </a:tcPr>
                </a:tc>
                <a:extLst>
                  <a:ext uri="{0D108BD9-81ED-4DB2-BD59-A6C34878D82A}">
                    <a16:rowId xmlns:a16="http://schemas.microsoft.com/office/drawing/2014/main" val="10008"/>
                  </a:ext>
                </a:extLst>
              </a:tr>
            </a:tbl>
          </a:graphicData>
        </a:graphic>
      </p:graphicFrame>
      <p:pic>
        <p:nvPicPr>
          <p:cNvPr id="7" name="Image 1" descr="/home/claude/assets/icon_chartbar_blue.png"/>
          <p:cNvPicPr>
            <a:picLocks noChangeAspect="1"/>
          </p:cNvPicPr>
          <p:nvPr/>
        </p:nvPicPr>
        <p:blipFill>
          <a:blip r:embed="rId4"/>
          <a:stretch>
            <a:fillRect/>
          </a:stretch>
        </p:blipFill>
        <p:spPr>
          <a:xfrm>
            <a:off x="6355080" y="1325880"/>
            <a:ext cx="365760" cy="365760"/>
          </a:xfrm>
          <a:prstGeom prst="rect">
            <a:avLst/>
          </a:prstGeom>
        </p:spPr>
      </p:pic>
      <p:sp>
        <p:nvSpPr>
          <p:cNvPr id="8" name="Text 3"/>
          <p:cNvSpPr/>
          <p:nvPr/>
        </p:nvSpPr>
        <p:spPr>
          <a:xfrm>
            <a:off x="6812280" y="1325880"/>
            <a:ext cx="5029200" cy="365760"/>
          </a:xfrm>
          <a:prstGeom prst="rect">
            <a:avLst/>
          </a:prstGeom>
          <a:noFill/>
          <a:ln/>
        </p:spPr>
        <p:txBody>
          <a:bodyPr wrap="square" rtlCol="0" anchor="ctr"/>
          <a:lstStyle/>
          <a:p>
            <a:pPr marL="0" indent="0">
              <a:buNone/>
            </a:pPr>
            <a:r>
              <a:rPr lang="en-US" sz="1400" b="1" dirty="0">
                <a:solidFill>
                  <a:srgbClr val="42637E"/>
                </a:solidFill>
                <a:latin typeface="Calibri" pitchFamily="34" charset="0"/>
                <a:ea typeface="Calibri" pitchFamily="34" charset="-122"/>
                <a:cs typeface="Calibri" pitchFamily="34" charset="-120"/>
              </a:rPr>
              <a:t>Top Long-Term Growth (1960–2024)</a:t>
            </a:r>
            <a:endParaRPr lang="en-US" sz="1400" dirty="0"/>
          </a:p>
        </p:txBody>
      </p:sp>
      <p:graphicFrame>
        <p:nvGraphicFramePr>
          <p:cNvPr id="21" name="Table 1"/>
          <p:cNvGraphicFramePr>
            <a:graphicFrameLocks noGrp="1"/>
          </p:cNvGraphicFramePr>
          <p:nvPr>
            <p:extLst>
              <p:ext uri="{D42A27DB-BD31-4B8C-83A1-F6EECF244321}">
                <p14:modId xmlns:p14="http://schemas.microsoft.com/office/powerpoint/2010/main" val="1579011935"/>
              </p:ext>
            </p:extLst>
          </p:nvPr>
        </p:nvGraphicFramePr>
        <p:xfrm>
          <a:off x="6355080" y="1737360"/>
          <a:ext cx="5577840" cy="2270760"/>
        </p:xfrm>
        <a:graphic>
          <a:graphicData uri="http://schemas.openxmlformats.org/drawingml/2006/table">
            <a:tbl>
              <a:tblPr/>
              <a:tblGrid>
                <a:gridCol w="237744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tblGrid>
              <a:tr h="0">
                <a:tc>
                  <a:txBody>
                    <a:bodyPr/>
                    <a:lstStyle/>
                    <a:p>
                      <a:pPr marL="0" indent="0" algn="l">
                        <a:buNone/>
                      </a:pPr>
                      <a:r>
                        <a:rPr lang="en-US" sz="1100" b="1" dirty="0">
                          <a:solidFill>
                            <a:srgbClr val="FFFFFF"/>
                          </a:solidFill>
                        </a:rPr>
                        <a:t>Country</a:t>
                      </a:r>
                      <a:endParaRPr lang="en-US" sz="1100" dirty="0"/>
                    </a:p>
                  </a:txBody>
                  <a:tcPr>
                    <a:lnL w="0" cap="flat" cmpd="sng" algn="ctr">
                      <a:noFill/>
                    </a:lnL>
                    <a:lnR w="0" cap="flat" cmpd="sng" algn="ctr">
                      <a:noFill/>
                    </a:lnR>
                    <a:lnT w="0" cap="flat" cmpd="sng" algn="ctr">
                      <a:noFill/>
                    </a:lnT>
                    <a:lnB w="0" cap="flat" cmpd="sng" algn="ctr">
                      <a:noFill/>
                    </a:lnB>
                    <a:solidFill>
                      <a:srgbClr val="B08D57"/>
                    </a:solidFill>
                  </a:tcPr>
                </a:tc>
                <a:tc>
                  <a:txBody>
                    <a:bodyPr/>
                    <a:lstStyle/>
                    <a:p>
                      <a:pPr marL="0" indent="0" algn="ctr">
                        <a:buNone/>
                      </a:pPr>
                      <a:r>
                        <a:rPr lang="en-US" sz="1100" b="1" dirty="0">
                          <a:solidFill>
                            <a:srgbClr val="FFFFFF"/>
                          </a:solidFill>
                        </a:rPr>
                        <a:t>Added</a:t>
                      </a:r>
                      <a:endParaRPr lang="en-US" sz="1100" dirty="0"/>
                    </a:p>
                  </a:txBody>
                  <a:tcPr>
                    <a:lnL w="0" cap="flat" cmpd="sng" algn="ctr">
                      <a:noFill/>
                    </a:lnL>
                    <a:lnR w="0" cap="flat" cmpd="sng" algn="ctr">
                      <a:noFill/>
                    </a:lnR>
                    <a:lnT w="0" cap="flat" cmpd="sng" algn="ctr">
                      <a:noFill/>
                    </a:lnT>
                    <a:lnB w="0" cap="flat" cmpd="sng" algn="ctr">
                      <a:noFill/>
                    </a:lnB>
                    <a:solidFill>
                      <a:srgbClr val="B08D57"/>
                    </a:solidFill>
                  </a:tcPr>
                </a:tc>
                <a:tc>
                  <a:txBody>
                    <a:bodyPr/>
                    <a:lstStyle/>
                    <a:p>
                      <a:pPr marL="0" indent="0" algn="ctr">
                        <a:buNone/>
                      </a:pPr>
                      <a:r>
                        <a:rPr lang="en-US" sz="1100" b="1" dirty="0">
                          <a:solidFill>
                            <a:srgbClr val="FFFFFF"/>
                          </a:solidFill>
                        </a:rPr>
                        <a:t>Growth %</a:t>
                      </a:r>
                      <a:endParaRPr lang="en-US" sz="1100" dirty="0"/>
                    </a:p>
                  </a:txBody>
                  <a:tcPr>
                    <a:lnL w="0" cap="flat" cmpd="sng" algn="ctr">
                      <a:noFill/>
                    </a:lnL>
                    <a:lnR w="0" cap="flat" cmpd="sng" algn="ctr">
                      <a:noFill/>
                    </a:lnR>
                    <a:lnT w="0" cap="flat" cmpd="sng" algn="ctr">
                      <a:noFill/>
                    </a:lnT>
                    <a:lnB w="0" cap="flat" cmpd="sng" algn="ctr">
                      <a:noFill/>
                    </a:lnB>
                    <a:solidFill>
                      <a:srgbClr val="B08D57"/>
                    </a:solidFill>
                  </a:tcPr>
                </a:tc>
                <a:extLst>
                  <a:ext uri="{0D108BD9-81ED-4DB2-BD59-A6C34878D82A}">
                    <a16:rowId xmlns:a16="http://schemas.microsoft.com/office/drawing/2014/main" val="10000"/>
                  </a:ext>
                </a:extLst>
              </a:tr>
              <a:tr h="0">
                <a:tc>
                  <a:txBody>
                    <a:bodyPr/>
                    <a:lstStyle/>
                    <a:p>
                      <a:pPr marL="0" indent="0" algn="l">
                        <a:buNone/>
                      </a:pPr>
                      <a:r>
                        <a:rPr lang="en-US" sz="1050" dirty="0">
                          <a:solidFill>
                            <a:srgbClr val="33414F"/>
                          </a:solidFill>
                        </a:rPr>
                        <a:t>India</a:t>
                      </a:r>
                      <a:endParaRPr lang="en-US" sz="1050" dirty="0"/>
                    </a:p>
                  </a:txBody>
                  <a:tcP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050" dirty="0">
                          <a:solidFill>
                            <a:srgbClr val="33414F"/>
                          </a:solidFill>
                        </a:rPr>
                        <a:t>1,014,945,453</a:t>
                      </a:r>
                      <a:endParaRPr lang="en-US" sz="1050" dirty="0"/>
                    </a:p>
                  </a:txBody>
                  <a:tcP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050" dirty="0">
                          <a:solidFill>
                            <a:srgbClr val="33414F"/>
                          </a:solidFill>
                        </a:rPr>
                        <a:t>232.79%</a:t>
                      </a:r>
                      <a:endParaRPr lang="en-US" sz="1050" dirty="0"/>
                    </a:p>
                  </a:txBody>
                  <a:tcP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1"/>
                  </a:ext>
                </a:extLst>
              </a:tr>
              <a:tr h="0">
                <a:tc>
                  <a:txBody>
                    <a:bodyPr/>
                    <a:lstStyle/>
                    <a:p>
                      <a:pPr marL="0" indent="0" algn="l">
                        <a:buNone/>
                      </a:pPr>
                      <a:r>
                        <a:rPr lang="en-US" sz="1050" dirty="0">
                          <a:solidFill>
                            <a:srgbClr val="33414F"/>
                          </a:solidFill>
                        </a:rPr>
                        <a:t>China</a:t>
                      </a:r>
                      <a:endParaRPr lang="en-US" sz="1050" dirty="0"/>
                    </a:p>
                  </a:txBody>
                  <a:tcPr>
                    <a:lnL w="0" cap="flat" cmpd="sng" algn="ctr">
                      <a:noFill/>
                    </a:lnL>
                    <a:lnR w="0" cap="flat" cmpd="sng" algn="ctr">
                      <a:noFill/>
                    </a:lnR>
                    <a:lnT w="0" cap="flat" cmpd="sng" algn="ctr">
                      <a:noFill/>
                    </a:lnT>
                    <a:lnB w="0" cap="flat" cmpd="sng" algn="ctr">
                      <a:noFill/>
                    </a:lnB>
                    <a:solidFill>
                      <a:srgbClr val="F2F4F6"/>
                    </a:solidFill>
                  </a:tcPr>
                </a:tc>
                <a:tc>
                  <a:txBody>
                    <a:bodyPr/>
                    <a:lstStyle/>
                    <a:p>
                      <a:pPr marL="0" indent="0" algn="ctr">
                        <a:buNone/>
                      </a:pPr>
                      <a:r>
                        <a:rPr lang="en-US" sz="1050" dirty="0">
                          <a:solidFill>
                            <a:srgbClr val="33414F"/>
                          </a:solidFill>
                        </a:rPr>
                        <a:t>741,905,000</a:t>
                      </a:r>
                      <a:endParaRPr lang="en-US" sz="1050" dirty="0"/>
                    </a:p>
                  </a:txBody>
                  <a:tcPr>
                    <a:lnL w="0" cap="flat" cmpd="sng" algn="ctr">
                      <a:noFill/>
                    </a:lnL>
                    <a:lnR w="0" cap="flat" cmpd="sng" algn="ctr">
                      <a:noFill/>
                    </a:lnR>
                    <a:lnT w="0" cap="flat" cmpd="sng" algn="ctr">
                      <a:noFill/>
                    </a:lnT>
                    <a:lnB w="0" cap="flat" cmpd="sng" algn="ctr">
                      <a:noFill/>
                    </a:lnB>
                    <a:solidFill>
                      <a:srgbClr val="F2F4F6"/>
                    </a:solidFill>
                  </a:tcPr>
                </a:tc>
                <a:tc>
                  <a:txBody>
                    <a:bodyPr/>
                    <a:lstStyle/>
                    <a:p>
                      <a:pPr marL="0" indent="0" algn="ctr">
                        <a:buNone/>
                      </a:pPr>
                      <a:r>
                        <a:rPr lang="en-US" sz="1050" dirty="0">
                          <a:solidFill>
                            <a:srgbClr val="33414F"/>
                          </a:solidFill>
                        </a:rPr>
                        <a:t>111.22%</a:t>
                      </a:r>
                      <a:endParaRPr lang="en-US" sz="1050" dirty="0"/>
                    </a:p>
                  </a:txBody>
                  <a:tcPr>
                    <a:lnL w="0" cap="flat" cmpd="sng" algn="ctr">
                      <a:noFill/>
                    </a:lnL>
                    <a:lnR w="0" cap="flat" cmpd="sng" algn="ctr">
                      <a:noFill/>
                    </a:lnR>
                    <a:lnT w="0" cap="flat" cmpd="sng" algn="ctr">
                      <a:noFill/>
                    </a:lnT>
                    <a:lnB w="0" cap="flat" cmpd="sng" algn="ctr">
                      <a:noFill/>
                    </a:lnB>
                    <a:solidFill>
                      <a:srgbClr val="F2F4F6"/>
                    </a:solidFill>
                  </a:tcPr>
                </a:tc>
                <a:extLst>
                  <a:ext uri="{0D108BD9-81ED-4DB2-BD59-A6C34878D82A}">
                    <a16:rowId xmlns:a16="http://schemas.microsoft.com/office/drawing/2014/main" val="10002"/>
                  </a:ext>
                </a:extLst>
              </a:tr>
              <a:tr h="0">
                <a:tc>
                  <a:txBody>
                    <a:bodyPr/>
                    <a:lstStyle/>
                    <a:p>
                      <a:pPr marL="0" indent="0" algn="l">
                        <a:buNone/>
                      </a:pPr>
                      <a:r>
                        <a:rPr lang="en-US" sz="1050" dirty="0">
                          <a:solidFill>
                            <a:srgbClr val="33414F"/>
                          </a:solidFill>
                        </a:rPr>
                        <a:t>Pakistan</a:t>
                      </a:r>
                      <a:endParaRPr lang="en-US" sz="1050" dirty="0"/>
                    </a:p>
                  </a:txBody>
                  <a:tcP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050" dirty="0">
                          <a:solidFill>
                            <a:srgbClr val="33414F"/>
                          </a:solidFill>
                        </a:rPr>
                        <a:t>205,559,854</a:t>
                      </a:r>
                      <a:endParaRPr lang="en-US" sz="1050" dirty="0"/>
                    </a:p>
                  </a:txBody>
                  <a:tcP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050" dirty="0">
                          <a:solidFill>
                            <a:srgbClr val="33414F"/>
                          </a:solidFill>
                        </a:rPr>
                        <a:t>449.71%</a:t>
                      </a:r>
                      <a:endParaRPr lang="en-US" sz="1050" dirty="0"/>
                    </a:p>
                  </a:txBody>
                  <a:tcP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3"/>
                  </a:ext>
                </a:extLst>
              </a:tr>
              <a:tr h="0">
                <a:tc>
                  <a:txBody>
                    <a:bodyPr/>
                    <a:lstStyle/>
                    <a:p>
                      <a:pPr marL="0" indent="0" algn="l">
                        <a:buNone/>
                      </a:pPr>
                      <a:r>
                        <a:rPr lang="en-US" sz="1050" dirty="0">
                          <a:solidFill>
                            <a:srgbClr val="33414F"/>
                          </a:solidFill>
                        </a:rPr>
                        <a:t>Indonesia</a:t>
                      </a:r>
                      <a:endParaRPr lang="en-US" sz="1050" dirty="0"/>
                    </a:p>
                  </a:txBody>
                  <a:tcPr>
                    <a:lnL w="0" cap="flat" cmpd="sng" algn="ctr">
                      <a:noFill/>
                    </a:lnL>
                    <a:lnR w="0" cap="flat" cmpd="sng" algn="ctr">
                      <a:noFill/>
                    </a:lnR>
                    <a:lnT w="0" cap="flat" cmpd="sng" algn="ctr">
                      <a:noFill/>
                    </a:lnT>
                    <a:lnB w="0" cap="flat" cmpd="sng" algn="ctr">
                      <a:noFill/>
                    </a:lnB>
                    <a:solidFill>
                      <a:srgbClr val="F2F4F6"/>
                    </a:solidFill>
                  </a:tcPr>
                </a:tc>
                <a:tc>
                  <a:txBody>
                    <a:bodyPr/>
                    <a:lstStyle/>
                    <a:p>
                      <a:pPr marL="0" indent="0" algn="ctr">
                        <a:buNone/>
                      </a:pPr>
                      <a:r>
                        <a:rPr lang="en-US" sz="1050" dirty="0">
                          <a:solidFill>
                            <a:srgbClr val="33414F"/>
                          </a:solidFill>
                        </a:rPr>
                        <a:t>195,191,861</a:t>
                      </a:r>
                      <a:endParaRPr lang="en-US" sz="1050" dirty="0"/>
                    </a:p>
                  </a:txBody>
                  <a:tcPr>
                    <a:lnL w="0" cap="flat" cmpd="sng" algn="ctr">
                      <a:noFill/>
                    </a:lnL>
                    <a:lnR w="0" cap="flat" cmpd="sng" algn="ctr">
                      <a:noFill/>
                    </a:lnR>
                    <a:lnT w="0" cap="flat" cmpd="sng" algn="ctr">
                      <a:noFill/>
                    </a:lnT>
                    <a:lnB w="0" cap="flat" cmpd="sng" algn="ctr">
                      <a:noFill/>
                    </a:lnB>
                    <a:solidFill>
                      <a:srgbClr val="F2F4F6"/>
                    </a:solidFill>
                  </a:tcPr>
                </a:tc>
                <a:tc>
                  <a:txBody>
                    <a:bodyPr/>
                    <a:lstStyle/>
                    <a:p>
                      <a:pPr marL="0" indent="0" algn="ctr">
                        <a:buNone/>
                      </a:pPr>
                      <a:r>
                        <a:rPr lang="en-US" sz="1050" dirty="0">
                          <a:solidFill>
                            <a:srgbClr val="33414F"/>
                          </a:solidFill>
                        </a:rPr>
                        <a:t>221.07%</a:t>
                      </a:r>
                      <a:endParaRPr lang="en-US" sz="1050" dirty="0"/>
                    </a:p>
                  </a:txBody>
                  <a:tcPr>
                    <a:lnL w="0" cap="flat" cmpd="sng" algn="ctr">
                      <a:noFill/>
                    </a:lnL>
                    <a:lnR w="0" cap="flat" cmpd="sng" algn="ctr">
                      <a:noFill/>
                    </a:lnR>
                    <a:lnT w="0" cap="flat" cmpd="sng" algn="ctr">
                      <a:noFill/>
                    </a:lnT>
                    <a:lnB w="0" cap="flat" cmpd="sng" algn="ctr">
                      <a:noFill/>
                    </a:lnB>
                    <a:solidFill>
                      <a:srgbClr val="F2F4F6"/>
                    </a:solidFill>
                  </a:tcPr>
                </a:tc>
                <a:extLst>
                  <a:ext uri="{0D108BD9-81ED-4DB2-BD59-A6C34878D82A}">
                    <a16:rowId xmlns:a16="http://schemas.microsoft.com/office/drawing/2014/main" val="10004"/>
                  </a:ext>
                </a:extLst>
              </a:tr>
              <a:tr h="0">
                <a:tc>
                  <a:txBody>
                    <a:bodyPr/>
                    <a:lstStyle/>
                    <a:p>
                      <a:pPr marL="0" indent="0" algn="l">
                        <a:buNone/>
                      </a:pPr>
                      <a:r>
                        <a:rPr lang="en-US" sz="1050" dirty="0">
                          <a:solidFill>
                            <a:srgbClr val="33414F"/>
                          </a:solidFill>
                        </a:rPr>
                        <a:t>Nigeria</a:t>
                      </a:r>
                      <a:endParaRPr lang="en-US" sz="1050" dirty="0"/>
                    </a:p>
                  </a:txBody>
                  <a:tcP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050" dirty="0">
                          <a:solidFill>
                            <a:srgbClr val="33414F"/>
                          </a:solidFill>
                        </a:rPr>
                        <a:t>187,625,696</a:t>
                      </a:r>
                      <a:endParaRPr lang="en-US" sz="1050" dirty="0"/>
                    </a:p>
                  </a:txBody>
                  <a:tcP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050" dirty="0">
                          <a:solidFill>
                            <a:srgbClr val="33414F"/>
                          </a:solidFill>
                        </a:rPr>
                        <a:t>416.45%</a:t>
                      </a:r>
                      <a:endParaRPr lang="en-US" sz="1050" dirty="0"/>
                    </a:p>
                  </a:txBody>
                  <a:tcP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5"/>
                  </a:ext>
                </a:extLst>
              </a:tr>
              <a:tr h="0">
                <a:tc>
                  <a:txBody>
                    <a:bodyPr/>
                    <a:lstStyle/>
                    <a:p>
                      <a:pPr marL="0" indent="0" algn="l">
                        <a:buNone/>
                      </a:pPr>
                      <a:r>
                        <a:rPr lang="en-US" sz="1050" dirty="0">
                          <a:solidFill>
                            <a:srgbClr val="33414F"/>
                          </a:solidFill>
                        </a:rPr>
                        <a:t>United States</a:t>
                      </a:r>
                      <a:endParaRPr lang="en-US" sz="1050" dirty="0"/>
                    </a:p>
                  </a:txBody>
                  <a:tcPr>
                    <a:lnL w="0" cap="flat" cmpd="sng" algn="ctr">
                      <a:noFill/>
                    </a:lnL>
                    <a:lnR w="0" cap="flat" cmpd="sng" algn="ctr">
                      <a:noFill/>
                    </a:lnR>
                    <a:lnT w="0" cap="flat" cmpd="sng" algn="ctr">
                      <a:noFill/>
                    </a:lnT>
                    <a:lnB w="0" cap="flat" cmpd="sng" algn="ctr">
                      <a:noFill/>
                    </a:lnB>
                    <a:solidFill>
                      <a:srgbClr val="F2F4F6"/>
                    </a:solidFill>
                  </a:tcPr>
                </a:tc>
                <a:tc>
                  <a:txBody>
                    <a:bodyPr/>
                    <a:lstStyle/>
                    <a:p>
                      <a:pPr marL="0" indent="0" algn="ctr">
                        <a:buNone/>
                      </a:pPr>
                      <a:r>
                        <a:rPr lang="en-US" sz="1050" dirty="0">
                          <a:solidFill>
                            <a:srgbClr val="33414F"/>
                          </a:solidFill>
                        </a:rPr>
                        <a:t>159,439,988</a:t>
                      </a:r>
                      <a:endParaRPr lang="en-US" sz="1050" dirty="0"/>
                    </a:p>
                  </a:txBody>
                  <a:tcPr>
                    <a:lnL w="0" cap="flat" cmpd="sng" algn="ctr">
                      <a:noFill/>
                    </a:lnL>
                    <a:lnR w="0" cap="flat" cmpd="sng" algn="ctr">
                      <a:noFill/>
                    </a:lnR>
                    <a:lnT w="0" cap="flat" cmpd="sng" algn="ctr">
                      <a:noFill/>
                    </a:lnT>
                    <a:lnB w="0" cap="flat" cmpd="sng" algn="ctr">
                      <a:noFill/>
                    </a:lnB>
                    <a:solidFill>
                      <a:srgbClr val="F2F4F6"/>
                    </a:solidFill>
                  </a:tcPr>
                </a:tc>
                <a:tc>
                  <a:txBody>
                    <a:bodyPr/>
                    <a:lstStyle/>
                    <a:p>
                      <a:pPr marL="0" indent="0" algn="ctr">
                        <a:buNone/>
                      </a:pPr>
                      <a:r>
                        <a:rPr lang="en-US" sz="1050" dirty="0">
                          <a:solidFill>
                            <a:srgbClr val="33414F"/>
                          </a:solidFill>
                        </a:rPr>
                        <a:t>88.25%</a:t>
                      </a:r>
                      <a:endParaRPr lang="en-US" sz="1050" dirty="0"/>
                    </a:p>
                  </a:txBody>
                  <a:tcPr>
                    <a:lnL w="0" cap="flat" cmpd="sng" algn="ctr">
                      <a:noFill/>
                    </a:lnL>
                    <a:lnR w="0" cap="flat" cmpd="sng" algn="ctr">
                      <a:noFill/>
                    </a:lnR>
                    <a:lnT w="0" cap="flat" cmpd="sng" algn="ctr">
                      <a:noFill/>
                    </a:lnT>
                    <a:lnB w="0" cap="flat" cmpd="sng" algn="ctr">
                      <a:noFill/>
                    </a:lnB>
                    <a:solidFill>
                      <a:srgbClr val="F2F4F6"/>
                    </a:solidFill>
                  </a:tcPr>
                </a:tc>
                <a:extLst>
                  <a:ext uri="{0D108BD9-81ED-4DB2-BD59-A6C34878D82A}">
                    <a16:rowId xmlns:a16="http://schemas.microsoft.com/office/drawing/2014/main" val="10006"/>
                  </a:ext>
                </a:extLst>
              </a:tr>
              <a:tr h="0">
                <a:tc>
                  <a:txBody>
                    <a:bodyPr/>
                    <a:lstStyle/>
                    <a:p>
                      <a:pPr marL="0" indent="0" algn="l">
                        <a:buNone/>
                      </a:pPr>
                      <a:r>
                        <a:rPr lang="en-US" sz="1050" dirty="0">
                          <a:solidFill>
                            <a:srgbClr val="33414F"/>
                          </a:solidFill>
                        </a:rPr>
                        <a:t>Brazil</a:t>
                      </a:r>
                      <a:endParaRPr lang="en-US" sz="1050" dirty="0"/>
                    </a:p>
                  </a:txBody>
                  <a:tcP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050" dirty="0">
                          <a:solidFill>
                            <a:srgbClr val="33414F"/>
                          </a:solidFill>
                        </a:rPr>
                        <a:t>139,610,447</a:t>
                      </a:r>
                      <a:endParaRPr lang="en-US" sz="1050" dirty="0"/>
                    </a:p>
                  </a:txBody>
                  <a:tcP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050" dirty="0">
                          <a:solidFill>
                            <a:srgbClr val="33414F"/>
                          </a:solidFill>
                        </a:rPr>
                        <a:t>192.86%</a:t>
                      </a:r>
                      <a:endParaRPr lang="en-US" sz="1050" dirty="0"/>
                    </a:p>
                  </a:txBody>
                  <a:tcP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7"/>
                  </a:ext>
                </a:extLst>
              </a:tr>
              <a:tr h="0">
                <a:tc>
                  <a:txBody>
                    <a:bodyPr/>
                    <a:lstStyle/>
                    <a:p>
                      <a:pPr marL="0" indent="0" algn="l">
                        <a:buNone/>
                      </a:pPr>
                      <a:r>
                        <a:rPr lang="en-US" sz="1050" dirty="0">
                          <a:solidFill>
                            <a:srgbClr val="33414F"/>
                          </a:solidFill>
                        </a:rPr>
                        <a:t>Bangladesh</a:t>
                      </a:r>
                      <a:endParaRPr lang="en-US" sz="1050" dirty="0"/>
                    </a:p>
                  </a:txBody>
                  <a:tcPr>
                    <a:lnL w="0" cap="flat" cmpd="sng" algn="ctr">
                      <a:noFill/>
                    </a:lnL>
                    <a:lnR w="0" cap="flat" cmpd="sng" algn="ctr">
                      <a:noFill/>
                    </a:lnR>
                    <a:lnT w="0" cap="flat" cmpd="sng" algn="ctr">
                      <a:noFill/>
                    </a:lnT>
                    <a:lnB w="0" cap="flat" cmpd="sng" algn="ctr">
                      <a:noFill/>
                    </a:lnB>
                    <a:solidFill>
                      <a:srgbClr val="F2F4F6"/>
                    </a:solidFill>
                  </a:tcPr>
                </a:tc>
                <a:tc>
                  <a:txBody>
                    <a:bodyPr/>
                    <a:lstStyle/>
                    <a:p>
                      <a:pPr marL="0" indent="0" algn="ctr">
                        <a:buNone/>
                      </a:pPr>
                      <a:r>
                        <a:rPr lang="en-US" sz="1050" dirty="0">
                          <a:solidFill>
                            <a:srgbClr val="33414F"/>
                          </a:solidFill>
                        </a:rPr>
                        <a:t>121,733,704</a:t>
                      </a:r>
                      <a:endParaRPr lang="en-US" sz="1050" dirty="0"/>
                    </a:p>
                  </a:txBody>
                  <a:tcPr>
                    <a:lnL w="0" cap="flat" cmpd="sng" algn="ctr">
                      <a:noFill/>
                    </a:lnL>
                    <a:lnR w="0" cap="flat" cmpd="sng" algn="ctr">
                      <a:noFill/>
                    </a:lnR>
                    <a:lnT w="0" cap="flat" cmpd="sng" algn="ctr">
                      <a:noFill/>
                    </a:lnT>
                    <a:lnB w="0" cap="flat" cmpd="sng" algn="ctr">
                      <a:noFill/>
                    </a:lnB>
                    <a:solidFill>
                      <a:srgbClr val="F2F4F6"/>
                    </a:solidFill>
                  </a:tcPr>
                </a:tc>
                <a:tc>
                  <a:txBody>
                    <a:bodyPr/>
                    <a:lstStyle/>
                    <a:p>
                      <a:pPr marL="0" indent="0" algn="ctr">
                        <a:buNone/>
                      </a:pPr>
                      <a:r>
                        <a:rPr lang="en-US" sz="1050" dirty="0">
                          <a:solidFill>
                            <a:srgbClr val="33414F"/>
                          </a:solidFill>
                        </a:rPr>
                        <a:t>234.88%</a:t>
                      </a:r>
                      <a:endParaRPr lang="en-US" sz="1050" dirty="0"/>
                    </a:p>
                  </a:txBody>
                  <a:tcPr>
                    <a:lnL w="0" cap="flat" cmpd="sng" algn="ctr">
                      <a:noFill/>
                    </a:lnL>
                    <a:lnR w="0" cap="flat" cmpd="sng" algn="ctr">
                      <a:noFill/>
                    </a:lnR>
                    <a:lnT w="0" cap="flat" cmpd="sng" algn="ctr">
                      <a:noFill/>
                    </a:lnT>
                    <a:lnB w="0" cap="flat" cmpd="sng" algn="ctr">
                      <a:noFill/>
                    </a:lnB>
                    <a:solidFill>
                      <a:srgbClr val="F2F4F6"/>
                    </a:solidFill>
                  </a:tcPr>
                </a:tc>
                <a:extLst>
                  <a:ext uri="{0D108BD9-81ED-4DB2-BD59-A6C34878D82A}">
                    <a16:rowId xmlns:a16="http://schemas.microsoft.com/office/drawing/2014/main" val="10008"/>
                  </a:ext>
                </a:extLst>
              </a:tr>
            </a:tbl>
          </a:graphicData>
        </a:graphic>
      </p:graphicFrame>
      <p:sp>
        <p:nvSpPr>
          <p:cNvPr id="10" name="Shape 4"/>
          <p:cNvSpPr/>
          <p:nvPr/>
        </p:nvSpPr>
        <p:spPr>
          <a:xfrm>
            <a:off x="457200" y="4983480"/>
            <a:ext cx="11338560" cy="1097280"/>
          </a:xfrm>
          <a:prstGeom prst="roundRect">
            <a:avLst>
              <a:gd name="adj" fmla="val 3333"/>
            </a:avLst>
          </a:prstGeom>
          <a:solidFill>
            <a:srgbClr val="F2F4F6"/>
          </a:solidFill>
          <a:ln/>
          <a:effectLst>
            <a:outerShdw blurRad="63500" dist="25400" dir="2700000" algn="bl" rotWithShape="0">
              <a:srgbClr val="42637E">
                <a:alpha val="6000"/>
              </a:srgbClr>
            </a:outerShdw>
          </a:effectLst>
        </p:spPr>
        <p:txBody>
          <a:bodyPr/>
          <a:lstStyle/>
          <a:p>
            <a:endParaRPr lang="en-US"/>
          </a:p>
        </p:txBody>
      </p:sp>
      <p:sp>
        <p:nvSpPr>
          <p:cNvPr id="6" name="Text 5"/>
          <p:cNvSpPr/>
          <p:nvPr/>
        </p:nvSpPr>
        <p:spPr>
          <a:xfrm>
            <a:off x="731520" y="4983480"/>
            <a:ext cx="10789920" cy="1097280"/>
          </a:xfrm>
          <a:prstGeom prst="rect">
            <a:avLst/>
          </a:prstGeom>
          <a:noFill/>
          <a:ln/>
        </p:spPr>
        <p:txBody>
          <a:bodyPr wrap="square" rtlCol="0" anchor="ctr"/>
          <a:lstStyle/>
          <a:p>
            <a:pPr marL="0" indent="0">
              <a:buNone/>
            </a:pPr>
            <a:r>
              <a:rPr lang="en-US" sz="1300" i="1" dirty="0">
                <a:solidFill>
                  <a:srgbClr val="33414F"/>
                </a:solidFill>
                <a:latin typeface="Calibri" pitchFamily="34" charset="0"/>
                <a:ea typeface="Calibri" pitchFamily="34" charset="-122"/>
                <a:cs typeface="Calibri" pitchFamily="34" charset="-120"/>
              </a:rPr>
              <a:t>India added over 1 billion people since 1960 — more than any other country — while Ethiopia (+518%) and Pakistan (+450%) grew fastest in percentage terms. Outliers cluster around two causes: labor-driven immigration into small Gulf states, and population shocks from conflict or political upheaval.</a:t>
            </a:r>
            <a:endParaRPr lang="en-US" sz="1300" dirty="0"/>
          </a:p>
        </p:txBody>
      </p:sp>
      <p:sp>
        <p:nvSpPr>
          <p:cNvPr id="12" name="Text 6"/>
          <p:cNvSpPr/>
          <p:nvPr/>
        </p:nvSpPr>
        <p:spPr>
          <a:xfrm>
            <a:off x="457200" y="6510528"/>
            <a:ext cx="7315200" cy="274320"/>
          </a:xfrm>
          <a:prstGeom prst="rect">
            <a:avLst/>
          </a:prstGeom>
          <a:noFill/>
          <a:ln/>
        </p:spPr>
        <p:txBody>
          <a:bodyPr wrap="square" rtlCol="0" anchor="ctr"/>
          <a:lstStyle/>
          <a:p>
            <a:pPr marL="0" indent="0">
              <a:buNone/>
            </a:pPr>
            <a:r>
              <a:rPr lang="en-US" sz="900" dirty="0">
                <a:solidFill>
                  <a:srgbClr val="71808E"/>
                </a:solidFill>
                <a:latin typeface="Calibri" pitchFamily="34" charset="0"/>
                <a:ea typeface="Calibri" pitchFamily="34" charset="-122"/>
                <a:cs typeface="Calibri" pitchFamily="34" charset="-120"/>
              </a:rPr>
              <a:t>Population Growth Analysis and Forecasting</a:t>
            </a:r>
            <a:endParaRPr lang="en-US" sz="900" dirty="0"/>
          </a:p>
        </p:txBody>
      </p:sp>
      <p:sp>
        <p:nvSpPr>
          <p:cNvPr id="13" name="Text 7"/>
          <p:cNvSpPr/>
          <p:nvPr/>
        </p:nvSpPr>
        <p:spPr>
          <a:xfrm>
            <a:off x="11430000" y="6510528"/>
            <a:ext cx="365760" cy="274320"/>
          </a:xfrm>
          <a:prstGeom prst="rect">
            <a:avLst/>
          </a:prstGeom>
          <a:noFill/>
          <a:ln/>
        </p:spPr>
        <p:txBody>
          <a:bodyPr wrap="square" rtlCol="0" anchor="ctr"/>
          <a:lstStyle/>
          <a:p>
            <a:pPr marL="0" indent="0" algn="r">
              <a:buNone/>
            </a:pPr>
            <a:r>
              <a:rPr lang="en-US" sz="900" dirty="0">
                <a:solidFill>
                  <a:srgbClr val="71808E"/>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rtlCol="0" anchor="ctr"/>
          <a:lstStyle/>
          <a:p>
            <a:pPr marL="0" indent="0">
              <a:buNone/>
            </a:pPr>
            <a:r>
              <a:rPr lang="en-US" sz="1300" b="1" kern="0" spc="200" dirty="0">
                <a:solidFill>
                  <a:srgbClr val="B08D57"/>
                </a:solidFill>
                <a:latin typeface="Calibri" pitchFamily="34" charset="0"/>
                <a:ea typeface="Calibri" pitchFamily="34" charset="-122"/>
                <a:cs typeface="Calibri" pitchFamily="34" charset="-120"/>
              </a:rPr>
              <a:t>SECTION 5 — ADVANCED ANALYSIS</a:t>
            </a:r>
            <a:endParaRPr lang="en-US" sz="1300" dirty="0"/>
          </a:p>
        </p:txBody>
      </p:sp>
      <p:sp>
        <p:nvSpPr>
          <p:cNvPr id="3" name="Text 1"/>
          <p:cNvSpPr/>
          <p:nvPr/>
        </p:nvSpPr>
        <p:spPr>
          <a:xfrm>
            <a:off x="548640" y="566928"/>
            <a:ext cx="10515600" cy="640080"/>
          </a:xfrm>
          <a:prstGeom prst="rect">
            <a:avLst/>
          </a:prstGeom>
          <a:noFill/>
          <a:ln/>
        </p:spPr>
        <p:txBody>
          <a:bodyPr wrap="square" rtlCol="0" anchor="ctr"/>
          <a:lstStyle/>
          <a:p>
            <a:pPr marL="0" indent="0">
              <a:buNone/>
            </a:pPr>
            <a:r>
              <a:rPr lang="en-US" sz="3000" b="1" dirty="0">
                <a:solidFill>
                  <a:srgbClr val="42637E"/>
                </a:solidFill>
                <a:latin typeface="Georgia" pitchFamily="34" charset="0"/>
                <a:ea typeface="Georgia" pitchFamily="34" charset="-122"/>
                <a:cs typeface="Georgia" pitchFamily="34" charset="-120"/>
              </a:rPr>
              <a:t>Population Doubling Time (Rule of 70)</a:t>
            </a:r>
            <a:endParaRPr lang="en-US" sz="3000" dirty="0"/>
          </a:p>
        </p:txBody>
      </p:sp>
      <p:graphicFrame>
        <p:nvGraphicFramePr>
          <p:cNvPr id="4" name="Chart 0"/>
          <p:cNvGraphicFramePr/>
          <p:nvPr/>
        </p:nvGraphicFramePr>
        <p:xfrm>
          <a:off x="365760" y="1417320"/>
          <a:ext cx="7040880" cy="498348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7680960" y="1417320"/>
            <a:ext cx="3931920" cy="4983480"/>
          </a:xfrm>
          <a:prstGeom prst="roundRect">
            <a:avLst>
              <a:gd name="adj" fmla="val 1163"/>
            </a:avLst>
          </a:prstGeom>
          <a:solidFill>
            <a:srgbClr val="F2F4F6"/>
          </a:solidFill>
          <a:ln/>
          <a:effectLst>
            <a:outerShdw blurRad="63500" dist="25400" dir="2700000" algn="bl" rotWithShape="0">
              <a:srgbClr val="42637E">
                <a:alpha val="6000"/>
              </a:srgbClr>
            </a:outerShdw>
          </a:effectLst>
        </p:spPr>
        <p:txBody>
          <a:bodyPr/>
          <a:lstStyle/>
          <a:p>
            <a:endParaRPr lang="en-US"/>
          </a:p>
        </p:txBody>
      </p:sp>
      <p:sp>
        <p:nvSpPr>
          <p:cNvPr id="6" name="Text 3"/>
          <p:cNvSpPr/>
          <p:nvPr/>
        </p:nvSpPr>
        <p:spPr>
          <a:xfrm>
            <a:off x="7955280" y="1691640"/>
            <a:ext cx="3383280" cy="411480"/>
          </a:xfrm>
          <a:prstGeom prst="rect">
            <a:avLst/>
          </a:prstGeom>
          <a:noFill/>
          <a:ln/>
        </p:spPr>
        <p:txBody>
          <a:bodyPr wrap="square" rtlCol="0" anchor="ctr"/>
          <a:lstStyle/>
          <a:p>
            <a:pPr marL="0" indent="0">
              <a:buNone/>
            </a:pPr>
            <a:r>
              <a:rPr lang="en-US" sz="1600" b="1" dirty="0">
                <a:solidFill>
                  <a:srgbClr val="42637E"/>
                </a:solidFill>
                <a:latin typeface="Calibri" pitchFamily="34" charset="0"/>
                <a:ea typeface="Calibri" pitchFamily="34" charset="-122"/>
                <a:cs typeface="Calibri" pitchFamily="34" charset="-120"/>
              </a:rPr>
              <a:t>What It Means</a:t>
            </a:r>
            <a:endParaRPr lang="en-US" sz="1600" dirty="0"/>
          </a:p>
        </p:txBody>
      </p:sp>
      <p:sp>
        <p:nvSpPr>
          <p:cNvPr id="7" name="Text 4"/>
          <p:cNvSpPr/>
          <p:nvPr/>
        </p:nvSpPr>
        <p:spPr>
          <a:xfrm>
            <a:off x="7955280" y="2286000"/>
            <a:ext cx="3520440" cy="914400"/>
          </a:xfrm>
          <a:prstGeom prst="rect">
            <a:avLst/>
          </a:prstGeom>
          <a:noFill/>
          <a:ln/>
        </p:spPr>
        <p:txBody>
          <a:bodyPr wrap="square" rtlCol="0" anchor="t"/>
          <a:lstStyle/>
          <a:p>
            <a:pPr marL="342900" indent="-342900">
              <a:buSzPct val="100000"/>
              <a:buChar char="•"/>
            </a:pPr>
            <a:r>
              <a:rPr lang="en-US" sz="1200" dirty="0">
                <a:solidFill>
                  <a:srgbClr val="33414F"/>
                </a:solidFill>
                <a:latin typeface="Calibri" pitchFamily="34" charset="0"/>
                <a:ea typeface="Calibri" pitchFamily="34" charset="-122"/>
                <a:cs typeface="Calibri" pitchFamily="34" charset="-120"/>
              </a:rPr>
              <a:t>Ethiopia, Pakistan, and Nigeria would double in roughly 25–27 years if their current rates held</a:t>
            </a:r>
            <a:endParaRPr lang="en-US" sz="1200" dirty="0"/>
          </a:p>
        </p:txBody>
      </p:sp>
      <p:sp>
        <p:nvSpPr>
          <p:cNvPr id="8" name="Text 5"/>
          <p:cNvSpPr/>
          <p:nvPr/>
        </p:nvSpPr>
        <p:spPr>
          <a:xfrm>
            <a:off x="7955280" y="3246120"/>
            <a:ext cx="3520440" cy="914400"/>
          </a:xfrm>
          <a:prstGeom prst="rect">
            <a:avLst/>
          </a:prstGeom>
          <a:noFill/>
          <a:ln/>
        </p:spPr>
        <p:txBody>
          <a:bodyPr wrap="square" rtlCol="0" anchor="t"/>
          <a:lstStyle/>
          <a:p>
            <a:pPr marL="342900" indent="-342900">
              <a:buSzPct val="100000"/>
              <a:buChar char="•"/>
            </a:pPr>
            <a:r>
              <a:rPr lang="en-US" sz="1200" dirty="0">
                <a:solidFill>
                  <a:srgbClr val="33414F"/>
                </a:solidFill>
                <a:latin typeface="Calibri" pitchFamily="34" charset="0"/>
                <a:ea typeface="Calibri" pitchFamily="34" charset="-122"/>
                <a:cs typeface="Calibri" pitchFamily="34" charset="-120"/>
              </a:rPr>
              <a:t>India and Indonesia land around 37–39 years</a:t>
            </a:r>
            <a:endParaRPr lang="en-US" sz="1200" dirty="0"/>
          </a:p>
        </p:txBody>
      </p:sp>
      <p:sp>
        <p:nvSpPr>
          <p:cNvPr id="9" name="Text 6"/>
          <p:cNvSpPr/>
          <p:nvPr/>
        </p:nvSpPr>
        <p:spPr>
          <a:xfrm>
            <a:off x="7955280" y="4206240"/>
            <a:ext cx="3520440" cy="914400"/>
          </a:xfrm>
          <a:prstGeom prst="rect">
            <a:avLst/>
          </a:prstGeom>
          <a:noFill/>
          <a:ln/>
        </p:spPr>
        <p:txBody>
          <a:bodyPr wrap="square" rtlCol="0" anchor="t"/>
          <a:lstStyle/>
          <a:p>
            <a:pPr marL="342900" indent="-342900">
              <a:buSzPct val="100000"/>
              <a:buChar char="•"/>
            </a:pPr>
            <a:r>
              <a:rPr lang="en-US" sz="1200" dirty="0">
                <a:solidFill>
                  <a:srgbClr val="33414F"/>
                </a:solidFill>
                <a:latin typeface="Calibri" pitchFamily="34" charset="0"/>
                <a:ea typeface="Calibri" pitchFamily="34" charset="-122"/>
                <a:cs typeface="Calibri" pitchFamily="34" charset="-120"/>
              </a:rPr>
              <a:t>China's slower growth stretches that out to about 60 years</a:t>
            </a:r>
            <a:endParaRPr lang="en-US" sz="1200" dirty="0"/>
          </a:p>
        </p:txBody>
      </p:sp>
      <p:sp>
        <p:nvSpPr>
          <p:cNvPr id="10" name="Text 7"/>
          <p:cNvSpPr/>
          <p:nvPr/>
        </p:nvSpPr>
        <p:spPr>
          <a:xfrm>
            <a:off x="7955280" y="5166360"/>
            <a:ext cx="3520440" cy="914400"/>
          </a:xfrm>
          <a:prstGeom prst="rect">
            <a:avLst/>
          </a:prstGeom>
          <a:noFill/>
          <a:ln/>
        </p:spPr>
        <p:txBody>
          <a:bodyPr wrap="square" rtlCol="0" anchor="t"/>
          <a:lstStyle/>
          <a:p>
            <a:pPr marL="342900" indent="-342900">
              <a:buSzPct val="100000"/>
              <a:buChar char="•"/>
            </a:pPr>
            <a:r>
              <a:rPr lang="en-US" sz="1200" dirty="0">
                <a:solidFill>
                  <a:srgbClr val="33414F"/>
                </a:solidFill>
                <a:latin typeface="Calibri" pitchFamily="34" charset="0"/>
                <a:ea typeface="Calibri" pitchFamily="34" charset="-122"/>
                <a:cs typeface="Calibri" pitchFamily="34" charset="-120"/>
              </a:rPr>
              <a:t>Russia's growth is so close to flat that the math says 250 years — which really just means a stable population</a:t>
            </a:r>
            <a:endParaRPr lang="en-US" sz="1200" dirty="0"/>
          </a:p>
        </p:txBody>
      </p:sp>
      <p:sp>
        <p:nvSpPr>
          <p:cNvPr id="11" name="Text 8"/>
          <p:cNvSpPr/>
          <p:nvPr/>
        </p:nvSpPr>
        <p:spPr>
          <a:xfrm>
            <a:off x="457200" y="6510528"/>
            <a:ext cx="7315200" cy="274320"/>
          </a:xfrm>
          <a:prstGeom prst="rect">
            <a:avLst/>
          </a:prstGeom>
          <a:noFill/>
          <a:ln/>
        </p:spPr>
        <p:txBody>
          <a:bodyPr wrap="square" rtlCol="0" anchor="ctr"/>
          <a:lstStyle/>
          <a:p>
            <a:pPr marL="0" indent="0">
              <a:buNone/>
            </a:pPr>
            <a:r>
              <a:rPr lang="en-US" sz="900" dirty="0">
                <a:solidFill>
                  <a:srgbClr val="71808E"/>
                </a:solidFill>
                <a:latin typeface="Calibri" pitchFamily="34" charset="0"/>
                <a:ea typeface="Calibri" pitchFamily="34" charset="-122"/>
                <a:cs typeface="Calibri" pitchFamily="34" charset="-120"/>
              </a:rPr>
              <a:t>Population Growth Analysis and Forecasting</a:t>
            </a:r>
            <a:endParaRPr lang="en-US" sz="900" dirty="0"/>
          </a:p>
        </p:txBody>
      </p:sp>
      <p:sp>
        <p:nvSpPr>
          <p:cNvPr id="12" name="Text 9"/>
          <p:cNvSpPr/>
          <p:nvPr/>
        </p:nvSpPr>
        <p:spPr>
          <a:xfrm>
            <a:off x="11430000" y="6510528"/>
            <a:ext cx="365760" cy="274320"/>
          </a:xfrm>
          <a:prstGeom prst="rect">
            <a:avLst/>
          </a:prstGeom>
          <a:noFill/>
          <a:ln/>
        </p:spPr>
        <p:txBody>
          <a:bodyPr wrap="square" rtlCol="0" anchor="ctr"/>
          <a:lstStyle/>
          <a:p>
            <a:pPr marL="0" indent="0" algn="r">
              <a:buNone/>
            </a:pPr>
            <a:r>
              <a:rPr lang="en-US" sz="900" dirty="0">
                <a:solidFill>
                  <a:srgbClr val="71808E"/>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rtlCol="0" anchor="ctr"/>
          <a:lstStyle/>
          <a:p>
            <a:pPr marL="0" indent="0">
              <a:buNone/>
            </a:pPr>
            <a:r>
              <a:rPr lang="en-US" sz="1300" b="1" kern="0" spc="200" dirty="0">
                <a:solidFill>
                  <a:srgbClr val="B08D57"/>
                </a:solidFill>
                <a:latin typeface="Calibri" pitchFamily="34" charset="0"/>
                <a:ea typeface="Calibri" pitchFamily="34" charset="-122"/>
                <a:cs typeface="Calibri" pitchFamily="34" charset="-120"/>
              </a:rPr>
              <a:t>SECTION 5 — ADVANCED ANALYSIS</a:t>
            </a:r>
            <a:endParaRPr lang="en-US" sz="1300" dirty="0"/>
          </a:p>
        </p:txBody>
      </p:sp>
      <p:sp>
        <p:nvSpPr>
          <p:cNvPr id="3" name="Text 1"/>
          <p:cNvSpPr/>
          <p:nvPr/>
        </p:nvSpPr>
        <p:spPr>
          <a:xfrm>
            <a:off x="548640" y="566928"/>
            <a:ext cx="10515600" cy="640080"/>
          </a:xfrm>
          <a:prstGeom prst="rect">
            <a:avLst/>
          </a:prstGeom>
          <a:noFill/>
          <a:ln/>
        </p:spPr>
        <p:txBody>
          <a:bodyPr wrap="square" rtlCol="0" anchor="ctr"/>
          <a:lstStyle/>
          <a:p>
            <a:pPr marL="0" indent="0">
              <a:buNone/>
            </a:pPr>
            <a:r>
              <a:rPr lang="en-US" sz="3000" b="1" dirty="0">
                <a:solidFill>
                  <a:srgbClr val="42637E"/>
                </a:solidFill>
                <a:latin typeface="Georgia" pitchFamily="34" charset="0"/>
                <a:ea typeface="Georgia" pitchFamily="34" charset="-122"/>
                <a:cs typeface="Georgia" pitchFamily="34" charset="-120"/>
              </a:rPr>
              <a:t>Growth Rate Patterns Over Time</a:t>
            </a:r>
            <a:endParaRPr lang="en-US" sz="3000" dirty="0"/>
          </a:p>
        </p:txBody>
      </p:sp>
      <p:pic>
        <p:nvPicPr>
          <p:cNvPr id="4" name="Image 0" descr="/home/claude/assets/05_growth_heatmap.png"/>
          <p:cNvPicPr>
            <a:picLocks noChangeAspect="1"/>
          </p:cNvPicPr>
          <p:nvPr/>
        </p:nvPicPr>
        <p:blipFill>
          <a:blip r:embed="rId3"/>
          <a:srcRect l="-2727" r="-2727"/>
          <a:stretch/>
        </p:blipFill>
        <p:spPr>
          <a:xfrm>
            <a:off x="502920" y="1417320"/>
            <a:ext cx="11155680" cy="5029200"/>
          </a:xfrm>
          <a:prstGeom prst="rect">
            <a:avLst/>
          </a:prstGeom>
        </p:spPr>
      </p:pic>
      <p:sp>
        <p:nvSpPr>
          <p:cNvPr id="5" name="Text 2"/>
          <p:cNvSpPr/>
          <p:nvPr/>
        </p:nvSpPr>
        <p:spPr>
          <a:xfrm>
            <a:off x="457200" y="6510528"/>
            <a:ext cx="7315200" cy="274320"/>
          </a:xfrm>
          <a:prstGeom prst="rect">
            <a:avLst/>
          </a:prstGeom>
          <a:noFill/>
          <a:ln/>
        </p:spPr>
        <p:txBody>
          <a:bodyPr wrap="square" rtlCol="0" anchor="ctr"/>
          <a:lstStyle/>
          <a:p>
            <a:pPr marL="0" indent="0">
              <a:buNone/>
            </a:pPr>
            <a:r>
              <a:rPr lang="en-US" sz="900" dirty="0">
                <a:solidFill>
                  <a:srgbClr val="71808E"/>
                </a:solidFill>
                <a:latin typeface="Calibri" pitchFamily="34" charset="0"/>
                <a:ea typeface="Calibri" pitchFamily="34" charset="-122"/>
                <a:cs typeface="Calibri" pitchFamily="34" charset="-120"/>
              </a:rPr>
              <a:t>Population Growth Analysis and Forecasting</a:t>
            </a:r>
            <a:endParaRPr lang="en-US" sz="900" dirty="0"/>
          </a:p>
        </p:txBody>
      </p:sp>
      <p:sp>
        <p:nvSpPr>
          <p:cNvPr id="6" name="Text 3"/>
          <p:cNvSpPr/>
          <p:nvPr/>
        </p:nvSpPr>
        <p:spPr>
          <a:xfrm>
            <a:off x="11430000" y="6510528"/>
            <a:ext cx="365760" cy="274320"/>
          </a:xfrm>
          <a:prstGeom prst="rect">
            <a:avLst/>
          </a:prstGeom>
          <a:noFill/>
          <a:ln/>
        </p:spPr>
        <p:txBody>
          <a:bodyPr wrap="square" rtlCol="0" anchor="ctr"/>
          <a:lstStyle/>
          <a:p>
            <a:pPr marL="0" indent="0" algn="r">
              <a:buNone/>
            </a:pPr>
            <a:r>
              <a:rPr lang="en-US" sz="900" dirty="0">
                <a:solidFill>
                  <a:srgbClr val="71808E"/>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rtlCol="0" anchor="ctr"/>
          <a:lstStyle/>
          <a:p>
            <a:pPr marL="0" indent="0">
              <a:buNone/>
            </a:pPr>
            <a:r>
              <a:rPr lang="en-US" sz="1300" b="1" kern="0" spc="200" dirty="0">
                <a:solidFill>
                  <a:srgbClr val="B08D57"/>
                </a:solidFill>
                <a:latin typeface="Calibri" pitchFamily="34" charset="0"/>
                <a:ea typeface="Calibri" pitchFamily="34" charset="-122"/>
                <a:cs typeface="Calibri" pitchFamily="34" charset="-120"/>
              </a:rPr>
              <a:t>SECTION 6 — FORECASTING</a:t>
            </a:r>
            <a:endParaRPr lang="en-US" sz="1300" dirty="0"/>
          </a:p>
        </p:txBody>
      </p:sp>
      <p:sp>
        <p:nvSpPr>
          <p:cNvPr id="3" name="Text 1"/>
          <p:cNvSpPr/>
          <p:nvPr/>
        </p:nvSpPr>
        <p:spPr>
          <a:xfrm>
            <a:off x="548640" y="566928"/>
            <a:ext cx="10515600" cy="640080"/>
          </a:xfrm>
          <a:prstGeom prst="rect">
            <a:avLst/>
          </a:prstGeom>
          <a:noFill/>
          <a:ln/>
        </p:spPr>
        <p:txBody>
          <a:bodyPr wrap="square" rtlCol="0" anchor="ctr"/>
          <a:lstStyle/>
          <a:p>
            <a:pPr marL="0" indent="0">
              <a:buNone/>
            </a:pPr>
            <a:r>
              <a:rPr lang="en-US" sz="3000" b="1" dirty="0">
                <a:solidFill>
                  <a:srgbClr val="42637E"/>
                </a:solidFill>
                <a:latin typeface="Georgia" pitchFamily="34" charset="0"/>
                <a:ea typeface="Georgia" pitchFamily="34" charset="-122"/>
                <a:cs typeface="Georgia" pitchFamily="34" charset="-120"/>
              </a:rPr>
              <a:t>Population Forecast for India (2025–2034)</a:t>
            </a:r>
            <a:endParaRPr lang="en-US" sz="3000" dirty="0"/>
          </a:p>
        </p:txBody>
      </p:sp>
      <p:graphicFrame>
        <p:nvGraphicFramePr>
          <p:cNvPr id="4" name="Chart 0"/>
          <p:cNvGraphicFramePr/>
          <p:nvPr/>
        </p:nvGraphicFramePr>
        <p:xfrm>
          <a:off x="365760" y="1417320"/>
          <a:ext cx="6949440" cy="420624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p:nvPr/>
        </p:nvSpPr>
        <p:spPr>
          <a:xfrm>
            <a:off x="365760" y="5715000"/>
            <a:ext cx="6949440" cy="457200"/>
          </a:xfrm>
          <a:prstGeom prst="rect">
            <a:avLst/>
          </a:prstGeom>
          <a:noFill/>
          <a:ln/>
        </p:spPr>
        <p:txBody>
          <a:bodyPr wrap="square" rtlCol="0" anchor="ctr"/>
          <a:lstStyle/>
          <a:p>
            <a:pPr marL="0" indent="0">
              <a:buNone/>
            </a:pPr>
            <a:r>
              <a:rPr lang="en-US" sz="1150" i="1" dirty="0">
                <a:solidFill>
                  <a:srgbClr val="71808E"/>
                </a:solidFill>
                <a:latin typeface="Calibri" pitchFamily="34" charset="0"/>
                <a:ea typeface="Calibri" pitchFamily="34" charset="-122"/>
                <a:cs typeface="Calibri" pitchFamily="34" charset="-120"/>
              </a:rPr>
              <a:t>Linear regression trained on India's 1960–2024 population, projected 10 years forward.</a:t>
            </a:r>
            <a:endParaRPr lang="en-US" sz="1150" dirty="0"/>
          </a:p>
        </p:txBody>
      </p:sp>
      <p:sp>
        <p:nvSpPr>
          <p:cNvPr id="6" name="Shape 3"/>
          <p:cNvSpPr/>
          <p:nvPr/>
        </p:nvSpPr>
        <p:spPr>
          <a:xfrm>
            <a:off x="7589520" y="1417320"/>
            <a:ext cx="4023360" cy="1417320"/>
          </a:xfrm>
          <a:prstGeom prst="roundRect">
            <a:avLst>
              <a:gd name="adj" fmla="val 3226"/>
            </a:avLst>
          </a:prstGeom>
          <a:solidFill>
            <a:srgbClr val="42637E"/>
          </a:solidFill>
          <a:ln/>
          <a:effectLst>
            <a:outerShdw blurRad="63500" dist="25400" dir="2700000" algn="bl" rotWithShape="0">
              <a:srgbClr val="42637E">
                <a:alpha val="6000"/>
              </a:srgbClr>
            </a:outerShdw>
          </a:effectLst>
        </p:spPr>
        <p:txBody>
          <a:bodyPr/>
          <a:lstStyle/>
          <a:p>
            <a:endParaRPr lang="en-US"/>
          </a:p>
        </p:txBody>
      </p:sp>
      <p:sp>
        <p:nvSpPr>
          <p:cNvPr id="7" name="Text 4"/>
          <p:cNvSpPr/>
          <p:nvPr/>
        </p:nvSpPr>
        <p:spPr>
          <a:xfrm>
            <a:off x="7818120" y="1554480"/>
            <a:ext cx="3566160" cy="320040"/>
          </a:xfrm>
          <a:prstGeom prst="rect">
            <a:avLst/>
          </a:prstGeom>
          <a:noFill/>
          <a:ln/>
        </p:spPr>
        <p:txBody>
          <a:bodyPr wrap="square" rtlCol="0" anchor="ctr"/>
          <a:lstStyle/>
          <a:p>
            <a:pPr marL="0" indent="0">
              <a:buNone/>
            </a:pPr>
            <a:r>
              <a:rPr lang="en-US" sz="1200" dirty="0">
                <a:solidFill>
                  <a:srgbClr val="E8EDF1"/>
                </a:solidFill>
                <a:latin typeface="Calibri" pitchFamily="34" charset="0"/>
                <a:ea typeface="Calibri" pitchFamily="34" charset="-122"/>
                <a:cs typeface="Calibri" pitchFamily="34" charset="-120"/>
              </a:rPr>
              <a:t>2025 → 2034</a:t>
            </a:r>
            <a:endParaRPr lang="en-US" sz="1200" dirty="0"/>
          </a:p>
        </p:txBody>
      </p:sp>
      <p:sp>
        <p:nvSpPr>
          <p:cNvPr id="8" name="Text 5"/>
          <p:cNvSpPr/>
          <p:nvPr/>
        </p:nvSpPr>
        <p:spPr>
          <a:xfrm>
            <a:off x="7818120" y="1874520"/>
            <a:ext cx="3566160" cy="731520"/>
          </a:xfrm>
          <a:prstGeom prst="rect">
            <a:avLst/>
          </a:prstGeom>
          <a:noFill/>
          <a:ln/>
        </p:spPr>
        <p:txBody>
          <a:bodyPr wrap="square" rtlCol="0" anchor="ctr"/>
          <a:lstStyle/>
          <a:p>
            <a:pPr marL="0" indent="0">
              <a:buNone/>
            </a:pPr>
            <a:r>
              <a:rPr lang="en-US" sz="2400" b="1" dirty="0">
                <a:solidFill>
                  <a:srgbClr val="FFFFFF"/>
                </a:solidFill>
                <a:latin typeface="Georgia" pitchFamily="34" charset="0"/>
                <a:ea typeface="Georgia" pitchFamily="34" charset="-122"/>
                <a:cs typeface="Georgia" pitchFamily="34" charset="-120"/>
              </a:rPr>
              <a:t>1.48B  →  1.63B</a:t>
            </a:r>
            <a:endParaRPr lang="en-US" sz="2400" dirty="0"/>
          </a:p>
        </p:txBody>
      </p:sp>
      <p:sp>
        <p:nvSpPr>
          <p:cNvPr id="9" name="Text 6"/>
          <p:cNvSpPr/>
          <p:nvPr/>
        </p:nvSpPr>
        <p:spPr>
          <a:xfrm>
            <a:off x="7589520" y="3063240"/>
            <a:ext cx="4023360" cy="320040"/>
          </a:xfrm>
          <a:prstGeom prst="rect">
            <a:avLst/>
          </a:prstGeom>
          <a:noFill/>
          <a:ln/>
        </p:spPr>
        <p:txBody>
          <a:bodyPr wrap="square" rtlCol="0" anchor="ctr"/>
          <a:lstStyle/>
          <a:p>
            <a:pPr marL="0" indent="0">
              <a:buNone/>
            </a:pPr>
            <a:r>
              <a:rPr lang="en-US" sz="1300" b="1" dirty="0">
                <a:solidFill>
                  <a:srgbClr val="42637E"/>
                </a:solidFill>
                <a:latin typeface="Calibri" pitchFamily="34" charset="0"/>
                <a:ea typeface="Calibri" pitchFamily="34" charset="-122"/>
                <a:cs typeface="Calibri" pitchFamily="34" charset="-120"/>
              </a:rPr>
              <a:t>Model Limitations:</a:t>
            </a:r>
            <a:endParaRPr lang="en-US" sz="1300" dirty="0"/>
          </a:p>
        </p:txBody>
      </p:sp>
      <p:sp>
        <p:nvSpPr>
          <p:cNvPr id="10" name="Text 7"/>
          <p:cNvSpPr/>
          <p:nvPr/>
        </p:nvSpPr>
        <p:spPr>
          <a:xfrm>
            <a:off x="7589520" y="3429000"/>
            <a:ext cx="4023360" cy="457200"/>
          </a:xfrm>
          <a:prstGeom prst="rect">
            <a:avLst/>
          </a:prstGeom>
          <a:noFill/>
          <a:ln/>
        </p:spPr>
        <p:txBody>
          <a:bodyPr wrap="square" rtlCol="0" anchor="ctr"/>
          <a:lstStyle/>
          <a:p>
            <a:pPr marL="342900" indent="-342900">
              <a:buSzPct val="100000"/>
              <a:buChar char="•"/>
            </a:pPr>
            <a:r>
              <a:rPr lang="en-US" sz="1150" dirty="0">
                <a:solidFill>
                  <a:srgbClr val="33414F"/>
                </a:solidFill>
                <a:latin typeface="Calibri" pitchFamily="34" charset="0"/>
                <a:ea typeface="Calibri" pitchFamily="34" charset="-122"/>
                <a:cs typeface="Calibri" pitchFamily="34" charset="-120"/>
              </a:rPr>
              <a:t>Assumes constant growth rate</a:t>
            </a:r>
            <a:endParaRPr lang="en-US" sz="1150" dirty="0"/>
          </a:p>
        </p:txBody>
      </p:sp>
      <p:sp>
        <p:nvSpPr>
          <p:cNvPr id="11" name="Text 8"/>
          <p:cNvSpPr/>
          <p:nvPr/>
        </p:nvSpPr>
        <p:spPr>
          <a:xfrm>
            <a:off x="7589520" y="3931920"/>
            <a:ext cx="4023360" cy="457200"/>
          </a:xfrm>
          <a:prstGeom prst="rect">
            <a:avLst/>
          </a:prstGeom>
          <a:noFill/>
          <a:ln/>
        </p:spPr>
        <p:txBody>
          <a:bodyPr wrap="square" rtlCol="0" anchor="ctr"/>
          <a:lstStyle/>
          <a:p>
            <a:pPr marL="342900" indent="-342900">
              <a:buSzPct val="100000"/>
              <a:buChar char="•"/>
            </a:pPr>
            <a:r>
              <a:rPr lang="en-US" sz="1150" dirty="0">
                <a:solidFill>
                  <a:srgbClr val="33414F"/>
                </a:solidFill>
                <a:latin typeface="Calibri" pitchFamily="34" charset="0"/>
                <a:ea typeface="Calibri" pitchFamily="34" charset="-122"/>
                <a:cs typeface="Calibri" pitchFamily="34" charset="-120"/>
              </a:rPr>
              <a:t>Ignores migration &amp; policy shifts</a:t>
            </a:r>
            <a:endParaRPr lang="en-US" sz="1150" dirty="0"/>
          </a:p>
        </p:txBody>
      </p:sp>
      <p:sp>
        <p:nvSpPr>
          <p:cNvPr id="12" name="Text 9"/>
          <p:cNvSpPr/>
          <p:nvPr/>
        </p:nvSpPr>
        <p:spPr>
          <a:xfrm>
            <a:off x="7589520" y="4434840"/>
            <a:ext cx="4023360" cy="457200"/>
          </a:xfrm>
          <a:prstGeom prst="rect">
            <a:avLst/>
          </a:prstGeom>
          <a:noFill/>
          <a:ln/>
        </p:spPr>
        <p:txBody>
          <a:bodyPr wrap="square" rtlCol="0" anchor="ctr"/>
          <a:lstStyle/>
          <a:p>
            <a:pPr marL="342900" indent="-342900">
              <a:buSzPct val="100000"/>
              <a:buChar char="•"/>
            </a:pPr>
            <a:r>
              <a:rPr lang="en-US" sz="1150" dirty="0">
                <a:solidFill>
                  <a:srgbClr val="33414F"/>
                </a:solidFill>
                <a:latin typeface="Calibri" pitchFamily="34" charset="0"/>
                <a:ea typeface="Calibri" pitchFamily="34" charset="-122"/>
                <a:cs typeface="Calibri" pitchFamily="34" charset="-120"/>
              </a:rPr>
              <a:t>Accuracy decreases over time</a:t>
            </a:r>
            <a:endParaRPr lang="en-US" sz="1150" dirty="0"/>
          </a:p>
        </p:txBody>
      </p:sp>
      <p:sp>
        <p:nvSpPr>
          <p:cNvPr id="13" name="Text 10"/>
          <p:cNvSpPr/>
          <p:nvPr/>
        </p:nvSpPr>
        <p:spPr>
          <a:xfrm>
            <a:off x="7589520" y="4937760"/>
            <a:ext cx="4023360" cy="457200"/>
          </a:xfrm>
          <a:prstGeom prst="rect">
            <a:avLst/>
          </a:prstGeom>
          <a:noFill/>
          <a:ln/>
        </p:spPr>
        <p:txBody>
          <a:bodyPr wrap="square" rtlCol="0" anchor="ctr"/>
          <a:lstStyle/>
          <a:p>
            <a:pPr marL="342900" indent="-342900">
              <a:buSzPct val="100000"/>
              <a:buChar char="•"/>
            </a:pPr>
            <a:r>
              <a:rPr lang="en-US" sz="1150" dirty="0">
                <a:solidFill>
                  <a:srgbClr val="33414F"/>
                </a:solidFill>
                <a:latin typeface="Calibri" pitchFamily="34" charset="0"/>
                <a:ea typeface="Calibri" pitchFamily="34" charset="-122"/>
                <a:cs typeface="Calibri" pitchFamily="34" charset="-120"/>
              </a:rPr>
              <a:t>Can't predict shocks (pandemics, conflict)</a:t>
            </a:r>
            <a:endParaRPr lang="en-US" sz="1150" dirty="0"/>
          </a:p>
        </p:txBody>
      </p:sp>
      <p:sp>
        <p:nvSpPr>
          <p:cNvPr id="14" name="Text 11"/>
          <p:cNvSpPr/>
          <p:nvPr/>
        </p:nvSpPr>
        <p:spPr>
          <a:xfrm>
            <a:off x="457200" y="6510528"/>
            <a:ext cx="7315200" cy="274320"/>
          </a:xfrm>
          <a:prstGeom prst="rect">
            <a:avLst/>
          </a:prstGeom>
          <a:noFill/>
          <a:ln/>
        </p:spPr>
        <p:txBody>
          <a:bodyPr wrap="square" rtlCol="0" anchor="ctr"/>
          <a:lstStyle/>
          <a:p>
            <a:pPr marL="0" indent="0">
              <a:buNone/>
            </a:pPr>
            <a:r>
              <a:rPr lang="en-US" sz="900" dirty="0">
                <a:solidFill>
                  <a:srgbClr val="71808E"/>
                </a:solidFill>
                <a:latin typeface="Calibri" pitchFamily="34" charset="0"/>
                <a:ea typeface="Calibri" pitchFamily="34" charset="-122"/>
                <a:cs typeface="Calibri" pitchFamily="34" charset="-120"/>
              </a:rPr>
              <a:t>Population Growth Analysis and Forecasting</a:t>
            </a:r>
            <a:endParaRPr lang="en-US" sz="900" dirty="0"/>
          </a:p>
        </p:txBody>
      </p:sp>
      <p:sp>
        <p:nvSpPr>
          <p:cNvPr id="15" name="Text 12"/>
          <p:cNvSpPr/>
          <p:nvPr/>
        </p:nvSpPr>
        <p:spPr>
          <a:xfrm>
            <a:off x="11430000" y="6510528"/>
            <a:ext cx="365760" cy="274320"/>
          </a:xfrm>
          <a:prstGeom prst="rect">
            <a:avLst/>
          </a:prstGeom>
          <a:noFill/>
          <a:ln/>
        </p:spPr>
        <p:txBody>
          <a:bodyPr wrap="square" rtlCol="0" anchor="ctr"/>
          <a:lstStyle/>
          <a:p>
            <a:pPr marL="0" indent="0" algn="r">
              <a:buNone/>
            </a:pPr>
            <a:r>
              <a:rPr lang="en-US" sz="900" dirty="0">
                <a:solidFill>
                  <a:srgbClr val="71808E"/>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rtlCol="0" anchor="ctr"/>
          <a:lstStyle/>
          <a:p>
            <a:pPr marL="0" indent="0">
              <a:buNone/>
            </a:pPr>
            <a:r>
              <a:rPr lang="en-US" sz="1300" b="1" kern="0" spc="200" dirty="0">
                <a:solidFill>
                  <a:srgbClr val="B08D57"/>
                </a:solidFill>
                <a:latin typeface="Calibri" pitchFamily="34" charset="0"/>
                <a:ea typeface="Calibri" pitchFamily="34" charset="-122"/>
                <a:cs typeface="Calibri" pitchFamily="34" charset="-120"/>
              </a:rPr>
              <a:t>SECTION 7</a:t>
            </a:r>
            <a:endParaRPr lang="en-US" sz="1300" dirty="0"/>
          </a:p>
        </p:txBody>
      </p:sp>
      <p:sp>
        <p:nvSpPr>
          <p:cNvPr id="3" name="Text 1"/>
          <p:cNvSpPr/>
          <p:nvPr/>
        </p:nvSpPr>
        <p:spPr>
          <a:xfrm>
            <a:off x="548640" y="566928"/>
            <a:ext cx="10515600" cy="640080"/>
          </a:xfrm>
          <a:prstGeom prst="rect">
            <a:avLst/>
          </a:prstGeom>
          <a:noFill/>
          <a:ln/>
        </p:spPr>
        <p:txBody>
          <a:bodyPr wrap="square" rtlCol="0" anchor="ctr"/>
          <a:lstStyle/>
          <a:p>
            <a:pPr marL="0" indent="0">
              <a:buNone/>
            </a:pPr>
            <a:r>
              <a:rPr lang="en-US" sz="3000" b="1" dirty="0">
                <a:solidFill>
                  <a:srgbClr val="42637E"/>
                </a:solidFill>
                <a:latin typeface="Georgia" pitchFamily="34" charset="0"/>
                <a:ea typeface="Georgia" pitchFamily="34" charset="-122"/>
                <a:cs typeface="Georgia" pitchFamily="34" charset="-120"/>
              </a:rPr>
              <a:t>Main Findings</a:t>
            </a:r>
            <a:endParaRPr lang="en-US" sz="3000" dirty="0"/>
          </a:p>
        </p:txBody>
      </p:sp>
      <p:sp>
        <p:nvSpPr>
          <p:cNvPr id="4" name="Shape 2"/>
          <p:cNvSpPr/>
          <p:nvPr/>
        </p:nvSpPr>
        <p:spPr>
          <a:xfrm>
            <a:off x="457200" y="1417320"/>
            <a:ext cx="3657600" cy="1783080"/>
          </a:xfrm>
          <a:prstGeom prst="roundRect">
            <a:avLst>
              <a:gd name="adj" fmla="val 2564"/>
            </a:avLst>
          </a:prstGeom>
          <a:solidFill>
            <a:srgbClr val="F2F4F6"/>
          </a:solidFill>
          <a:ln/>
          <a:effectLst>
            <a:outerShdw blurRad="63500" dist="25400" dir="2700000" algn="bl" rotWithShape="0">
              <a:srgbClr val="42637E">
                <a:alpha val="6000"/>
              </a:srgbClr>
            </a:outerShdw>
          </a:effectLst>
        </p:spPr>
        <p:txBody>
          <a:bodyPr/>
          <a:lstStyle/>
          <a:p>
            <a:endParaRPr lang="en-US"/>
          </a:p>
        </p:txBody>
      </p:sp>
      <p:pic>
        <p:nvPicPr>
          <p:cNvPr id="5" name="Image 0" descr="/home/claude/assets/icon_lightbulb_blue.png"/>
          <p:cNvPicPr>
            <a:picLocks noChangeAspect="1"/>
          </p:cNvPicPr>
          <p:nvPr/>
        </p:nvPicPr>
        <p:blipFill>
          <a:blip r:embed="rId3"/>
          <a:stretch>
            <a:fillRect/>
          </a:stretch>
        </p:blipFill>
        <p:spPr>
          <a:xfrm>
            <a:off x="685800" y="1618488"/>
            <a:ext cx="365760" cy="365760"/>
          </a:xfrm>
          <a:prstGeom prst="rect">
            <a:avLst/>
          </a:prstGeom>
        </p:spPr>
      </p:pic>
      <p:sp>
        <p:nvSpPr>
          <p:cNvPr id="6" name="Text 3"/>
          <p:cNvSpPr/>
          <p:nvPr/>
        </p:nvSpPr>
        <p:spPr>
          <a:xfrm>
            <a:off x="685800" y="2039112"/>
            <a:ext cx="3200400" cy="365760"/>
          </a:xfrm>
          <a:prstGeom prst="rect">
            <a:avLst/>
          </a:prstGeom>
          <a:noFill/>
          <a:ln/>
        </p:spPr>
        <p:txBody>
          <a:bodyPr wrap="square" rtlCol="0" anchor="ctr"/>
          <a:lstStyle/>
          <a:p>
            <a:pPr marL="0" indent="0">
              <a:buNone/>
            </a:pPr>
            <a:r>
              <a:rPr lang="en-US" sz="1400" b="1" dirty="0">
                <a:solidFill>
                  <a:srgbClr val="42637E"/>
                </a:solidFill>
                <a:latin typeface="Calibri" pitchFamily="34" charset="0"/>
                <a:ea typeface="Calibri" pitchFamily="34" charset="-122"/>
                <a:cs typeface="Calibri" pitchFamily="34" charset="-120"/>
              </a:rPr>
              <a:t>Slowing Growth</a:t>
            </a:r>
            <a:endParaRPr lang="en-US" sz="1400" dirty="0"/>
          </a:p>
        </p:txBody>
      </p:sp>
      <p:sp>
        <p:nvSpPr>
          <p:cNvPr id="7" name="Text 4"/>
          <p:cNvSpPr/>
          <p:nvPr/>
        </p:nvSpPr>
        <p:spPr>
          <a:xfrm>
            <a:off x="685800" y="2404872"/>
            <a:ext cx="3200400" cy="731520"/>
          </a:xfrm>
          <a:prstGeom prst="rect">
            <a:avLst/>
          </a:prstGeom>
          <a:noFill/>
          <a:ln/>
        </p:spPr>
        <p:txBody>
          <a:bodyPr wrap="square" rtlCol="0" anchor="t"/>
          <a:lstStyle/>
          <a:p>
            <a:pPr marL="0" indent="0">
              <a:buNone/>
            </a:pPr>
            <a:r>
              <a:rPr lang="en-US" sz="1100" dirty="0">
                <a:solidFill>
                  <a:srgbClr val="33414F"/>
                </a:solidFill>
                <a:latin typeface="Calibri" pitchFamily="34" charset="0"/>
                <a:ea typeface="Calibri" pitchFamily="34" charset="-122"/>
                <a:cs typeface="Calibri" pitchFamily="34" charset="-120"/>
              </a:rPr>
              <a:t>The world's population keeps climbing, but it's adding people more slowly than it used to.</a:t>
            </a:r>
            <a:endParaRPr lang="en-US" sz="1100" dirty="0"/>
          </a:p>
        </p:txBody>
      </p:sp>
      <p:sp>
        <p:nvSpPr>
          <p:cNvPr id="8" name="Shape 5"/>
          <p:cNvSpPr/>
          <p:nvPr/>
        </p:nvSpPr>
        <p:spPr>
          <a:xfrm>
            <a:off x="4343400" y="1417320"/>
            <a:ext cx="3657600" cy="1783080"/>
          </a:xfrm>
          <a:prstGeom prst="roundRect">
            <a:avLst>
              <a:gd name="adj" fmla="val 2564"/>
            </a:avLst>
          </a:prstGeom>
          <a:solidFill>
            <a:srgbClr val="F2F4F6"/>
          </a:solidFill>
          <a:ln/>
          <a:effectLst>
            <a:outerShdw blurRad="63500" dist="25400" dir="2700000" algn="bl" rotWithShape="0">
              <a:srgbClr val="42637E">
                <a:alpha val="6000"/>
              </a:srgbClr>
            </a:outerShdw>
          </a:effectLst>
        </p:spPr>
        <p:txBody>
          <a:bodyPr/>
          <a:lstStyle/>
          <a:p>
            <a:endParaRPr lang="en-US"/>
          </a:p>
        </p:txBody>
      </p:sp>
      <p:pic>
        <p:nvPicPr>
          <p:cNvPr id="9" name="Image 1" descr="/home/claude/assets/icon_lightbulb_blue.png"/>
          <p:cNvPicPr>
            <a:picLocks noChangeAspect="1"/>
          </p:cNvPicPr>
          <p:nvPr/>
        </p:nvPicPr>
        <p:blipFill>
          <a:blip r:embed="rId3"/>
          <a:stretch>
            <a:fillRect/>
          </a:stretch>
        </p:blipFill>
        <p:spPr>
          <a:xfrm>
            <a:off x="4572000" y="1618488"/>
            <a:ext cx="365760" cy="365760"/>
          </a:xfrm>
          <a:prstGeom prst="rect">
            <a:avLst/>
          </a:prstGeom>
        </p:spPr>
      </p:pic>
      <p:sp>
        <p:nvSpPr>
          <p:cNvPr id="10" name="Text 6"/>
          <p:cNvSpPr/>
          <p:nvPr/>
        </p:nvSpPr>
        <p:spPr>
          <a:xfrm>
            <a:off x="4572000" y="2039112"/>
            <a:ext cx="3200400" cy="365760"/>
          </a:xfrm>
          <a:prstGeom prst="rect">
            <a:avLst/>
          </a:prstGeom>
          <a:noFill/>
          <a:ln/>
        </p:spPr>
        <p:txBody>
          <a:bodyPr wrap="square" rtlCol="0" anchor="ctr"/>
          <a:lstStyle/>
          <a:p>
            <a:pPr marL="0" indent="0">
              <a:buNone/>
            </a:pPr>
            <a:r>
              <a:rPr lang="en-US" sz="1400" b="1" dirty="0">
                <a:solidFill>
                  <a:srgbClr val="42637E"/>
                </a:solidFill>
                <a:latin typeface="Calibri" pitchFamily="34" charset="0"/>
                <a:ea typeface="Calibri" pitchFamily="34" charset="-122"/>
                <a:cs typeface="Calibri" pitchFamily="34" charset="-120"/>
              </a:rPr>
              <a:t>India Leads</a:t>
            </a:r>
            <a:endParaRPr lang="en-US" sz="1400" dirty="0"/>
          </a:p>
        </p:txBody>
      </p:sp>
      <p:sp>
        <p:nvSpPr>
          <p:cNvPr id="11" name="Text 7"/>
          <p:cNvSpPr/>
          <p:nvPr/>
        </p:nvSpPr>
        <p:spPr>
          <a:xfrm>
            <a:off x="4572000" y="2404872"/>
            <a:ext cx="3200400" cy="731520"/>
          </a:xfrm>
          <a:prstGeom prst="rect">
            <a:avLst/>
          </a:prstGeom>
          <a:noFill/>
          <a:ln/>
        </p:spPr>
        <p:txBody>
          <a:bodyPr wrap="square" rtlCol="0" anchor="t"/>
          <a:lstStyle/>
          <a:p>
            <a:pPr marL="0" indent="0">
              <a:buNone/>
            </a:pPr>
            <a:r>
              <a:rPr lang="en-US" sz="1100" dirty="0">
                <a:solidFill>
                  <a:srgbClr val="33414F"/>
                </a:solidFill>
                <a:latin typeface="Calibri" pitchFamily="34" charset="0"/>
                <a:ea typeface="Calibri" pitchFamily="34" charset="-122"/>
                <a:cs typeface="Calibri" pitchFamily="34" charset="-120"/>
              </a:rPr>
              <a:t>India has overtaken China as the most populous country, and China's growth has dropped to near zero.</a:t>
            </a:r>
            <a:endParaRPr lang="en-US" sz="1100" dirty="0"/>
          </a:p>
        </p:txBody>
      </p:sp>
      <p:sp>
        <p:nvSpPr>
          <p:cNvPr id="12" name="Shape 8"/>
          <p:cNvSpPr/>
          <p:nvPr/>
        </p:nvSpPr>
        <p:spPr>
          <a:xfrm>
            <a:off x="8229600" y="1417320"/>
            <a:ext cx="3657600" cy="1783080"/>
          </a:xfrm>
          <a:prstGeom prst="roundRect">
            <a:avLst>
              <a:gd name="adj" fmla="val 2564"/>
            </a:avLst>
          </a:prstGeom>
          <a:solidFill>
            <a:srgbClr val="F2F4F6"/>
          </a:solidFill>
          <a:ln/>
          <a:effectLst>
            <a:outerShdw blurRad="63500" dist="25400" dir="2700000" algn="bl" rotWithShape="0">
              <a:srgbClr val="42637E">
                <a:alpha val="6000"/>
              </a:srgbClr>
            </a:outerShdw>
          </a:effectLst>
        </p:spPr>
        <p:txBody>
          <a:bodyPr/>
          <a:lstStyle/>
          <a:p>
            <a:endParaRPr lang="en-US"/>
          </a:p>
        </p:txBody>
      </p:sp>
      <p:pic>
        <p:nvPicPr>
          <p:cNvPr id="13" name="Image 2" descr="/home/claude/assets/icon_lightbulb_blue.png"/>
          <p:cNvPicPr>
            <a:picLocks noChangeAspect="1"/>
          </p:cNvPicPr>
          <p:nvPr/>
        </p:nvPicPr>
        <p:blipFill>
          <a:blip r:embed="rId3"/>
          <a:stretch>
            <a:fillRect/>
          </a:stretch>
        </p:blipFill>
        <p:spPr>
          <a:xfrm>
            <a:off x="8458200" y="1618488"/>
            <a:ext cx="365760" cy="365760"/>
          </a:xfrm>
          <a:prstGeom prst="rect">
            <a:avLst/>
          </a:prstGeom>
        </p:spPr>
      </p:pic>
      <p:sp>
        <p:nvSpPr>
          <p:cNvPr id="14" name="Text 9"/>
          <p:cNvSpPr/>
          <p:nvPr/>
        </p:nvSpPr>
        <p:spPr>
          <a:xfrm>
            <a:off x="8458200" y="2039112"/>
            <a:ext cx="3200400" cy="365760"/>
          </a:xfrm>
          <a:prstGeom prst="rect">
            <a:avLst/>
          </a:prstGeom>
          <a:noFill/>
          <a:ln/>
        </p:spPr>
        <p:txBody>
          <a:bodyPr wrap="square" rtlCol="0" anchor="ctr"/>
          <a:lstStyle/>
          <a:p>
            <a:pPr marL="0" indent="0">
              <a:buNone/>
            </a:pPr>
            <a:r>
              <a:rPr lang="en-US" sz="1400" b="1" dirty="0">
                <a:solidFill>
                  <a:srgbClr val="42637E"/>
                </a:solidFill>
                <a:latin typeface="Calibri" pitchFamily="34" charset="0"/>
                <a:ea typeface="Calibri" pitchFamily="34" charset="-122"/>
                <a:cs typeface="Calibri" pitchFamily="34" charset="-120"/>
              </a:rPr>
              <a:t>Africa Rising</a:t>
            </a:r>
            <a:endParaRPr lang="en-US" sz="1400" dirty="0"/>
          </a:p>
        </p:txBody>
      </p:sp>
      <p:sp>
        <p:nvSpPr>
          <p:cNvPr id="15" name="Text 10"/>
          <p:cNvSpPr/>
          <p:nvPr/>
        </p:nvSpPr>
        <p:spPr>
          <a:xfrm>
            <a:off x="8458200" y="2404872"/>
            <a:ext cx="3200400" cy="731520"/>
          </a:xfrm>
          <a:prstGeom prst="rect">
            <a:avLst/>
          </a:prstGeom>
          <a:noFill/>
          <a:ln/>
        </p:spPr>
        <p:txBody>
          <a:bodyPr wrap="square" rtlCol="0" anchor="t"/>
          <a:lstStyle/>
          <a:p>
            <a:pPr marL="0" indent="0">
              <a:buNone/>
            </a:pPr>
            <a:r>
              <a:rPr lang="en-US" sz="1100" dirty="0">
                <a:solidFill>
                  <a:srgbClr val="33414F"/>
                </a:solidFill>
                <a:latin typeface="Calibri" pitchFamily="34" charset="0"/>
                <a:ea typeface="Calibri" pitchFamily="34" charset="-122"/>
                <a:cs typeface="Calibri" pitchFamily="34" charset="-120"/>
              </a:rPr>
              <a:t>Africa now has the highest average growth rate of any continent, at 2.46%.</a:t>
            </a:r>
            <a:endParaRPr lang="en-US" sz="1100" dirty="0"/>
          </a:p>
        </p:txBody>
      </p:sp>
      <p:sp>
        <p:nvSpPr>
          <p:cNvPr id="16" name="Shape 11"/>
          <p:cNvSpPr/>
          <p:nvPr/>
        </p:nvSpPr>
        <p:spPr>
          <a:xfrm>
            <a:off x="457200" y="3429000"/>
            <a:ext cx="3657600" cy="1783080"/>
          </a:xfrm>
          <a:prstGeom prst="roundRect">
            <a:avLst>
              <a:gd name="adj" fmla="val 2564"/>
            </a:avLst>
          </a:prstGeom>
          <a:solidFill>
            <a:srgbClr val="F2F4F6"/>
          </a:solidFill>
          <a:ln/>
          <a:effectLst>
            <a:outerShdw blurRad="63500" dist="25400" dir="2700000" algn="bl" rotWithShape="0">
              <a:srgbClr val="42637E">
                <a:alpha val="6000"/>
              </a:srgbClr>
            </a:outerShdw>
          </a:effectLst>
        </p:spPr>
        <p:txBody>
          <a:bodyPr/>
          <a:lstStyle/>
          <a:p>
            <a:endParaRPr lang="en-US"/>
          </a:p>
        </p:txBody>
      </p:sp>
      <p:pic>
        <p:nvPicPr>
          <p:cNvPr id="17" name="Image 3" descr="/home/claude/assets/icon_lightbulb_blue.png"/>
          <p:cNvPicPr>
            <a:picLocks noChangeAspect="1"/>
          </p:cNvPicPr>
          <p:nvPr/>
        </p:nvPicPr>
        <p:blipFill>
          <a:blip r:embed="rId3"/>
          <a:stretch>
            <a:fillRect/>
          </a:stretch>
        </p:blipFill>
        <p:spPr>
          <a:xfrm>
            <a:off x="685800" y="3630168"/>
            <a:ext cx="365760" cy="365760"/>
          </a:xfrm>
          <a:prstGeom prst="rect">
            <a:avLst/>
          </a:prstGeom>
        </p:spPr>
      </p:pic>
      <p:sp>
        <p:nvSpPr>
          <p:cNvPr id="18" name="Text 12"/>
          <p:cNvSpPr/>
          <p:nvPr/>
        </p:nvSpPr>
        <p:spPr>
          <a:xfrm>
            <a:off x="685800" y="4050792"/>
            <a:ext cx="3200400" cy="365760"/>
          </a:xfrm>
          <a:prstGeom prst="rect">
            <a:avLst/>
          </a:prstGeom>
          <a:noFill/>
          <a:ln/>
        </p:spPr>
        <p:txBody>
          <a:bodyPr wrap="square" rtlCol="0" anchor="ctr"/>
          <a:lstStyle/>
          <a:p>
            <a:pPr marL="0" indent="0">
              <a:buNone/>
            </a:pPr>
            <a:r>
              <a:rPr lang="en-US" sz="1400" b="1" dirty="0">
                <a:solidFill>
                  <a:srgbClr val="42637E"/>
                </a:solidFill>
                <a:latin typeface="Calibri" pitchFamily="34" charset="0"/>
                <a:ea typeface="Calibri" pitchFamily="34" charset="-122"/>
                <a:cs typeface="Calibri" pitchFamily="34" charset="-120"/>
              </a:rPr>
              <a:t>Europe Aging</a:t>
            </a:r>
            <a:endParaRPr lang="en-US" sz="1400" dirty="0"/>
          </a:p>
        </p:txBody>
      </p:sp>
      <p:sp>
        <p:nvSpPr>
          <p:cNvPr id="19" name="Text 13"/>
          <p:cNvSpPr/>
          <p:nvPr/>
        </p:nvSpPr>
        <p:spPr>
          <a:xfrm>
            <a:off x="685800" y="4416552"/>
            <a:ext cx="3200400" cy="731520"/>
          </a:xfrm>
          <a:prstGeom prst="rect">
            <a:avLst/>
          </a:prstGeom>
          <a:noFill/>
          <a:ln/>
        </p:spPr>
        <p:txBody>
          <a:bodyPr wrap="square" rtlCol="0" anchor="t"/>
          <a:lstStyle/>
          <a:p>
            <a:pPr marL="0" indent="0">
              <a:buNone/>
            </a:pPr>
            <a:r>
              <a:rPr lang="en-US" sz="1100" dirty="0">
                <a:solidFill>
                  <a:srgbClr val="33414F"/>
                </a:solidFill>
                <a:latin typeface="Calibri" pitchFamily="34" charset="0"/>
                <a:ea typeface="Calibri" pitchFamily="34" charset="-122"/>
                <a:cs typeface="Calibri" pitchFamily="34" charset="-120"/>
              </a:rPr>
              <a:t>Europe's growth rate, just 0.52%, is the lowest anywhere — no surprise given its aging population.</a:t>
            </a:r>
            <a:endParaRPr lang="en-US" sz="1100" dirty="0"/>
          </a:p>
        </p:txBody>
      </p:sp>
      <p:sp>
        <p:nvSpPr>
          <p:cNvPr id="20" name="Shape 14"/>
          <p:cNvSpPr/>
          <p:nvPr/>
        </p:nvSpPr>
        <p:spPr>
          <a:xfrm>
            <a:off x="4343400" y="3429000"/>
            <a:ext cx="3657600" cy="1783080"/>
          </a:xfrm>
          <a:prstGeom prst="roundRect">
            <a:avLst>
              <a:gd name="adj" fmla="val 2564"/>
            </a:avLst>
          </a:prstGeom>
          <a:solidFill>
            <a:srgbClr val="F2F4F6"/>
          </a:solidFill>
          <a:ln/>
          <a:effectLst>
            <a:outerShdw blurRad="63500" dist="25400" dir="2700000" algn="bl" rotWithShape="0">
              <a:srgbClr val="42637E">
                <a:alpha val="6000"/>
              </a:srgbClr>
            </a:outerShdw>
          </a:effectLst>
        </p:spPr>
        <p:txBody>
          <a:bodyPr/>
          <a:lstStyle/>
          <a:p>
            <a:endParaRPr lang="en-US"/>
          </a:p>
        </p:txBody>
      </p:sp>
      <p:pic>
        <p:nvPicPr>
          <p:cNvPr id="21" name="Image 4" descr="/home/claude/assets/icon_lightbulb_blue.png"/>
          <p:cNvPicPr>
            <a:picLocks noChangeAspect="1"/>
          </p:cNvPicPr>
          <p:nvPr/>
        </p:nvPicPr>
        <p:blipFill>
          <a:blip r:embed="rId3"/>
          <a:stretch>
            <a:fillRect/>
          </a:stretch>
        </p:blipFill>
        <p:spPr>
          <a:xfrm>
            <a:off x="4572000" y="3630168"/>
            <a:ext cx="365760" cy="365760"/>
          </a:xfrm>
          <a:prstGeom prst="rect">
            <a:avLst/>
          </a:prstGeom>
        </p:spPr>
      </p:pic>
      <p:sp>
        <p:nvSpPr>
          <p:cNvPr id="22" name="Text 15"/>
          <p:cNvSpPr/>
          <p:nvPr/>
        </p:nvSpPr>
        <p:spPr>
          <a:xfrm>
            <a:off x="4572000" y="4050792"/>
            <a:ext cx="3200400" cy="365760"/>
          </a:xfrm>
          <a:prstGeom prst="rect">
            <a:avLst/>
          </a:prstGeom>
          <a:noFill/>
          <a:ln/>
        </p:spPr>
        <p:txBody>
          <a:bodyPr wrap="square" rtlCol="0" anchor="ctr"/>
          <a:lstStyle/>
          <a:p>
            <a:pPr marL="0" indent="0">
              <a:buNone/>
            </a:pPr>
            <a:r>
              <a:rPr lang="en-US" sz="1400" b="1" dirty="0">
                <a:solidFill>
                  <a:srgbClr val="42637E"/>
                </a:solidFill>
                <a:latin typeface="Calibri" pitchFamily="34" charset="0"/>
                <a:ea typeface="Calibri" pitchFamily="34" charset="-122"/>
                <a:cs typeface="Calibri" pitchFamily="34" charset="-120"/>
              </a:rPr>
              <a:t>Volatility is Local</a:t>
            </a:r>
            <a:endParaRPr lang="en-US" sz="1400" dirty="0"/>
          </a:p>
        </p:txBody>
      </p:sp>
      <p:sp>
        <p:nvSpPr>
          <p:cNvPr id="23" name="Text 16"/>
          <p:cNvSpPr/>
          <p:nvPr/>
        </p:nvSpPr>
        <p:spPr>
          <a:xfrm>
            <a:off x="4572000" y="4416552"/>
            <a:ext cx="3200400" cy="731520"/>
          </a:xfrm>
          <a:prstGeom prst="rect">
            <a:avLst/>
          </a:prstGeom>
          <a:noFill/>
          <a:ln/>
        </p:spPr>
        <p:txBody>
          <a:bodyPr wrap="square" rtlCol="0" anchor="t"/>
          <a:lstStyle/>
          <a:p>
            <a:pPr marL="0" indent="0">
              <a:buNone/>
            </a:pPr>
            <a:r>
              <a:rPr lang="en-US" sz="1100" dirty="0">
                <a:solidFill>
                  <a:srgbClr val="33414F"/>
                </a:solidFill>
                <a:latin typeface="Calibri" pitchFamily="34" charset="0"/>
                <a:ea typeface="Calibri" pitchFamily="34" charset="-122"/>
                <a:cs typeface="Calibri" pitchFamily="34" charset="-120"/>
              </a:rPr>
              <a:t>The wildest growth swings happen in small Gulf states or conflict zones, not in large countries.</a:t>
            </a:r>
            <a:endParaRPr lang="en-US" sz="1100" dirty="0"/>
          </a:p>
        </p:txBody>
      </p:sp>
      <p:sp>
        <p:nvSpPr>
          <p:cNvPr id="24" name="Shape 17"/>
          <p:cNvSpPr/>
          <p:nvPr/>
        </p:nvSpPr>
        <p:spPr>
          <a:xfrm>
            <a:off x="8229600" y="3429000"/>
            <a:ext cx="3657600" cy="1783080"/>
          </a:xfrm>
          <a:prstGeom prst="roundRect">
            <a:avLst>
              <a:gd name="adj" fmla="val 2564"/>
            </a:avLst>
          </a:prstGeom>
          <a:solidFill>
            <a:srgbClr val="F2F4F6"/>
          </a:solidFill>
          <a:ln/>
          <a:effectLst>
            <a:outerShdw blurRad="63500" dist="25400" dir="2700000" algn="bl" rotWithShape="0">
              <a:srgbClr val="42637E">
                <a:alpha val="6000"/>
              </a:srgbClr>
            </a:outerShdw>
          </a:effectLst>
        </p:spPr>
        <p:txBody>
          <a:bodyPr/>
          <a:lstStyle/>
          <a:p>
            <a:endParaRPr lang="en-US"/>
          </a:p>
        </p:txBody>
      </p:sp>
      <p:pic>
        <p:nvPicPr>
          <p:cNvPr id="25" name="Image 5" descr="/home/claude/assets/icon_lightbulb_blue.png"/>
          <p:cNvPicPr>
            <a:picLocks noChangeAspect="1"/>
          </p:cNvPicPr>
          <p:nvPr/>
        </p:nvPicPr>
        <p:blipFill>
          <a:blip r:embed="rId3"/>
          <a:stretch>
            <a:fillRect/>
          </a:stretch>
        </p:blipFill>
        <p:spPr>
          <a:xfrm>
            <a:off x="8458200" y="3630168"/>
            <a:ext cx="365760" cy="365760"/>
          </a:xfrm>
          <a:prstGeom prst="rect">
            <a:avLst/>
          </a:prstGeom>
        </p:spPr>
      </p:pic>
      <p:sp>
        <p:nvSpPr>
          <p:cNvPr id="26" name="Text 18"/>
          <p:cNvSpPr/>
          <p:nvPr/>
        </p:nvSpPr>
        <p:spPr>
          <a:xfrm>
            <a:off x="8458200" y="4050792"/>
            <a:ext cx="3200400" cy="365760"/>
          </a:xfrm>
          <a:prstGeom prst="rect">
            <a:avLst/>
          </a:prstGeom>
          <a:noFill/>
          <a:ln/>
        </p:spPr>
        <p:txBody>
          <a:bodyPr wrap="square" rtlCol="0" anchor="ctr"/>
          <a:lstStyle/>
          <a:p>
            <a:pPr marL="0" indent="0">
              <a:buNone/>
            </a:pPr>
            <a:r>
              <a:rPr lang="en-US" sz="1400" b="1" dirty="0">
                <a:solidFill>
                  <a:srgbClr val="42637E"/>
                </a:solidFill>
                <a:latin typeface="Calibri" pitchFamily="34" charset="0"/>
                <a:ea typeface="Calibri" pitchFamily="34" charset="-122"/>
                <a:cs typeface="Calibri" pitchFamily="34" charset="-120"/>
              </a:rPr>
              <a:t>Absolute vs. Relative</a:t>
            </a:r>
            <a:endParaRPr lang="en-US" sz="1400" dirty="0"/>
          </a:p>
        </p:txBody>
      </p:sp>
      <p:sp>
        <p:nvSpPr>
          <p:cNvPr id="27" name="Text 19"/>
          <p:cNvSpPr/>
          <p:nvPr/>
        </p:nvSpPr>
        <p:spPr>
          <a:xfrm>
            <a:off x="8458200" y="4416552"/>
            <a:ext cx="3200400" cy="731520"/>
          </a:xfrm>
          <a:prstGeom prst="rect">
            <a:avLst/>
          </a:prstGeom>
          <a:noFill/>
          <a:ln/>
        </p:spPr>
        <p:txBody>
          <a:bodyPr wrap="square" rtlCol="0" anchor="t"/>
          <a:lstStyle/>
          <a:p>
            <a:pPr marL="0" indent="0">
              <a:buNone/>
            </a:pPr>
            <a:r>
              <a:rPr lang="en-US" sz="1100" dirty="0">
                <a:solidFill>
                  <a:srgbClr val="33414F"/>
                </a:solidFill>
                <a:latin typeface="Calibri" pitchFamily="34" charset="0"/>
                <a:ea typeface="Calibri" pitchFamily="34" charset="-122"/>
                <a:cs typeface="Calibri" pitchFamily="34" charset="-120"/>
              </a:rPr>
              <a:t>India and China add the most people; Ethiopia and Pakistan grow the fastest in percentage terms.</a:t>
            </a:r>
            <a:endParaRPr lang="en-US" sz="1100" dirty="0"/>
          </a:p>
        </p:txBody>
      </p:sp>
      <p:sp>
        <p:nvSpPr>
          <p:cNvPr id="28" name="Text 20"/>
          <p:cNvSpPr/>
          <p:nvPr/>
        </p:nvSpPr>
        <p:spPr>
          <a:xfrm>
            <a:off x="457200" y="6510528"/>
            <a:ext cx="7315200" cy="274320"/>
          </a:xfrm>
          <a:prstGeom prst="rect">
            <a:avLst/>
          </a:prstGeom>
          <a:noFill/>
          <a:ln/>
        </p:spPr>
        <p:txBody>
          <a:bodyPr wrap="square" rtlCol="0" anchor="ctr"/>
          <a:lstStyle/>
          <a:p>
            <a:pPr marL="0" indent="0">
              <a:buNone/>
            </a:pPr>
            <a:r>
              <a:rPr lang="en-US" sz="900" dirty="0">
                <a:solidFill>
                  <a:srgbClr val="71808E"/>
                </a:solidFill>
                <a:latin typeface="Calibri" pitchFamily="34" charset="0"/>
                <a:ea typeface="Calibri" pitchFamily="34" charset="-122"/>
                <a:cs typeface="Calibri" pitchFamily="34" charset="-120"/>
              </a:rPr>
              <a:t>Population Growth Analysis and Forecasting</a:t>
            </a:r>
            <a:endParaRPr lang="en-US" sz="900" dirty="0"/>
          </a:p>
        </p:txBody>
      </p:sp>
      <p:sp>
        <p:nvSpPr>
          <p:cNvPr id="29" name="Text 21"/>
          <p:cNvSpPr/>
          <p:nvPr/>
        </p:nvSpPr>
        <p:spPr>
          <a:xfrm>
            <a:off x="11430000" y="6510528"/>
            <a:ext cx="365760" cy="274320"/>
          </a:xfrm>
          <a:prstGeom prst="rect">
            <a:avLst/>
          </a:prstGeom>
          <a:noFill/>
          <a:ln/>
        </p:spPr>
        <p:txBody>
          <a:bodyPr wrap="square" rtlCol="0" anchor="ctr"/>
          <a:lstStyle/>
          <a:p>
            <a:pPr marL="0" indent="0" algn="r">
              <a:buNone/>
            </a:pPr>
            <a:r>
              <a:rPr lang="en-US" sz="900" dirty="0">
                <a:solidFill>
                  <a:srgbClr val="71808E"/>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rtlCol="0" anchor="ctr"/>
          <a:lstStyle/>
          <a:p>
            <a:pPr marL="0" indent="0">
              <a:buNone/>
            </a:pPr>
            <a:r>
              <a:rPr lang="en-US" sz="1300" b="1" kern="0" spc="200" dirty="0">
                <a:solidFill>
                  <a:srgbClr val="B08D57"/>
                </a:solidFill>
                <a:latin typeface="Calibri" pitchFamily="34" charset="0"/>
                <a:ea typeface="Calibri" pitchFamily="34" charset="-122"/>
                <a:cs typeface="Calibri" pitchFamily="34" charset="-120"/>
              </a:rPr>
              <a:t>SECTION 7</a:t>
            </a:r>
            <a:endParaRPr lang="en-US" sz="1300" dirty="0"/>
          </a:p>
        </p:txBody>
      </p:sp>
      <p:sp>
        <p:nvSpPr>
          <p:cNvPr id="3" name="Text 1"/>
          <p:cNvSpPr/>
          <p:nvPr/>
        </p:nvSpPr>
        <p:spPr>
          <a:xfrm>
            <a:off x="548640" y="566928"/>
            <a:ext cx="10515600" cy="640080"/>
          </a:xfrm>
          <a:prstGeom prst="rect">
            <a:avLst/>
          </a:prstGeom>
          <a:noFill/>
          <a:ln/>
        </p:spPr>
        <p:txBody>
          <a:bodyPr wrap="square" rtlCol="0" anchor="ctr"/>
          <a:lstStyle/>
          <a:p>
            <a:pPr marL="0" indent="0">
              <a:buNone/>
            </a:pPr>
            <a:r>
              <a:rPr lang="en-US" sz="3000" b="1" dirty="0">
                <a:solidFill>
                  <a:srgbClr val="42637E"/>
                </a:solidFill>
                <a:latin typeface="Georgia" pitchFamily="34" charset="0"/>
                <a:ea typeface="Georgia" pitchFamily="34" charset="-122"/>
                <a:cs typeface="Georgia" pitchFamily="34" charset="-120"/>
              </a:rPr>
              <a:t>Challenges Faced</a:t>
            </a:r>
            <a:endParaRPr lang="en-US" sz="3000" dirty="0"/>
          </a:p>
        </p:txBody>
      </p:sp>
      <p:pic>
        <p:nvPicPr>
          <p:cNvPr id="4" name="Image 0" descr="/home/claude/assets/icon_exclaim_blue.png"/>
          <p:cNvPicPr>
            <a:picLocks noChangeAspect="1"/>
          </p:cNvPicPr>
          <p:nvPr/>
        </p:nvPicPr>
        <p:blipFill>
          <a:blip r:embed="rId3"/>
          <a:stretch>
            <a:fillRect/>
          </a:stretch>
        </p:blipFill>
        <p:spPr>
          <a:xfrm>
            <a:off x="548640" y="1783080"/>
            <a:ext cx="365760" cy="365760"/>
          </a:xfrm>
          <a:prstGeom prst="rect">
            <a:avLst/>
          </a:prstGeom>
        </p:spPr>
      </p:pic>
      <p:sp>
        <p:nvSpPr>
          <p:cNvPr id="5" name="Text 2"/>
          <p:cNvSpPr/>
          <p:nvPr/>
        </p:nvSpPr>
        <p:spPr>
          <a:xfrm>
            <a:off x="1143000" y="1691640"/>
            <a:ext cx="10424160" cy="914400"/>
          </a:xfrm>
          <a:prstGeom prst="rect">
            <a:avLst/>
          </a:prstGeom>
          <a:noFill/>
          <a:ln/>
        </p:spPr>
        <p:txBody>
          <a:bodyPr wrap="square" rtlCol="0" anchor="ctr"/>
          <a:lstStyle/>
          <a:p>
            <a:pPr marL="0" indent="0">
              <a:buNone/>
            </a:pPr>
            <a:r>
              <a:rPr lang="en-US" sz="1350" dirty="0">
                <a:solidFill>
                  <a:srgbClr val="33414F"/>
                </a:solidFill>
                <a:latin typeface="Calibri" pitchFamily="34" charset="0"/>
                <a:ea typeface="Calibri" pitchFamily="34" charset="-122"/>
                <a:cs typeface="Calibri" pitchFamily="34" charset="-120"/>
              </a:rPr>
              <a:t>Getting the wide-format World Bank data (one column per year) into a clean long format took some care — melt() and type coercion don't always behave the way you expect on the first try.</a:t>
            </a:r>
            <a:endParaRPr lang="en-US" sz="1350" dirty="0"/>
          </a:p>
        </p:txBody>
      </p:sp>
      <p:sp>
        <p:nvSpPr>
          <p:cNvPr id="6" name="Shape 3"/>
          <p:cNvSpPr/>
          <p:nvPr/>
        </p:nvSpPr>
        <p:spPr>
          <a:xfrm>
            <a:off x="548640" y="2578608"/>
            <a:ext cx="11064240" cy="0"/>
          </a:xfrm>
          <a:prstGeom prst="line">
            <a:avLst/>
          </a:prstGeom>
          <a:noFill/>
          <a:ln w="12700">
            <a:solidFill>
              <a:srgbClr val="E3E7EA"/>
            </a:solidFill>
            <a:prstDash val="solid"/>
          </a:ln>
        </p:spPr>
        <p:txBody>
          <a:bodyPr/>
          <a:lstStyle/>
          <a:p>
            <a:endParaRPr lang="en-US"/>
          </a:p>
        </p:txBody>
      </p:sp>
      <p:pic>
        <p:nvPicPr>
          <p:cNvPr id="7" name="Image 1" descr="/home/claude/assets/icon_exclaim_blue.png"/>
          <p:cNvPicPr>
            <a:picLocks noChangeAspect="1"/>
          </p:cNvPicPr>
          <p:nvPr/>
        </p:nvPicPr>
        <p:blipFill>
          <a:blip r:embed="rId3"/>
          <a:stretch>
            <a:fillRect/>
          </a:stretch>
        </p:blipFill>
        <p:spPr>
          <a:xfrm>
            <a:off x="548640" y="2834640"/>
            <a:ext cx="365760" cy="365760"/>
          </a:xfrm>
          <a:prstGeom prst="rect">
            <a:avLst/>
          </a:prstGeom>
        </p:spPr>
      </p:pic>
      <p:sp>
        <p:nvSpPr>
          <p:cNvPr id="8" name="Text 4"/>
          <p:cNvSpPr/>
          <p:nvPr/>
        </p:nvSpPr>
        <p:spPr>
          <a:xfrm>
            <a:off x="1143000" y="2743200"/>
            <a:ext cx="10424160" cy="914400"/>
          </a:xfrm>
          <a:prstGeom prst="rect">
            <a:avLst/>
          </a:prstGeom>
          <a:noFill/>
          <a:ln/>
        </p:spPr>
        <p:txBody>
          <a:bodyPr wrap="square" rtlCol="0" anchor="ctr"/>
          <a:lstStyle/>
          <a:p>
            <a:pPr marL="0" indent="0">
              <a:buNone/>
            </a:pPr>
            <a:r>
              <a:rPr lang="en-US" sz="1350" dirty="0">
                <a:solidFill>
                  <a:srgbClr val="33414F"/>
                </a:solidFill>
                <a:latin typeface="Calibri" pitchFamily="34" charset="0"/>
                <a:ea typeface="Calibri" pitchFamily="34" charset="-122"/>
                <a:cs typeface="Calibri" pitchFamily="34" charset="-120"/>
              </a:rPr>
              <a:t>Small territories with tiny populations can swing to huge percentage growth rates from a handful of people moving — we had to watch for that distorting the 'top outlier' rankings.</a:t>
            </a:r>
            <a:endParaRPr lang="en-US" sz="1350" dirty="0"/>
          </a:p>
        </p:txBody>
      </p:sp>
      <p:sp>
        <p:nvSpPr>
          <p:cNvPr id="9" name="Shape 5"/>
          <p:cNvSpPr/>
          <p:nvPr/>
        </p:nvSpPr>
        <p:spPr>
          <a:xfrm>
            <a:off x="548640" y="3630168"/>
            <a:ext cx="11064240" cy="0"/>
          </a:xfrm>
          <a:prstGeom prst="line">
            <a:avLst/>
          </a:prstGeom>
          <a:noFill/>
          <a:ln w="12700">
            <a:solidFill>
              <a:srgbClr val="E3E7EA"/>
            </a:solidFill>
            <a:prstDash val="solid"/>
          </a:ln>
        </p:spPr>
        <p:txBody>
          <a:bodyPr/>
          <a:lstStyle/>
          <a:p>
            <a:endParaRPr lang="en-US"/>
          </a:p>
        </p:txBody>
      </p:sp>
      <p:pic>
        <p:nvPicPr>
          <p:cNvPr id="10" name="Image 2" descr="/home/claude/assets/icon_exclaim_blue.png"/>
          <p:cNvPicPr>
            <a:picLocks noChangeAspect="1"/>
          </p:cNvPicPr>
          <p:nvPr/>
        </p:nvPicPr>
        <p:blipFill>
          <a:blip r:embed="rId3"/>
          <a:stretch>
            <a:fillRect/>
          </a:stretch>
        </p:blipFill>
        <p:spPr>
          <a:xfrm>
            <a:off x="548640" y="3886200"/>
            <a:ext cx="365760" cy="365760"/>
          </a:xfrm>
          <a:prstGeom prst="rect">
            <a:avLst/>
          </a:prstGeom>
        </p:spPr>
      </p:pic>
      <p:sp>
        <p:nvSpPr>
          <p:cNvPr id="11" name="Text 6"/>
          <p:cNvSpPr/>
          <p:nvPr/>
        </p:nvSpPr>
        <p:spPr>
          <a:xfrm>
            <a:off x="1143000" y="3794760"/>
            <a:ext cx="10424160" cy="914400"/>
          </a:xfrm>
          <a:prstGeom prst="rect">
            <a:avLst/>
          </a:prstGeom>
          <a:noFill/>
          <a:ln/>
        </p:spPr>
        <p:txBody>
          <a:bodyPr wrap="square" rtlCol="0" anchor="ctr"/>
          <a:lstStyle/>
          <a:p>
            <a:pPr marL="0" indent="0">
              <a:buNone/>
            </a:pPr>
            <a:r>
              <a:rPr lang="en-US" sz="1350" dirty="0">
                <a:solidFill>
                  <a:srgbClr val="33414F"/>
                </a:solidFill>
                <a:latin typeface="Calibri" pitchFamily="34" charset="0"/>
                <a:ea typeface="Calibri" pitchFamily="34" charset="-122"/>
                <a:cs typeface="Calibri" pitchFamily="34" charset="-120"/>
              </a:rPr>
              <a:t>Country names and borders shifted over 65 years (German reunification, the USSR breaking up), which left a few minor gaps and discontinuities in the historical numbers.</a:t>
            </a:r>
            <a:endParaRPr lang="en-US" sz="1350" dirty="0"/>
          </a:p>
        </p:txBody>
      </p:sp>
      <p:sp>
        <p:nvSpPr>
          <p:cNvPr id="12" name="Shape 7"/>
          <p:cNvSpPr/>
          <p:nvPr/>
        </p:nvSpPr>
        <p:spPr>
          <a:xfrm>
            <a:off x="548640" y="4681728"/>
            <a:ext cx="11064240" cy="0"/>
          </a:xfrm>
          <a:prstGeom prst="line">
            <a:avLst/>
          </a:prstGeom>
          <a:noFill/>
          <a:ln w="12700">
            <a:solidFill>
              <a:srgbClr val="E3E7EA"/>
            </a:solidFill>
            <a:prstDash val="solid"/>
          </a:ln>
        </p:spPr>
        <p:txBody>
          <a:bodyPr/>
          <a:lstStyle/>
          <a:p>
            <a:endParaRPr lang="en-US"/>
          </a:p>
        </p:txBody>
      </p:sp>
      <p:pic>
        <p:nvPicPr>
          <p:cNvPr id="13" name="Image 3" descr="/home/claude/assets/icon_exclaim_blue.png"/>
          <p:cNvPicPr>
            <a:picLocks noChangeAspect="1"/>
          </p:cNvPicPr>
          <p:nvPr/>
        </p:nvPicPr>
        <p:blipFill>
          <a:blip r:embed="rId3"/>
          <a:stretch>
            <a:fillRect/>
          </a:stretch>
        </p:blipFill>
        <p:spPr>
          <a:xfrm>
            <a:off x="548640" y="4937760"/>
            <a:ext cx="365760" cy="365760"/>
          </a:xfrm>
          <a:prstGeom prst="rect">
            <a:avLst/>
          </a:prstGeom>
        </p:spPr>
      </p:pic>
      <p:sp>
        <p:nvSpPr>
          <p:cNvPr id="14" name="Text 8"/>
          <p:cNvSpPr/>
          <p:nvPr/>
        </p:nvSpPr>
        <p:spPr>
          <a:xfrm>
            <a:off x="1143000" y="4846320"/>
            <a:ext cx="10424160" cy="914400"/>
          </a:xfrm>
          <a:prstGeom prst="rect">
            <a:avLst/>
          </a:prstGeom>
          <a:noFill/>
          <a:ln/>
        </p:spPr>
        <p:txBody>
          <a:bodyPr wrap="square" rtlCol="0" anchor="ctr"/>
          <a:lstStyle/>
          <a:p>
            <a:pPr marL="0" indent="0">
              <a:buNone/>
            </a:pPr>
            <a:r>
              <a:rPr lang="en-US" sz="1350" dirty="0">
                <a:solidFill>
                  <a:srgbClr val="33414F"/>
                </a:solidFill>
                <a:latin typeface="Calibri" pitchFamily="34" charset="0"/>
                <a:ea typeface="Calibri" pitchFamily="34" charset="-122"/>
                <a:cs typeface="Calibri" pitchFamily="34" charset="-120"/>
              </a:rPr>
              <a:t>A simple linear model can't really capture how fertility actually declines as a country develops, so our long-range forecast accuracy has real limits.</a:t>
            </a:r>
            <a:endParaRPr lang="en-US" sz="1350" dirty="0"/>
          </a:p>
        </p:txBody>
      </p:sp>
      <p:sp>
        <p:nvSpPr>
          <p:cNvPr id="15" name="Text 9"/>
          <p:cNvSpPr/>
          <p:nvPr/>
        </p:nvSpPr>
        <p:spPr>
          <a:xfrm>
            <a:off x="457200" y="6510528"/>
            <a:ext cx="7315200" cy="274320"/>
          </a:xfrm>
          <a:prstGeom prst="rect">
            <a:avLst/>
          </a:prstGeom>
          <a:noFill/>
          <a:ln/>
        </p:spPr>
        <p:txBody>
          <a:bodyPr wrap="square" rtlCol="0" anchor="ctr"/>
          <a:lstStyle/>
          <a:p>
            <a:pPr marL="0" indent="0">
              <a:buNone/>
            </a:pPr>
            <a:r>
              <a:rPr lang="en-US" sz="900" dirty="0">
                <a:solidFill>
                  <a:srgbClr val="71808E"/>
                </a:solidFill>
                <a:latin typeface="Calibri" pitchFamily="34" charset="0"/>
                <a:ea typeface="Calibri" pitchFamily="34" charset="-122"/>
                <a:cs typeface="Calibri" pitchFamily="34" charset="-120"/>
              </a:rPr>
              <a:t>Population Growth Analysis and Forecasting</a:t>
            </a:r>
            <a:endParaRPr lang="en-US" sz="900" dirty="0"/>
          </a:p>
        </p:txBody>
      </p:sp>
      <p:sp>
        <p:nvSpPr>
          <p:cNvPr id="16" name="Text 10"/>
          <p:cNvSpPr/>
          <p:nvPr/>
        </p:nvSpPr>
        <p:spPr>
          <a:xfrm>
            <a:off x="11430000" y="6510528"/>
            <a:ext cx="365760" cy="274320"/>
          </a:xfrm>
          <a:prstGeom prst="rect">
            <a:avLst/>
          </a:prstGeom>
          <a:noFill/>
          <a:ln/>
        </p:spPr>
        <p:txBody>
          <a:bodyPr wrap="square" rtlCol="0" anchor="ctr"/>
          <a:lstStyle/>
          <a:p>
            <a:pPr marL="0" indent="0" algn="r">
              <a:buNone/>
            </a:pPr>
            <a:r>
              <a:rPr lang="en-US" sz="900" dirty="0">
                <a:solidFill>
                  <a:srgbClr val="71808E"/>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B08D57"/>
          </a:solidFill>
          <a:ln/>
        </p:spPr>
        <p:txBody>
          <a:bodyPr/>
          <a:lstStyle/>
          <a:p>
            <a:endParaRPr lang="en-US"/>
          </a:p>
        </p:txBody>
      </p:sp>
      <p:sp>
        <p:nvSpPr>
          <p:cNvPr id="3" name="Shape 1"/>
          <p:cNvSpPr/>
          <p:nvPr/>
        </p:nvSpPr>
        <p:spPr>
          <a:xfrm>
            <a:off x="0" y="6748272"/>
            <a:ext cx="12188952" cy="109728"/>
          </a:xfrm>
          <a:prstGeom prst="rect">
            <a:avLst/>
          </a:prstGeom>
          <a:solidFill>
            <a:srgbClr val="B08D57"/>
          </a:solidFill>
          <a:ln/>
        </p:spPr>
        <p:txBody>
          <a:bodyPr/>
          <a:lstStyle/>
          <a:p>
            <a:endParaRPr lang="en-US"/>
          </a:p>
        </p:txBody>
      </p:sp>
      <p:pic>
        <p:nvPicPr>
          <p:cNvPr id="4" name="Image 0" descr="/home/claude/assets/icon_flag_white.png"/>
          <p:cNvPicPr>
            <a:picLocks noChangeAspect="1"/>
          </p:cNvPicPr>
          <p:nvPr/>
        </p:nvPicPr>
        <p:blipFill>
          <a:blip r:embed="rId3"/>
          <a:stretch>
            <a:fillRect/>
          </a:stretch>
        </p:blipFill>
        <p:spPr>
          <a:xfrm>
            <a:off x="640080" y="731520"/>
            <a:ext cx="548640" cy="548640"/>
          </a:xfrm>
          <a:prstGeom prst="rect">
            <a:avLst/>
          </a:prstGeom>
        </p:spPr>
      </p:pic>
      <p:sp>
        <p:nvSpPr>
          <p:cNvPr id="5" name="Text 2"/>
          <p:cNvSpPr/>
          <p:nvPr/>
        </p:nvSpPr>
        <p:spPr>
          <a:xfrm>
            <a:off x="1280160" y="749808"/>
            <a:ext cx="4572000" cy="502920"/>
          </a:xfrm>
          <a:prstGeom prst="rect">
            <a:avLst/>
          </a:prstGeom>
          <a:noFill/>
          <a:ln/>
        </p:spPr>
        <p:txBody>
          <a:bodyPr wrap="square" rtlCol="0" anchor="ctr"/>
          <a:lstStyle/>
          <a:p>
            <a:pPr marL="0" indent="0">
              <a:buNone/>
            </a:pPr>
            <a:r>
              <a:rPr lang="en-US" sz="1400" b="1" kern="0" spc="200" dirty="0">
                <a:solidFill>
                  <a:srgbClr val="B08D57"/>
                </a:solidFill>
                <a:latin typeface="Calibri" pitchFamily="34" charset="0"/>
                <a:ea typeface="Calibri" pitchFamily="34" charset="-122"/>
                <a:cs typeface="Calibri" pitchFamily="34" charset="-120"/>
              </a:rPr>
              <a:t>CONCLUSION</a:t>
            </a:r>
            <a:endParaRPr lang="en-US" sz="1400" dirty="0"/>
          </a:p>
        </p:txBody>
      </p:sp>
      <p:sp>
        <p:nvSpPr>
          <p:cNvPr id="6" name="Text 3"/>
          <p:cNvSpPr/>
          <p:nvPr/>
        </p:nvSpPr>
        <p:spPr>
          <a:xfrm>
            <a:off x="640080" y="1554480"/>
            <a:ext cx="10515600" cy="914400"/>
          </a:xfrm>
          <a:prstGeom prst="rect">
            <a:avLst/>
          </a:prstGeom>
          <a:noFill/>
          <a:ln/>
        </p:spPr>
        <p:txBody>
          <a:bodyPr wrap="square" rtlCol="0" anchor="ctr"/>
          <a:lstStyle/>
          <a:p>
            <a:pPr marL="0" indent="0">
              <a:buNone/>
            </a:pPr>
            <a:r>
              <a:rPr lang="en-US" sz="3200" b="1" dirty="0">
                <a:solidFill>
                  <a:srgbClr val="42637E"/>
                </a:solidFill>
                <a:latin typeface="Georgia" pitchFamily="34" charset="0"/>
                <a:ea typeface="Georgia" pitchFamily="34" charset="-122"/>
                <a:cs typeface="Georgia" pitchFamily="34" charset="-120"/>
              </a:rPr>
              <a:t>The world keeps growing — but unevenly.</a:t>
            </a:r>
            <a:endParaRPr lang="en-US" sz="3200" dirty="0"/>
          </a:p>
        </p:txBody>
      </p:sp>
      <p:sp>
        <p:nvSpPr>
          <p:cNvPr id="7" name="Text 4"/>
          <p:cNvSpPr/>
          <p:nvPr/>
        </p:nvSpPr>
        <p:spPr>
          <a:xfrm>
            <a:off x="685800" y="2514600"/>
            <a:ext cx="8961120" cy="1280160"/>
          </a:xfrm>
          <a:prstGeom prst="rect">
            <a:avLst/>
          </a:prstGeom>
          <a:noFill/>
          <a:ln/>
        </p:spPr>
        <p:txBody>
          <a:bodyPr wrap="square" rtlCol="0" anchor="ctr"/>
          <a:lstStyle/>
          <a:p>
            <a:pPr marL="0" indent="0">
              <a:lnSpc>
                <a:spcPts val="2400"/>
              </a:lnSpc>
              <a:buNone/>
            </a:pPr>
            <a:r>
              <a:rPr lang="en-US" sz="1500" dirty="0">
                <a:solidFill>
                  <a:srgbClr val="33414F"/>
                </a:solidFill>
                <a:latin typeface="Calibri" pitchFamily="34" charset="0"/>
                <a:ea typeface="Calibri" pitchFamily="34" charset="-122"/>
                <a:cs typeface="Calibri" pitchFamily="34" charset="-120"/>
              </a:rPr>
              <a:t>From 2.95 billion in 1960 to 7.84 billion in 2024 — growth has slowed across developed economies even as it picks up, proportionally, across Africa and South Asia. India now leads the world in population, and the next decade looks set to bring more of the same: steady, if moderate, growth.</a:t>
            </a:r>
            <a:endParaRPr lang="en-US" sz="1500" dirty="0"/>
          </a:p>
        </p:txBody>
      </p:sp>
      <p:sp>
        <p:nvSpPr>
          <p:cNvPr id="8" name="Shape 5"/>
          <p:cNvSpPr/>
          <p:nvPr/>
        </p:nvSpPr>
        <p:spPr>
          <a:xfrm>
            <a:off x="685800" y="4114800"/>
            <a:ext cx="5029200" cy="0"/>
          </a:xfrm>
          <a:prstGeom prst="line">
            <a:avLst/>
          </a:prstGeom>
          <a:noFill/>
          <a:ln w="19050">
            <a:solidFill>
              <a:srgbClr val="B08D57"/>
            </a:solidFill>
            <a:prstDash val="solid"/>
          </a:ln>
        </p:spPr>
        <p:txBody>
          <a:bodyPr/>
          <a:lstStyle/>
          <a:p>
            <a:endParaRPr lang="en-US"/>
          </a:p>
        </p:txBody>
      </p:sp>
      <p:sp>
        <p:nvSpPr>
          <p:cNvPr id="9" name="Text 6"/>
          <p:cNvSpPr/>
          <p:nvPr/>
        </p:nvSpPr>
        <p:spPr>
          <a:xfrm>
            <a:off x="685800" y="4389120"/>
            <a:ext cx="5486400" cy="640080"/>
          </a:xfrm>
          <a:prstGeom prst="rect">
            <a:avLst/>
          </a:prstGeom>
          <a:noFill/>
          <a:ln/>
        </p:spPr>
        <p:txBody>
          <a:bodyPr wrap="square" rtlCol="0" anchor="ctr"/>
          <a:lstStyle/>
          <a:p>
            <a:pPr marL="0" indent="0">
              <a:buNone/>
            </a:pPr>
            <a:r>
              <a:rPr lang="en-US" sz="2600" b="1" dirty="0">
                <a:solidFill>
                  <a:srgbClr val="42637E"/>
                </a:solidFill>
                <a:latin typeface="Georgia" pitchFamily="34" charset="0"/>
                <a:ea typeface="Georgia" pitchFamily="34" charset="-122"/>
                <a:cs typeface="Georgia" pitchFamily="34" charset="-120"/>
              </a:rPr>
              <a:t>Thank You</a:t>
            </a:r>
            <a:endParaRPr lang="en-US" sz="2600" dirty="0"/>
          </a:p>
        </p:txBody>
      </p:sp>
      <p:sp>
        <p:nvSpPr>
          <p:cNvPr id="10" name="Text 7"/>
          <p:cNvSpPr/>
          <p:nvPr/>
        </p:nvSpPr>
        <p:spPr>
          <a:xfrm>
            <a:off x="685800" y="4983480"/>
            <a:ext cx="5486400" cy="365760"/>
          </a:xfrm>
          <a:prstGeom prst="rect">
            <a:avLst/>
          </a:prstGeom>
          <a:noFill/>
          <a:ln/>
        </p:spPr>
        <p:txBody>
          <a:bodyPr wrap="square" rtlCol="0" anchor="ctr"/>
          <a:lstStyle/>
          <a:p>
            <a:pPr marL="0" indent="0">
              <a:buNone/>
            </a:pPr>
            <a:r>
              <a:rPr lang="en-US" sz="1400" i="1" dirty="0">
                <a:solidFill>
                  <a:srgbClr val="71808E"/>
                </a:solidFill>
                <a:latin typeface="Calibri" pitchFamily="34" charset="0"/>
                <a:ea typeface="Calibri" pitchFamily="34" charset="-122"/>
                <a:cs typeface="Calibri" pitchFamily="34" charset="-120"/>
              </a:rPr>
              <a:t>Questions &amp; Discussion</a:t>
            </a:r>
            <a:endParaRPr lang="en-US" sz="1400" dirty="0"/>
          </a:p>
        </p:txBody>
      </p:sp>
      <p:sp>
        <p:nvSpPr>
          <p:cNvPr id="11" name="Text 8"/>
          <p:cNvSpPr/>
          <p:nvPr/>
        </p:nvSpPr>
        <p:spPr>
          <a:xfrm>
            <a:off x="457200" y="6510528"/>
            <a:ext cx="7315200" cy="274320"/>
          </a:xfrm>
          <a:prstGeom prst="rect">
            <a:avLst/>
          </a:prstGeom>
          <a:noFill/>
          <a:ln/>
        </p:spPr>
        <p:txBody>
          <a:bodyPr wrap="square" rtlCol="0" anchor="ctr"/>
          <a:lstStyle/>
          <a:p>
            <a:pPr marL="0" indent="0">
              <a:buNone/>
            </a:pPr>
            <a:r>
              <a:rPr lang="en-US" sz="900" dirty="0">
                <a:solidFill>
                  <a:srgbClr val="71808E"/>
                </a:solidFill>
                <a:latin typeface="Calibri" pitchFamily="34" charset="0"/>
                <a:ea typeface="Calibri" pitchFamily="34" charset="-122"/>
                <a:cs typeface="Calibri" pitchFamily="34" charset="-120"/>
              </a:rPr>
              <a:t>Population Growth Analysis and Forecasting</a:t>
            </a:r>
            <a:endParaRPr lang="en-US" sz="900" dirty="0"/>
          </a:p>
        </p:txBody>
      </p:sp>
      <p:sp>
        <p:nvSpPr>
          <p:cNvPr id="12" name="Text 9"/>
          <p:cNvSpPr/>
          <p:nvPr/>
        </p:nvSpPr>
        <p:spPr>
          <a:xfrm>
            <a:off x="11430000" y="6510528"/>
            <a:ext cx="365760" cy="274320"/>
          </a:xfrm>
          <a:prstGeom prst="rect">
            <a:avLst/>
          </a:prstGeom>
          <a:noFill/>
          <a:ln/>
        </p:spPr>
        <p:txBody>
          <a:bodyPr wrap="square" rtlCol="0" anchor="ctr"/>
          <a:lstStyle/>
          <a:p>
            <a:pPr marL="0" indent="0" algn="r">
              <a:buNone/>
            </a:pPr>
            <a:r>
              <a:rPr lang="en-US" sz="900" dirty="0">
                <a:solidFill>
                  <a:srgbClr val="71808E"/>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22</TotalTime>
  <Words>2240</Words>
  <Application>Microsoft Macintosh PowerPoint</Application>
  <PresentationFormat>Widescreen</PresentationFormat>
  <Paragraphs>279</Paragraphs>
  <Slides>16</Slides>
  <Notes>16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Calibri</vt:lpstr>
      <vt:lpstr>Consolas</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Population Growth Analysis and Forecasting</dc:title>
  <dc:subject>PptxGenJS Presentation</dc:subject>
  <dc:creator>Population Growth Analysis Project</dc:creator>
  <cp:lastModifiedBy>Akunuru, Abhishek Karthik</cp:lastModifiedBy>
  <cp:revision>2</cp:revision>
  <dcterms:created xsi:type="dcterms:W3CDTF">2026-06-21T15:27:39Z</dcterms:created>
  <dcterms:modified xsi:type="dcterms:W3CDTF">2026-06-21T15:55:46Z</dcterms:modified>
</cp:coreProperties>
</file>